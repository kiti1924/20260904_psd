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1.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1f5a5c32bb254853" /><Relationship Type="http://schemas.openxmlformats.org/officeDocument/2006/relationships/extended-properties" Target="/docProps/app.xml" Id="R2d9e5cbd45a14454" /><Relationship Type="http://schemas.openxmlformats.org/officeDocument/2006/relationships/officeDocument" Target="/ppt/presentation.xml" Id="R99748b35b2164a5b" /></Relationships>
</file>

<file path=ppt/presentation.xml><?xml version="1.0" encoding="utf-8"?>
<p:presentation xmlns:p="http://schemas.openxmlformats.org/presentationml/2006/main">
  <p:sldMasterIdLst>
    <p:sldMasterId xmlns:r="http://schemas.openxmlformats.org/officeDocument/2006/relationships" id="2147483648" r:id="R08a34166b3f5401e"/>
  </p:sldMasterIdLst>
  <p:notesMasterIdLst>
    <p:notesMasterId xmlns:r="http://schemas.openxmlformats.org/officeDocument/2006/relationships" r:id="R00bfcb2e5b454b31"/>
  </p:notesMasterIdLst>
  <p:sldIdLst>
    <p:sldId xmlns:r="http://schemas.openxmlformats.org/officeDocument/2006/relationships" id="256" r:id="R5dfb48ad9161472c"/>
    <p:sldId xmlns:r="http://schemas.openxmlformats.org/officeDocument/2006/relationships" id="257" r:id="R503b8ecc7714477b"/>
    <p:sldId xmlns:r="http://schemas.openxmlformats.org/officeDocument/2006/relationships" id="258" r:id="R158e8fd310e34d1d"/>
    <p:sldId xmlns:r="http://schemas.openxmlformats.org/officeDocument/2006/relationships" id="259" r:id="R496b6ab485e34825"/>
    <p:sldId xmlns:r="http://schemas.openxmlformats.org/officeDocument/2006/relationships" id="260" r:id="Re7b5be5ae17f4621"/>
    <p:sldId xmlns:r="http://schemas.openxmlformats.org/officeDocument/2006/relationships" id="261" r:id="Rdb5138edabc14900"/>
    <p:sldId xmlns:r="http://schemas.openxmlformats.org/officeDocument/2006/relationships" id="262" r:id="Rffa94796ed804be3"/>
    <p:sldId xmlns:r="http://schemas.openxmlformats.org/officeDocument/2006/relationships" id="263" r:id="R22c8374e7e7d479f"/>
    <p:sldId xmlns:r="http://schemas.openxmlformats.org/officeDocument/2006/relationships" id="264" r:id="Rbaaa84b38d9d42df"/>
    <p:sldId xmlns:r="http://schemas.openxmlformats.org/officeDocument/2006/relationships" id="265" r:id="R10e47703792b43ee"/>
    <p:sldId xmlns:r="http://schemas.openxmlformats.org/officeDocument/2006/relationships" id="266" r:id="R750a8c56d3044c89"/>
    <p:sldId xmlns:r="http://schemas.openxmlformats.org/officeDocument/2006/relationships" id="267" r:id="Re441b2bd40c148b4"/>
    <p:sldId xmlns:r="http://schemas.openxmlformats.org/officeDocument/2006/relationships" id="268" r:id="R14bb09ff6b9c4595"/>
    <p:sldId xmlns:r="http://schemas.openxmlformats.org/officeDocument/2006/relationships" id="269" r:id="Rc494a5ab42fe4e1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ef307bfb07b43bb" /><Relationship Type="http://schemas.openxmlformats.org/officeDocument/2006/relationships/slideMaster" Target="/ppt/slideMasters/slideMaster1.xml" Id="R08a34166b3f5401e" /><Relationship Type="http://schemas.openxmlformats.org/officeDocument/2006/relationships/notesMaster" Target="/ppt/notesMasters/notesMaster1.xml" Id="R00bfcb2e5b454b31" /><Relationship Type="http://schemas.openxmlformats.org/officeDocument/2006/relationships/presProps" Target="/ppt/presProps.xml" Id="Rea3fb314ab824b6e" /><Relationship Type="http://schemas.openxmlformats.org/officeDocument/2006/relationships/tableStyles" Target="/ppt/tableStyles.xml" Id="Rdb3249a58a784bb3" /><Relationship Type="http://schemas.openxmlformats.org/officeDocument/2006/relationships/slide" Target="/ppt/slides/slide1.xml" Id="R5dfb48ad9161472c" /><Relationship Type="http://schemas.openxmlformats.org/officeDocument/2006/relationships/slide" Target="/ppt/slides/slide2.xml" Id="R503b8ecc7714477b" /><Relationship Type="http://schemas.openxmlformats.org/officeDocument/2006/relationships/slide" Target="/ppt/slides/slide3.xml" Id="R158e8fd310e34d1d" /><Relationship Type="http://schemas.openxmlformats.org/officeDocument/2006/relationships/slide" Target="/ppt/slides/slide4.xml" Id="R496b6ab485e34825" /><Relationship Type="http://schemas.openxmlformats.org/officeDocument/2006/relationships/slide" Target="/ppt/slides/slide5.xml" Id="Re7b5be5ae17f4621" /><Relationship Type="http://schemas.openxmlformats.org/officeDocument/2006/relationships/slide" Target="/ppt/slides/slide6.xml" Id="Rdb5138edabc14900" /><Relationship Type="http://schemas.openxmlformats.org/officeDocument/2006/relationships/slide" Target="/ppt/slides/slide7.xml" Id="Rffa94796ed804be3" /><Relationship Type="http://schemas.openxmlformats.org/officeDocument/2006/relationships/slide" Target="/ppt/slides/slide8.xml" Id="R22c8374e7e7d479f" /><Relationship Type="http://schemas.openxmlformats.org/officeDocument/2006/relationships/slide" Target="/ppt/slides/slide9.xml" Id="Rbaaa84b38d9d42df" /><Relationship Type="http://schemas.openxmlformats.org/officeDocument/2006/relationships/slide" Target="/ppt/slides/slide10.xml" Id="R10e47703792b43ee" /><Relationship Type="http://schemas.openxmlformats.org/officeDocument/2006/relationships/slide" Target="/ppt/slides/slide11.xml" Id="R750a8c56d3044c89" /><Relationship Type="http://schemas.openxmlformats.org/officeDocument/2006/relationships/slide" Target="/ppt/slides/slide12.xml" Id="Re441b2bd40c148b4" /><Relationship Type="http://schemas.openxmlformats.org/officeDocument/2006/relationships/slide" Target="/ppt/slides/slide13.xml" Id="R14bb09ff6b9c4595" /><Relationship Type="http://schemas.openxmlformats.org/officeDocument/2006/relationships/slide" Target="/ppt/slides/slide14.xml" Id="Rc494a5ab42fe4e1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5f5bee8bf02451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a095c2dd0004182" /><Relationship Type="http://schemas.openxmlformats.org/officeDocument/2006/relationships/notesMaster" Target="/ppt/notesMasters/notesMaster1.xml" Id="R0c6bbbbd12cb46a0" /></Relationships>
</file>

<file path=ppt/notesSlides/_rels/notesSlide2.xml.rels>&#65279;<?xml version="1.0" encoding="utf-8"?><Relationships xmlns="http://schemas.openxmlformats.org/package/2006/relationships"><Relationship Type="http://schemas.openxmlformats.org/officeDocument/2006/relationships/slide" Target="/ppt/slides/slide2.xml" Id="R3e08e36e1edf4f9b" /><Relationship Type="http://schemas.openxmlformats.org/officeDocument/2006/relationships/notesMaster" Target="/ppt/notesMasters/notesMaster1.xml" Id="R69b8864601794741" /></Relationships>
</file>

<file path=ppt/notesSlides/_rels/notesSlide3.xml.rels>&#65279;<?xml version="1.0" encoding="utf-8"?><Relationships xmlns="http://schemas.openxmlformats.org/package/2006/relationships"><Relationship Type="http://schemas.openxmlformats.org/officeDocument/2006/relationships/slide" Target="/ppt/slides/slide3.xml" Id="Rf305050103674aab" /><Relationship Type="http://schemas.openxmlformats.org/officeDocument/2006/relationships/notesMaster" Target="/ppt/notesMasters/notesMaster1.xml" Id="R8b2fd6d81add469d" /></Relationships>
</file>

<file path=ppt/notesSlides/_rels/notesSlide4.xml.rels>&#65279;<?xml version="1.0" encoding="utf-8"?><Relationships xmlns="http://schemas.openxmlformats.org/package/2006/relationships"><Relationship Type="http://schemas.openxmlformats.org/officeDocument/2006/relationships/slide" Target="/ppt/slides/slide4.xml" Id="Rf89ff0d4c90d4930" /><Relationship Type="http://schemas.openxmlformats.org/officeDocument/2006/relationships/notesMaster" Target="/ppt/notesMasters/notesMaster1.xml" Id="Rc31a2b114dba4203" /></Relationships>
</file>

<file path=ppt/notesSlides/_rels/notesSlide5.xml.rels>&#65279;<?xml version="1.0" encoding="utf-8"?><Relationships xmlns="http://schemas.openxmlformats.org/package/2006/relationships"><Relationship Type="http://schemas.openxmlformats.org/officeDocument/2006/relationships/slide" Target="/ppt/slides/slide5.xml" Id="R7d86cbb86ddd4e7c" /><Relationship Type="http://schemas.openxmlformats.org/officeDocument/2006/relationships/notesMaster" Target="/ppt/notesMasters/notesMaster1.xml" Id="Rd87ee32c730c49ff" /></Relationships>
</file>

<file path=ppt/notesSlides/_rels/notesSlide6.xml.rels>&#65279;<?xml version="1.0" encoding="utf-8"?><Relationships xmlns="http://schemas.openxmlformats.org/package/2006/relationships"><Relationship Type="http://schemas.openxmlformats.org/officeDocument/2006/relationships/slide" Target="/ppt/slides/slide6.xml" Id="R89a1593ec6994f5b" /><Relationship Type="http://schemas.openxmlformats.org/officeDocument/2006/relationships/notesMaster" Target="/ppt/notesMasters/notesMaster1.xml" Id="R200269bbd39c4e45" /></Relationships>
</file>

<file path=ppt/notesSlides/_rels/notesSlide7.xml.rels>&#65279;<?xml version="1.0" encoding="utf-8"?><Relationships xmlns="http://schemas.openxmlformats.org/package/2006/relationships"><Relationship Type="http://schemas.openxmlformats.org/officeDocument/2006/relationships/slide" Target="/ppt/slides/slide7.xml" Id="R97f2e77c827f46b1" /><Relationship Type="http://schemas.openxmlformats.org/officeDocument/2006/relationships/notesMaster" Target="/ppt/notesMasters/notesMaster1.xml" Id="Rd3cb515cecb04e61" /></Relationships>
</file>

<file path=ppt/notesSlides/_rels/notesSlide8.xml.rels>&#65279;<?xml version="1.0" encoding="utf-8"?><Relationships xmlns="http://schemas.openxmlformats.org/package/2006/relationships"><Relationship Type="http://schemas.openxmlformats.org/officeDocument/2006/relationships/slide" Target="/ppt/slides/slide8.xml" Id="R289ab37b59504a4d" /><Relationship Type="http://schemas.openxmlformats.org/officeDocument/2006/relationships/notesMaster" Target="/ppt/notesMasters/notesMaster1.xml" Id="Re802c254acb048a5" /></Relationships>
</file>

<file path=ppt/notesSlides/_rels/notesSlide9.xml.rels>&#65279;<?xml version="1.0" encoding="utf-8"?><Relationships xmlns="http://schemas.openxmlformats.org/package/2006/relationships"><Relationship Type="http://schemas.openxmlformats.org/officeDocument/2006/relationships/slide" Target="/ppt/slides/slide9.xml" Id="R473e3ed8598249de" /><Relationship Type="http://schemas.openxmlformats.org/officeDocument/2006/relationships/notesMaster" Target="/ppt/notesMasters/notesMaster1.xml" Id="Ree0009025773456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09c504bb86748b2" /><Relationship Type="http://schemas.openxmlformats.org/officeDocument/2006/relationships/notesMaster" Target="/ppt/notesMasters/notesMaster1.xml" Id="R14e2dcdae6744bb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56cca13b8164eb1" /><Relationship Type="http://schemas.openxmlformats.org/officeDocument/2006/relationships/notesMaster" Target="/ppt/notesMasters/notesMaster1.xml" Id="R1b744bcca2a2491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555b2adb7834525" /><Relationship Type="http://schemas.openxmlformats.org/officeDocument/2006/relationships/notesMaster" Target="/ppt/notesMasters/notesMaster1.xml" Id="Ra9fd545a03e3457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a2d272a7a3b4800" /><Relationship Type="http://schemas.openxmlformats.org/officeDocument/2006/relationships/notesMaster" Target="/ppt/notesMasters/notesMaster1.xml" Id="R93eecf7b104044e0"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8d10420702014b37" /><Relationship Type="http://schemas.openxmlformats.org/officeDocument/2006/relationships/notesMaster" Target="/ppt/notesMasters/notesMaster1.xml" Id="Rf7f06af09b5b407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目安：15秒</a:t>
            </a:r>
          </a:p>
          <a:p xmlns:a="http://schemas.openxmlformats.org/drawingml/2006/main">
            <a:r>
              <a:t/>
            </a:r>
          </a:p>
          <a:p xmlns:a="http://schemas.openxmlformats.org/drawingml/2006/main">
            <a:r>
              <a:t>本発表の主題は、コードが得られない状況で、何を根拠にどこまで学べるかです。タイトルを読み上げすぎず、すぐ寓話へ進みます。</a:t>
            </a:r>
          </a:p>
          <a:p xmlns:a="http://schemas.openxmlformats.org/drawingml/2006/main">
            <a:r>
              <a:t/>
            </a:r>
          </a:p>
          <a:p xmlns:a="http://schemas.openxmlformats.org/drawingml/2006/main">
            <a:r>
              <a:t>English speaking cue</a:t>
            </a:r>
          </a:p>
          <a:p xmlns:a="http://schemas.openxmlformats.org/drawingml/2006/main">
            <a:r>
              <a:t>Today I will discuss what we can learn from a privacy competition when most implementations remain undisclosed.</a:t>
            </a:r>
          </a:p>
          <a:p xmlns:a="http://schemas.openxmlformats.org/drawingml/2006/main">
            <a:r>
              <a:t/>
            </a:r>
          </a:p>
          <a:p xmlns:a="http://schemas.openxmlformats.org/drawingml/2006/main">
            <a:r>
              <a:t>Sources</a:t>
            </a:r>
          </a:p>
          <a:p xmlns:a="http://schemas.openxmlformats.org/drawingml/2006/main">
            <a:r>
              <a:t>Kikuchi_PSD2026.pptx, slide 1; PWSCUP2025_REVIEW_PUB/paper/main.tex, title and authors.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目安：35秒</a:t>
            </a:r>
          </a:p>
          <a:p xmlns:a="http://schemas.openxmlformats.org/drawingml/2006/main">
            <a:r>
              <a:t/>
            </a:r>
          </a:p>
          <a:p xmlns:a="http://schemas.openxmlformats.org/drawingml/2006/main">
            <a:r>
              <a:t>これは架空の状況です、と最初に明言します。研究者が再識別の成功を報告し、企業の評判が傷つく。次の企業は実装を共有したがるでしょうか。動機としてあり得る状況を示すだけで、実在事件やコード非公開の一般的原因として扱いません。</a:t>
            </a:r>
          </a:p>
          <a:p xmlns:a="http://schemas.openxmlformats.org/drawingml/2006/main">
            <a:r>
              <a:t/>
            </a:r>
          </a:p>
          <a:p xmlns:a="http://schemas.openxmlformats.org/drawingml/2006/main">
            <a:r>
              <a:t>English speaking cue</a:t>
            </a:r>
          </a:p>
          <a:p xmlns:a="http://schemas.openxmlformats.org/drawingml/2006/main">
            <a:r>
              <a:t>Imagine a fictional case. A researcher reports a successful re-identification attack, and the company using that method suffers reputational damage. Would the next organization share its implementation? This story illustrates a possible disclosure dilemma. Our empirical case is a competition where only two teams released code.</a:t>
            </a:r>
          </a:p>
          <a:p xmlns:a="http://schemas.openxmlformats.org/drawingml/2006/main">
            <a:r>
              <a:t/>
            </a:r>
          </a:p>
          <a:p xmlns:a="http://schemas.openxmlformats.org/drawingml/2006/main">
            <a:r>
              <a:t>Sources</a:t>
            </a:r>
          </a:p>
          <a:p xmlns:a="http://schemas.openxmlformats.org/drawingml/2006/main">
            <a:r>
              <a:t>Kikuchi_PSD2026.pptx, slides 2–3. Fictional vignette proposed by the presenter, not an empirical case.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目安：30秒</a:t>
            </a:r>
          </a:p>
          <a:p xmlns:a="http://schemas.openxmlformats.org/drawingml/2006/main">
            <a:r>
              <a:t/>
            </a:r>
          </a:p>
          <a:p xmlns:a="http://schemas.openxmlformats.org/drawingml/2006/main">
            <a:r>
              <a:t>企業の評判そのものを研究するのではなく、観測の制約に話を移します。大まかな手法と結果しか見えないとき、意味のある知見を抽出できるでしょうか。この問いに最後のスライドで戻ります。</a:t>
            </a:r>
          </a:p>
          <a:p xmlns:a="http://schemas.openxmlformats.org/drawingml/2006/main">
            <a:r>
              <a:t/>
            </a:r>
          </a:p>
          <a:p xmlns:a="http://schemas.openxmlformats.org/drawingml/2006/main">
            <a:r>
              <a:t>English speaking cue</a:t>
            </a:r>
          </a:p>
          <a:p xmlns:a="http://schemas.openxmlformats.org/drawingml/2006/main">
            <a:r>
              <a:t>The research question is what we can learn when we see high-level strategy descriptions and outcomes, but usually cannot inspect the implementation. We use PWS Cup 2025 to examine that question.</a:t>
            </a:r>
          </a:p>
          <a:p xmlns:a="http://schemas.openxmlformats.org/drawingml/2006/main">
            <a:r>
              <a:t/>
            </a:r>
          </a:p>
          <a:p xmlns:a="http://schemas.openxmlformats.org/drawingml/2006/main">
            <a:r>
              <a:t>Sources</a:t>
            </a:r>
          </a:p>
          <a:p xmlns:a="http://schemas.openxmlformats.org/drawingml/2006/main">
            <a:r>
              <a:t>Kikuchi_PSD2026.pptx, slides 3–5 and 7; PWSCUP2025_REVIEW_PUB/paper/main.tex, Introduction.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目安：45秒</a:t>
            </a:r>
          </a:p>
          <a:p xmlns:a="http://schemas.openxmlformats.org/drawingml/2006/main">
            <a:r>
              <a:t/>
            </a:r>
          </a:p>
          <a:p xmlns:a="http://schemas.openxmlformats.org/drawingml/2006/main">
            <a:r>
              <a:t>コードが全くないとは言いません。24チーム中20チームはポスターと発表から戦略を符号化できましたが、コードを公開したのは2チームでした。発表の記述とスコア、対戦結果を結び付けられることが、この場を選ぶ理由です。</a:t>
            </a:r>
          </a:p>
          <a:p xmlns:a="http://schemas.openxmlformats.org/drawingml/2006/main">
            <a:r>
              <a:t/>
            </a:r>
          </a:p>
          <a:p xmlns:a="http://schemas.openxmlformats.org/drawingml/2006/main">
            <a:r>
              <a:t>English speaking cue</a:t>
            </a:r>
          </a:p>
          <a:p xmlns:a="http://schemas.openxmlformats.org/drawingml/2006/main">
            <a:r>
              <a:t>Twenty of the twenty-four teams provided enough detail to reconstruct strategy features, while only two released code. Presentations, published scores, and pairwise attack outcomes give us an intermediate level of evidence that supports exploratory comparison.</a:t>
            </a:r>
          </a:p>
          <a:p xmlns:a="http://schemas.openxmlformats.org/drawingml/2006/main">
            <a:r>
              <a:t/>
            </a:r>
          </a:p>
          <a:p xmlns:a="http://schemas.openxmlformats.org/drawingml/2006/main">
            <a:r>
              <a:t>Sources</a:t>
            </a:r>
          </a:p>
          <a:p xmlns:a="http://schemas.openxmlformats.org/drawingml/2006/main">
            <a:r>
              <a:t>PWSCUP2025_REVIEW_PUB/paper/main.tex, Introduction and Strategies of participating teams.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目安：60秒</a:t>
            </a:r>
          </a:p>
          <a:p xmlns:a="http://schemas.openxmlformats.org/drawingml/2006/main">
            <a:r>
              <a:t/>
            </a:r>
          </a:p>
          <a:p xmlns:a="http://schemas.openxmlformats.org/drawingml/2006/main">
            <a:r>
              <a:t>Syntheaで生成した医療データを使います。母集団Aから秘密の標本Bを渡し、各チームは匿名化データCと脳卒中予測モデルDを提出します。モデルを必ずCで学習するとは限りません。防御は有用性とmembership推定への抵抗性で評価します。攻撃側は他チームのA、C、Dを使い、Bに含まれるレコードを推定します。添字iとjの細部は口頭では省いて構いません。</a:t>
            </a:r>
          </a:p>
          <a:p xmlns:a="http://schemas.openxmlformats.org/drawingml/2006/main">
            <a:r>
              <a:t/>
            </a:r>
          </a:p>
          <a:p xmlns:a="http://schemas.openxmlformats.org/drawingml/2006/main">
            <a:r>
              <a:t>English speaking cue</a:t>
            </a:r>
          </a:p>
          <a:p xmlns:a="http://schemas.openxmlformats.org/drawingml/2006/main">
            <a:r>
              <a:t>The organizer gives each team a hidden sample of synthetic health records. Teams release anonymized data and a stroke-risk model. Other teams try to identify which population records belonged to that hidden sample. Defense scores measure utility and resistance to membership inference. Attack scores reward successful membership inference.</a:t>
            </a:r>
          </a:p>
          <a:p xmlns:a="http://schemas.openxmlformats.org/drawingml/2006/main">
            <a:r>
              <a:t/>
            </a:r>
          </a:p>
          <a:p xmlns:a="http://schemas.openxmlformats.org/drawingml/2006/main">
            <a:r>
              <a:t>Sources</a:t>
            </a:r>
          </a:p>
          <a:p xmlns:a="http://schemas.openxmlformats.org/drawingml/2006/main">
            <a:r>
              <a:t>PWSCUP2025_REVIEW_PUB/paper/main.tex, Competition overview and Figure: System model. Images: paper/figs/system_models/ano_phase.pdf and att_phase.pdf.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目安：70秒</a:t>
            </a:r>
          </a:p>
          <a:p xmlns:a="http://schemas.openxmlformats.org/drawingml/2006/main">
            <a:r>
              <a:t/>
            </a:r>
          </a:p>
          <a:p xmlns:a="http://schemas.openxmlformats.org/drawingml/2006/main">
            <a:r>
              <a:t>発表の記述を比較できる特徴量へ変換します。BaseとSynthesisは別の軸です。Team 9はBの直接変換。Team 2はBを土台にGaussian copulaで合成します。Team 18はSyntheaで別のレコード群を作ります。2と18は合成の有無は同じでもBaseが異なります。例は説明用に3チームを選んでおり、分析は全20チームが対象です。最適化や交換なども別途符号化しています。</a:t>
            </a:r>
          </a:p>
          <a:p xmlns:a="http://schemas.openxmlformats.org/drawingml/2006/main">
            <a:r>
              <a:t/>
            </a:r>
          </a:p>
          <a:p xmlns:a="http://schemas.openxmlformats.org/drawingml/2006/main">
            <a:r>
              <a:t>English speaking cue</a:t>
            </a:r>
          </a:p>
          <a:p xmlns:a="http://schemas.openxmlformats.org/drawingml/2006/main">
            <a:r>
              <a:t>We translate descriptions into comparable features. Base records the starting point for the released records. Synthesis records whether the method generates new records. A Gaussian copula can synthesize from B, while Synthea can provide an alternative base. These are related but distinct design choices.</a:t>
            </a:r>
          </a:p>
          <a:p xmlns:a="http://schemas.openxmlformats.org/drawingml/2006/main">
            <a:r>
              <a:t/>
            </a:r>
          </a:p>
          <a:p xmlns:a="http://schemas.openxmlformats.org/drawingml/2006/main">
            <a:r>
              <a:t>Sources</a:t>
            </a:r>
          </a:p>
          <a:p xmlns:a="http://schemas.openxmlformats.org/drawingml/2006/main">
            <a:r>
              <a:t>PWSCUP2025_REVIEW_PUB/paper/main.tex, Defining Features and Appendix team-level strategy profiles; PWSCUP2025_REVIEW_PUB/Final_0521.csv, Teams 2, 9, 18.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目安：60秒</a:t>
            </a:r>
          </a:p>
          <a:p xmlns:a="http://schemas.openxmlformats.org/drawingml/2006/main">
            <a:r>
              <a:t/>
            </a:r>
          </a:p>
          <a:p xmlns:a="http://schemas.openxmlformats.org/drawingml/2006/main">
            <a:r>
              <a:t>H1は生成・再構築型と直接摂動型の違いを、各特徴量とスコアの関連から見ます。20チームなので効果量を中心に、最大3主効果と1交互作用の回帰をAICcで選びます。H2は防御者と攻撃者の組合せで特定件数が変わるかを見ます。361組でも同じチームが繰り返し現れるため、攻撃者と防御者の両側で標準誤差をクラスタ化します。いずれもショーケースで得た観察を出発点にする探索的分析です。</a:t>
            </a:r>
          </a:p>
          <a:p xmlns:a="http://schemas.openxmlformats.org/drawingml/2006/main">
            <a:r>
              <a:t/>
            </a:r>
          </a:p>
          <a:p xmlns:a="http://schemas.openxmlformats.org/drawingml/2006/main">
            <a:r>
              <a:t>English speaking cue</a:t>
            </a:r>
          </a:p>
          <a:p xmlns:a="http://schemas.openxmlformats.org/drawingml/2006/main">
            <a:r>
              <a:t>H1 relates design choices to team scores, using effect sizes and parsimonious regression selected by AICc. H2 retains each attacker–victim pairing and models exposed-record counts with a negative binomial model. The pairs repeat attackers and victims, so we cluster standard errors in both dimensions.</a:t>
            </a:r>
          </a:p>
          <a:p xmlns:a="http://schemas.openxmlformats.org/drawingml/2006/main">
            <a:r>
              <a:t/>
            </a:r>
          </a:p>
          <a:p xmlns:a="http://schemas.openxmlformats.org/drawingml/2006/main">
            <a:r>
              <a:t>Sources</a:t>
            </a:r>
          </a:p>
          <a:p xmlns:a="http://schemas.openxmlformats.org/drawingml/2006/main">
            <a:r>
              <a:t>PWSCUP2025_REVIEW_PUB/paper/main.tex, Meta-Analysis Methodology. H1: at most three main effects and one two-way interaction. H2: 361 ordered pairs, eight feature-pair specifications.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目安：75秒</a:t>
            </a:r>
          </a:p>
          <a:p xmlns:a="http://schemas.openxmlformats.org/drawingml/2006/main">
            <a:r>
              <a:t/>
            </a:r>
          </a:p>
          <a:p xmlns:a="http://schemas.openxmlformats.org/drawingml/2006/main">
            <a:r>
              <a:t>棒はHedgesのgで、プラスはラベルの後半のカテゴリが高いスコアだったことを表します。生成の土台は有用性と強く関連し、Synthesisは有用性と匿名化の両方と関連します。ここで匿名化はペナルティ後のAnon_allです。回帰では有用性にBaseやSynthesis、匿名化にSynthesisとPost-processingの組合せが残ります。これは観測的関連で、因果効果や未知のデータへの予測性能ではありません。棒は点推定で信頼区間ではありません。交換など他の特徴量の効果量は補足13枚目にあります。</a:t>
            </a:r>
          </a:p>
          <a:p xmlns:a="http://schemas.openxmlformats.org/drawingml/2006/main">
            <a:r>
              <a:t/>
            </a:r>
          </a:p>
          <a:p xmlns:a="http://schemas.openxmlformats.org/drawingml/2006/main">
            <a:r>
              <a:t>English speaking cue</a:t>
            </a:r>
          </a:p>
          <a:p xmlns:a="http://schemas.openxmlformats.org/drawingml/2006/main">
            <a:r>
              <a:t>Synthetic designs were associated with higher scores on both dimensions. An alternative base was most strongly associated with utility. Sparse regression retained related patterns. These are observational associations within this competition. The appendix contains the other feature contrasts.</a:t>
            </a:r>
          </a:p>
          <a:p xmlns:a="http://schemas.openxmlformats.org/drawingml/2006/main">
            <a:r>
              <a:t/>
            </a:r>
          </a:p>
          <a:p xmlns:a="http://schemas.openxmlformats.org/drawingml/2006/main">
            <a:r>
              <a:t>Sources</a:t>
            </a:r>
          </a:p>
          <a:p xmlns:a="http://schemas.openxmlformats.org/drawingml/2006/main">
            <a:r>
              <a:t>PWSCUP2025_REVIEW_PUB/paper/main.tex, H1 results; PWSCUP2025_REVIEW_PUB/Final_0521.csv. Missing=0 gives n=20. Recomputed Hedges g (utility, Anon_all): Base (1.5527,0.5432), Synthesis (1.2593,1.0148). Bars are point estimates, not confidence intervals.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目安：40秒</a:t>
            </a:r>
          </a:p>
          <a:p xmlns:a="http://schemas.openxmlformats.org/drawingml/2006/main">
            <a:r>
              <a:t/>
            </a:r>
          </a:p>
          <a:p xmlns:a="http://schemas.openxmlformats.org/drawingml/2006/main">
            <a:r>
              <a:t>モデルを使うという言い方には2つの意味があります。一つは公開された予測モデルDも攻撃対象として使うこと。もう一つは攻撃者側でmembershipを判別するスコアリング規則を学習することです。最高位の攻撃者Team 8はGaussian LiRAと距離攻撃を組み合わせましたが、符号化ではattack targetはanonです。この区別を付けて次の結果を読みます。</a:t>
            </a:r>
          </a:p>
          <a:p xmlns:a="http://schemas.openxmlformats.org/drawingml/2006/main">
            <a:r>
              <a:t/>
            </a:r>
          </a:p>
          <a:p xmlns:a="http://schemas.openxmlformats.org/drawingml/2006/main">
            <a:r>
              <a:t>English speaking cue</a:t>
            </a:r>
          </a:p>
          <a:p xmlns:a="http://schemas.openxmlformats.org/drawingml/2006/main">
            <a:r>
              <a:t>Using the released prediction model is different from training an attack-side membership scoring model. Team 8 illustrates this distinction: its attack combined Gaussian LiRA and distance matching, while its coded target was anonymized data alone.</a:t>
            </a:r>
          </a:p>
          <a:p xmlns:a="http://schemas.openxmlformats.org/drawingml/2006/main">
            <a:r>
              <a:t/>
            </a:r>
          </a:p>
          <a:p xmlns:a="http://schemas.openxmlformats.org/drawingml/2006/main">
            <a:r>
              <a:t>Sources</a:t>
            </a:r>
          </a:p>
          <a:p xmlns:a="http://schemas.openxmlformats.org/drawingml/2006/main">
            <a:r>
              <a:t>PWSCUP2025_REVIEW_PUB/paper/main.tex, Attack Strategies, Defining Features and Appendix attack feature table.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目安：75秒</a:t>
            </a:r>
          </a:p>
          <a:p xmlns:a="http://schemas.openxmlformats.org/drawingml/2006/main">
            <a:r>
              <a:t/>
            </a:r>
          </a:p>
          <a:p xmlns:a="http://schemas.openxmlformats.org/drawingml/2006/main">
            <a:r>
              <a:t>この表は公開モデルも使うAttack targetとの4つの組合せです。IRRは期待特定件数の比で、1より小さいほど基準群より件数が少ない。交互作用は1.11〜1.18ですが、防御側と攻撃側の主効果を合わせた全体は0.61〜0.70です。したがって防御の優位は消えません。ただし各行は別のモデルで、同じ基準群ではありません。H2は部分的支持と読みます。攻撃者側の学習モデルとの交互作用は標準誤差が推定できず、差がないという結論は出しません。補足に全結果があります。</a:t>
            </a:r>
          </a:p>
          <a:p xmlns:a="http://schemas.openxmlformats.org/drawingml/2006/main">
            <a:r>
              <a:t/>
            </a:r>
          </a:p>
          <a:p xmlns:a="http://schemas.openxmlformats.org/drawingml/2006/main">
            <a:r>
              <a:t>English speaking cue</a:t>
            </a:r>
          </a:p>
          <a:p xmlns:a="http://schemas.openxmlformats.org/drawingml/2006/main">
            <a:r>
              <a:t>For attack target, the interaction terms exceed one, but the full combinations remain below one. Strategy pairing matters, while the victim-side advantage persists. We therefore interpret H2 as partially supported. The interactions involving attacker-trained scoring models had non-estimable clustered standard errors, so we do not make an inferential claim for them.</a:t>
            </a:r>
          </a:p>
          <a:p xmlns:a="http://schemas.openxmlformats.org/drawingml/2006/main">
            <a:r>
              <a:t/>
            </a:r>
          </a:p>
          <a:p xmlns:a="http://schemas.openxmlformats.org/drawingml/2006/main">
            <a:r>
              <a:t>Sources</a:t>
            </a:r>
          </a:p>
          <a:p xmlns:a="http://schemas.openxmlformats.org/drawingml/2006/main">
            <a:r>
              <a:t>PWSCUP2025_REVIEW_PUB/paper/main.tex, H2 results; paper/figs/H2/h2_heat_twoway_bw.png. IRRs rounded as published. All four Attack target interactions p&lt;0.01 under two-way clustering. Combined IRR is exp(beta_victim+beta_attacker+beta_interaction), relative to the joint reference in each separate specification.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目安：40秒</a:t>
            </a:r>
          </a:p>
          <a:p xmlns:a="http://schemas.openxmlformats.org/drawingml/2006/main">
            <a:r>
              <a:t/>
            </a:r>
          </a:p>
          <a:p xmlns:a="http://schemas.openxmlformats.org/drawingml/2006/main">
            <a:r>
              <a:t>意味のあるパターンを取り出せたことと、手法の因果的な優位を確立したことは区別します。20チームという小標本、特徴量間の相関、発表記述からの復元誤差があります。観測できた攻撃に対して良いスコアだったことは、一般的な安全性や差分プライバシーの保証ではありません。H2でも推定不能な標準誤差があり、証拠の限界を含めて報告しています。</a:t>
            </a:r>
          </a:p>
          <a:p xmlns:a="http://schemas.openxmlformats.org/drawingml/2006/main">
            <a:r>
              <a:t/>
            </a:r>
          </a:p>
          <a:p xmlns:a="http://schemas.openxmlformats.org/drawingml/2006/main">
            <a:r>
              <a:t>English speaking cue</a:t>
            </a:r>
          </a:p>
          <a:p xmlns:a="http://schemas.openxmlformats.org/drawingml/2006/main">
            <a:r>
              <a:t>We recovered patterns that are useful for forming hypotheses. The evidence does not establish causal superiority or general privacy guarantees. The small number of teams, correlated choices, and uncertain reconstruction limit what we can conclude.</a:t>
            </a:r>
          </a:p>
          <a:p xmlns:a="http://schemas.openxmlformats.org/drawingml/2006/main">
            <a:r>
              <a:t/>
            </a:r>
          </a:p>
          <a:p xmlns:a="http://schemas.openxmlformats.org/drawingml/2006/main">
            <a:r>
              <a:t>Sources</a:t>
            </a:r>
          </a:p>
          <a:p xmlns:a="http://schemas.openxmlformats.org/drawingml/2006/main">
            <a:r>
              <a:t>PWSCUP2025_REVIEW_PUB/paper/main.tex, Introduction, methodology caveats, H1 and H2 interpretation, Conclusion.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目安：35秒</a:t>
            </a:r>
          </a:p>
          <a:p xmlns:a="http://schemas.openxmlformats.org/drawingml/2006/main">
            <a:r>
              <a:t/>
            </a:r>
          </a:p>
          <a:p xmlns:a="http://schemas.openxmlformats.org/drawingml/2006/main">
            <a:r>
              <a:t>冒頭の問いに答えます。粗い説明でも追試すべき関連を見つけることはできました。因果や一般性の確認は次の研究です。今後は共通の分類に基づくチェックリストを使って戦略情報を計画的に集める、という論文の提案で締めます。</a:t>
            </a:r>
          </a:p>
          <a:p xmlns:a="http://schemas.openxmlformats.org/drawingml/2006/main">
            <a:r>
              <a:t/>
            </a:r>
          </a:p>
          <a:p xmlns:a="http://schemas.openxmlformats.org/drawingml/2006/main">
            <a:r>
              <a:t>English speaking cue</a:t>
            </a:r>
          </a:p>
          <a:p xmlns:a="http://schemas.openxmlformats.org/drawingml/2006/main">
            <a:r>
              <a:t>We can learn something useful from coarse descriptions and outcomes: patterns worth testing. The next step is to collect strategy information systematically using a common checklist, so future competitions produce stronger evidence.</a:t>
            </a:r>
          </a:p>
          <a:p xmlns:a="http://schemas.openxmlformats.org/drawingml/2006/main">
            <a:r>
              <a:t/>
            </a:r>
          </a:p>
          <a:p xmlns:a="http://schemas.openxmlformats.org/drawingml/2006/main">
            <a:r>
              <a:t>Sources</a:t>
            </a:r>
          </a:p>
          <a:p xmlns:a="http://schemas.openxmlformats.org/drawingml/2006/main">
            <a:r>
              <a:t>PWSCUP2025_REVIEW_PUB/paper/main.tex, Conclusion and Future 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目安：0秒</a:t>
            </a:r>
          </a:p>
          <a:p xmlns:a="http://schemas.openxmlformats.org/drawingml/2006/main">
            <a:r>
              <a:t/>
            </a:r>
          </a:p>
          <a:p xmlns:a="http://schemas.openxmlformats.org/drawingml/2006/main">
            <a:r>
              <a:t>質疑用です。最適化は単変量では有用性と強く関連しますが、他の設計特徴と重なり、AICc選択モデルには残りません。ノイズ追加の負の関連は、ノイズの因果的な有害性や差分プライバシーの劣位を示しません。これらは観測的な特徴量比較です。</a:t>
            </a:r>
          </a:p>
          <a:p xmlns:a="http://schemas.openxmlformats.org/drawingml/2006/main">
            <a:r>
              <a:t/>
            </a:r>
          </a:p>
          <a:p xmlns:a="http://schemas.openxmlformats.org/drawingml/2006/main">
            <a:r>
              <a:t>English speaking cue</a:t>
            </a:r>
          </a:p>
          <a:p xmlns:a="http://schemas.openxmlformats.org/drawingml/2006/main">
            <a:r>
              <a:t>These point estimates cover all five broad anonymization features. Optimization overlaps with other choices. Noise effects are observational and should not be interpreted as a verdict on differential privacy.</a:t>
            </a:r>
          </a:p>
          <a:p xmlns:a="http://schemas.openxmlformats.org/drawingml/2006/main">
            <a:r>
              <a:t/>
            </a:r>
          </a:p>
          <a:p xmlns:a="http://schemas.openxmlformats.org/drawingml/2006/main">
            <a:r>
              <a:t>Sources</a:t>
            </a:r>
          </a:p>
          <a:p xmlns:a="http://schemas.openxmlformats.org/drawingml/2006/main">
            <a:r>
              <a:t>PWSCUP2025_REVIEW_PUB/paper/main.tex, H1 results; PWSCUP2025_REVIEW_PUB/Final_0521.csv. Hedges g computed on Missing=0, n=20. Rounded to two decimal places; no confidence intervals shown.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目安：0秒</a:t>
            </a:r>
          </a:p>
          <a:p xmlns:a="http://schemas.openxmlformats.org/drawingml/2006/main">
            <a:r>
              <a:t/>
            </a:r>
          </a:p>
          <a:p xmlns:a="http://schemas.openxmlformats.org/drawingml/2006/main">
            <a:r>
              <a:t>質疑用に原図の値を表へ転記しています。主効果の範囲は信頼区間ではなく、組み合わせたモデル仕様間の範囲です。攻撃者側学習モデルの主効果は原図で1.04〜1.05、本文では約1.04と要約しています。SE n.e.は二方向クラスタ標準誤差が推定できないことを示し、非有意とは異なります。星は原論文の表示を保持しています。</a:t>
            </a:r>
          </a:p>
          <a:p xmlns:a="http://schemas.openxmlformats.org/drawingml/2006/main">
            <a:r>
              <a:t/>
            </a:r>
          </a:p>
          <a:p xmlns:a="http://schemas.openxmlformats.org/drawingml/2006/main">
            <a:r>
              <a:t>English speaking cue</a:t>
            </a:r>
          </a:p>
          <a:p xmlns:a="http://schemas.openxmlformats.org/drawingml/2006/main">
            <a:r>
              <a:t>This table contains the complete published result. Ranges summarize different pairwise specifications, not confidence intervals. Non-estimable standard errors preclude inference for the attacker-trained-model interactions.</a:t>
            </a:r>
          </a:p>
          <a:p xmlns:a="http://schemas.openxmlformats.org/drawingml/2006/main">
            <a:r>
              <a:t/>
            </a:r>
          </a:p>
          <a:p xmlns:a="http://schemas.openxmlformats.org/drawingml/2006/main">
            <a:r>
              <a:t>Sources</a:t>
            </a:r>
          </a:p>
          <a:p xmlns:a="http://schemas.openxmlformats.org/drawingml/2006/main">
            <a:r>
              <a:t>PWSCUP2025_REVIEW_PUB/paper/main.tex, Figure: Disclosure-risk effects from the dyadic negative binomial model; paper/figs/H2/h2_heat_twoway_bw.png.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3a53a17377141c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99d5f8e79fc46b4" /><Relationship Type="http://schemas.openxmlformats.org/officeDocument/2006/relationships/slideLayout" Target="/ppt/slideLayouts/slideLayout1.xml" Id="Re47a81a0415f466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47a81a0415f466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6df756fb8e8417e" /><Relationship Type="http://schemas.openxmlformats.org/officeDocument/2006/relationships/notesSlide" Target="/ppt/notesSlides/notesSlide1.xml" Id="R4e4d52505a9e400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549da87d0c44ffe" /><Relationship Type="http://schemas.openxmlformats.org/officeDocument/2006/relationships/notesSlide" Target="/ppt/notesSlides/notesSlide2.xml" Id="Rd2247150ee7d462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7199c515f2c4e55" /><Relationship Type="http://schemas.openxmlformats.org/officeDocument/2006/relationships/notesSlide" Target="/ppt/notesSlides/notesSlide3.xml" Id="R00e6e1e8b35b41e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6b43dcbb508450a" /><Relationship Type="http://schemas.openxmlformats.org/officeDocument/2006/relationships/notesSlide" Target="/ppt/notesSlides/notesSlide4.xml" Id="R0fc83d4bbc2a464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c3fc706c2584399" /><Relationship Type="http://schemas.openxmlformats.org/officeDocument/2006/relationships/image" Target="/ppt/media/image.png" Id="R0a801fb6eefe4a52" /><Relationship Type="http://schemas.openxmlformats.org/officeDocument/2006/relationships/image" Target="/ppt/media/image2.png" Id="R17e67af323fc4977" /><Relationship Type="http://schemas.openxmlformats.org/officeDocument/2006/relationships/notesSlide" Target="/ppt/notesSlides/notesSlide5.xml" Id="R6e123ade3aa64378"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0c969dc14a54e11" /><Relationship Type="http://schemas.openxmlformats.org/officeDocument/2006/relationships/notesSlide" Target="/ppt/notesSlides/notesSlide6.xml" Id="R8b40f20435d94ecb"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7fad86368ec04431" /><Relationship Type="http://schemas.openxmlformats.org/officeDocument/2006/relationships/notesSlide" Target="/ppt/notesSlides/notesSlide7.xml" Id="R23a69b15ec6d4732"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41ba627c1ff94da0" /><Relationship Type="http://schemas.openxmlformats.org/officeDocument/2006/relationships/chart" Target="/ppt/slides/charts/chart1.xml" Id="Ra53d84e5acd74c19" /><Relationship Type="http://schemas.openxmlformats.org/officeDocument/2006/relationships/notesSlide" Target="/ppt/notesSlides/notesSlide8.xml" Id="Ra4ab2d01763d460b"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e039ba39888c4529" /><Relationship Type="http://schemas.openxmlformats.org/officeDocument/2006/relationships/notesSlide" Target="/ppt/notesSlides/notesSlide9.xml" Id="Rd095e24ee790456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e24a0179178843ae" /><Relationship Type="http://schemas.openxmlformats.org/officeDocument/2006/relationships/notesSlide" Target="/ppt/notesSlides/notesSlide10.xml" Id="Rb73f80dc3ce946e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89b74a9f14e3468c" /><Relationship Type="http://schemas.openxmlformats.org/officeDocument/2006/relationships/notesSlide" Target="/ppt/notesSlides/notesSlide11.xml" Id="R17e17880a3a64d4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58e63f2948164fbd" /><Relationship Type="http://schemas.openxmlformats.org/officeDocument/2006/relationships/notesSlide" Target="/ppt/notesSlides/notesSlide12.xml" Id="Rb1b53e03a37a4ae3"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239a68ce51b8469e" /><Relationship Type="http://schemas.openxmlformats.org/officeDocument/2006/relationships/notesSlide" Target="/ppt/notesSlides/notesSlide13.xml" Id="R7755fb430a2947f5"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3fc2f2f7ade44f1e" /><Relationship Type="http://schemas.openxmlformats.org/officeDocument/2006/relationships/notesSlide" Target="/ppt/notesSlides/notesSlide14.xml" Id="R789350901f0e46a3"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Utility</c:v>
          </c:tx>
          <c:spPr>
            <a:solidFill xmlns:a="http://schemas.openxmlformats.org/drawingml/2006/main">
              <a:srgbClr val="C15F33"/>
            </a:solidFill>
          </c:spPr>
          <c:cat>
            <c:strRef>
              <c:f>'Chart Data'!$A$2:$A$3</c:f>
              <c:strCache>
                <c:ptCount val="2"/>
                <c:pt idx="0">
                  <c:v>Base: B to others</c:v>
                </c:pt>
                <c:pt idx="1">
                  <c:v>Synthesis: no to yes</c:v>
                </c:pt>
              </c:strCache>
            </c:strRef>
          </c:cat>
          <c:val>
            <c:numRef>
              <c:f>'Chart Data'!$B$2:$B$3</c:f>
              <c:numCache>
                <c:formatCode>0.00</c:formatCode>
                <c:ptCount val="2"/>
                <c:pt idx="0">
                  <c:v>1.55</c:v>
                </c:pt>
                <c:pt idx="1">
                  <c:v>1.26</c:v>
                </c:pt>
              </c:numCache>
            </c:numRef>
          </c:val>
        </c:ser>
        <c:ser>
          <c:idx val="1"/>
          <c:order val="1"/>
          <c:tx>
            <c:v>Anonymization</c:v>
          </c:tx>
          <c:spPr>
            <a:solidFill xmlns:a="http://schemas.openxmlformats.org/drawingml/2006/main">
              <a:srgbClr val="007C78"/>
            </a:solidFill>
          </c:spPr>
          <c:cat>
            <c:strRef>
              <c:f>'Chart Data'!$C$2:$C$3</c:f>
              <c:strCache>
                <c:ptCount val="2"/>
                <c:pt idx="0">
                  <c:v>Base: B to others</c:v>
                </c:pt>
                <c:pt idx="1">
                  <c:v>Synthesis: no to yes</c:v>
                </c:pt>
              </c:strCache>
            </c:strRef>
          </c:cat>
          <c:val>
            <c:numRef>
              <c:f>'Chart Data'!$D$2:$D$3</c:f>
              <c:numCache>
                <c:formatCode>0.00</c:formatCode>
                <c:ptCount val="2"/>
                <c:pt idx="0">
                  <c:v>0.54</c:v>
                </c:pt>
                <c:pt idx="1">
                  <c:v>1.01</c:v>
                </c:pt>
              </c:numCache>
            </c:numRef>
          </c:val>
        </c:ser>
        <c:dLbls>
          <c:txPr>
            <a:bodyPr xmlns:a="http://schemas.openxmlformats.org/drawingml/2006/main" anchorCtr="1"/>
            <a:lstStyle xmlns:a="http://schemas.openxmlformats.org/drawingml/2006/main"/>
            <a:p xmlns:a="http://schemas.openxmlformats.org/drawingml/2006/main">
              <a:pPr>
                <a:defRPr sz="1650">
                  <a:solidFill>
                    <a:srgbClr val="132A39"/>
                  </a:solidFill>
                  <a:latin typeface="Arial"/>
                  <a:ea typeface="Arial"/>
                  <a:cs typeface="Arial"/>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l"/>
        <c:numFmt formatCode="General"/>
        <c:majorTickMark val="none"/>
        <c:minorTickMark val="none"/>
        <c:tickLblPos val="low"/>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132A39"/>
                </a:solidFill>
                <a:latin typeface="Arial"/>
                <a:ea typeface="Arial"/>
                <a:cs typeface="Arial"/>
              </a:defRPr>
            </a:pPr>
          </a:p>
        </c:txPr>
        <c:crossAx val="48672768"/>
      </c:catAx>
      <c:valAx>
        <c:axId val="48672768"/>
        <c:scaling>
          <c:orientation val="minMax"/>
          <c:max val="2"/>
          <c:min val="0"/>
        </c:scaling>
        <c:delete val="0"/>
        <c:axPos val="b"/>
        <c:majorGridlines>
          <c:spPr>
            <a:ln xmlns:a="http://schemas.openxmlformats.org/drawingml/2006/main" w="9525">
              <a:solidFill>
                <a:srgbClr val="DCE7E8"/>
              </a:solidFill>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66774"/>
                </a:solidFill>
                <a:latin typeface="Arial"/>
                <a:ea typeface="Arial"/>
                <a:cs typeface="Arial"/>
              </a:defRPr>
            </a:pPr>
          </a:p>
        </c:txPr>
        <c:crossAx val="48650112"/>
        <c:crossBetween val="between"/>
        <c:majorUnit val="0.5"/>
      </c:valAx>
      <c:spPr>
        <a:solidFill xmlns:a="http://schemas.openxmlformats.org/drawingml/2006/main">
          <a:srgbClr val="FFFFFF"/>
        </a:solidFill>
      </c:spPr>
    </c:plotArea>
    <c:legend>
      <c:legendPos val="t"/>
      <c:overlay val="0"/>
      <c:txPr>
        <a:bodyPr xmlns:a="http://schemas.openxmlformats.org/drawingml/2006/main" anchorCtr="1"/>
        <a:lstStyle xmlns:a="http://schemas.openxmlformats.org/drawingml/2006/main"/>
        <a:p xmlns:a="http://schemas.openxmlformats.org/drawingml/2006/main">
          <a:pPr>
            <a:defRPr sz="1725">
              <a:solidFill>
                <a:srgbClr val="132A39"/>
              </a:solidFill>
              <a:latin typeface="Arial"/>
              <a:ea typeface="Arial"/>
              <a:cs typeface="Arial"/>
            </a:defRPr>
          </a:pPr>
        </a:p>
      </c:txPr>
    </c:legend>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32A39"/>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F0D1ECE-7F9F-41D6-946E-1C4B84C04A48}"/>
              </a:ext>
            </a:extLst>
          </p:cNvPr>
          <p:cNvSpPr>
            <a:spLocks xmlns:a="http://schemas.openxmlformats.org/drawingml/2006/main" noGrp="1"/>
          </p:cNvSpPr>
          <p:nvPr/>
        </p:nvSpPr>
        <p:spPr>
          <a:xfrm xmlns:a="http://schemas.openxmlformats.org/drawingml/2006/main">
            <a:off x="11087100" y="6353175"/>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DCE7E8"/>
                </a:solidFill>
                <a:latin typeface="Arial"/>
                <a:ea typeface="Arial"/>
                <a:cs typeface="Arial"/>
              </a:defRPr>
            </a:pPr>
            <a:r>
              <a:rPr sz="1200" b="0">
                <a:solidFill>
                  <a:srgbClr val="DCE7E8"/>
                </a:solidFill>
                <a:latin typeface="Arial"/>
                <a:ea typeface="Arial"/>
                <a:cs typeface="Arial"/>
              </a:rPr>
              <a:t>01</a:t>
            </a:r>
          </a:p>
        </p:txBody>
      </p:sp>
      <p:sp>
        <p:nvSpPr>
          <p:cNvPr id="2" name="">
            <a:extLst xmlns:a="http://schemas.openxmlformats.org/drawingml/2006/main">
              <a:ext uri="{FF2B5EF4-FFF2-40B4-BE49-F238E27FC236}">
                <a16:creationId xmlns:a16="http://schemas.microsoft.com/office/drawing/2014/main" id="{F3FFC33C-1042-4923-9116-31457B44B3B3}"/>
              </a:ext>
            </a:extLst>
          </p:cNvPr>
          <p:cNvSpPr>
            <a:spLocks xmlns:a="http://schemas.openxmlformats.org/drawingml/2006/main" noGrp="1"/>
          </p:cNvSpPr>
          <p:nvPr/>
        </p:nvSpPr>
        <p:spPr>
          <a:xfrm xmlns:a="http://schemas.openxmlformats.org/drawingml/2006/main">
            <a:off x="685800" y="1295400"/>
            <a:ext cx="10668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800" b="1">
                <a:solidFill>
                  <a:srgbClr val="FFFFFF"/>
                </a:solidFill>
                <a:latin typeface="Arial"/>
                <a:ea typeface="Arial"/>
                <a:cs typeface="Arial"/>
              </a:defRPr>
            </a:pPr>
            <a:r>
              <a:rPr sz="4800" b="1">
                <a:solidFill>
                  <a:srgbClr val="FFFFFF"/>
                </a:solidFill>
                <a:latin typeface="Arial"/>
                <a:ea typeface="Arial"/>
                <a:cs typeface="Arial"/>
              </a:rPr>
              <a:t>Patterns Without Source</a:t>
            </a:r>
          </a:p>
        </p:txBody>
      </p:sp>
      <p:sp>
        <p:nvSpPr>
          <p:cNvPr id="3" name="">
            <a:extLst xmlns:a="http://schemas.openxmlformats.org/drawingml/2006/main">
              <a:ext uri="{FF2B5EF4-FFF2-40B4-BE49-F238E27FC236}">
                <a16:creationId xmlns:a16="http://schemas.microsoft.com/office/drawing/2014/main" id="{FFAF72F9-40DC-448A-8F30-4CA3259DCC29}"/>
              </a:ext>
            </a:extLst>
          </p:cNvPr>
          <p:cNvSpPr>
            <a:spLocks xmlns:a="http://schemas.openxmlformats.org/drawingml/2006/main" noGrp="1"/>
          </p:cNvSpPr>
          <p:nvPr/>
        </p:nvSpPr>
        <p:spPr>
          <a:xfrm xmlns:a="http://schemas.openxmlformats.org/drawingml/2006/main">
            <a:off x="723900" y="238125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925" b="0">
                <a:solidFill>
                  <a:srgbClr val="DCE7E8"/>
                </a:solidFill>
                <a:latin typeface="Arial"/>
                <a:ea typeface="Arial"/>
                <a:cs typeface="Arial"/>
              </a:defRPr>
            </a:pPr>
            <a:r>
              <a:rPr sz="2925" b="0">
                <a:solidFill>
                  <a:srgbClr val="DCE7E8"/>
                </a:solidFill>
                <a:latin typeface="Arial"/>
                <a:ea typeface="Arial"/>
                <a:cs typeface="Arial"/>
              </a:rPr>
              <a:t>A Meta-Analysis of PWS Cup 2025</a:t>
            </a:r>
          </a:p>
        </p:txBody>
      </p:sp>
      <p:sp>
        <p:nvSpPr>
          <p:cNvPr id="4" name="">
            <a:extLst xmlns:a="http://schemas.openxmlformats.org/drawingml/2006/main">
              <a:ext uri="{FF2B5EF4-FFF2-40B4-BE49-F238E27FC236}">
                <a16:creationId xmlns:a16="http://schemas.microsoft.com/office/drawing/2014/main" id="{FDB4FE81-97C6-488E-8BEE-09F435F31689}"/>
              </a:ext>
            </a:extLst>
          </p:cNvPr>
          <p:cNvSpPr>
            <a:spLocks xmlns:a="http://schemas.openxmlformats.org/drawingml/2006/main" noGrp="1"/>
          </p:cNvSpPr>
          <p:nvPr/>
        </p:nvSpPr>
        <p:spPr>
          <a:xfrm xmlns:a="http://schemas.openxmlformats.org/drawingml/2006/main">
            <a:off x="723900" y="4019550"/>
            <a:ext cx="1047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FFFFFF"/>
                </a:solidFill>
                <a:latin typeface="Arial"/>
                <a:ea typeface="Arial"/>
                <a:cs typeface="Arial"/>
              </a:defRPr>
            </a:pPr>
            <a:r>
              <a:rPr sz="2025" b="0">
                <a:solidFill>
                  <a:srgbClr val="FFFFFF"/>
                </a:solidFill>
                <a:latin typeface="Arial"/>
                <a:ea typeface="Arial"/>
                <a:cs typeface="Arial"/>
              </a:rPr>
              <a:t>Hinata Kikuchi, Hajime Ono, Kazuhiro Minami</a:t>
            </a:r>
          </a:p>
        </p:txBody>
      </p:sp>
      <p:sp>
        <p:nvSpPr>
          <p:cNvPr id="5" name="">
            <a:extLst xmlns:a="http://schemas.openxmlformats.org/drawingml/2006/main">
              <a:ext uri="{FF2B5EF4-FFF2-40B4-BE49-F238E27FC236}">
                <a16:creationId xmlns:a16="http://schemas.microsoft.com/office/drawing/2014/main" id="{155E3EA3-6837-43A0-BFCC-696DD8F8C1A9}"/>
              </a:ext>
            </a:extLst>
          </p:cNvPr>
          <p:cNvSpPr>
            <a:spLocks xmlns:a="http://schemas.openxmlformats.org/drawingml/2006/main" noGrp="1"/>
          </p:cNvSpPr>
          <p:nvPr/>
        </p:nvSpPr>
        <p:spPr>
          <a:xfrm xmlns:a="http://schemas.openxmlformats.org/drawingml/2006/main">
            <a:off x="723900" y="4533900"/>
            <a:ext cx="10572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DCE7E8"/>
                </a:solidFill>
                <a:latin typeface="Arial"/>
                <a:ea typeface="Arial"/>
                <a:cs typeface="Arial"/>
              </a:defRPr>
            </a:pPr>
            <a:r>
              <a:rPr sz="1650" b="0">
                <a:solidFill>
                  <a:srgbClr val="DCE7E8"/>
                </a:solidFill>
                <a:latin typeface="Arial"/>
                <a:ea typeface="Arial"/>
                <a:cs typeface="Arial"/>
              </a:rPr>
              <a:t>Research Organization of Information and Systems</a:t>
            </a:r>
          </a:p>
          <a:p xmlns:a="http://schemas.openxmlformats.org/drawingml/2006/main">
            <a:pPr>
              <a:defRPr sz="1650" b="0">
                <a:solidFill>
                  <a:srgbClr val="DCE7E8"/>
                </a:solidFill>
                <a:latin typeface="Arial"/>
                <a:ea typeface="Arial"/>
                <a:cs typeface="Arial"/>
              </a:defRPr>
            </a:pPr>
            <a:r>
              <a:rPr sz="1650" b="0">
                <a:solidFill>
                  <a:srgbClr val="DCE7E8"/>
                </a:solidFill>
                <a:latin typeface="Arial"/>
                <a:ea typeface="Arial"/>
                <a:cs typeface="Arial"/>
              </a:rPr>
              <a:t>Chuo University, The Institute of Statistical Mathematics, Kanazawa University</a:t>
            </a:r>
          </a:p>
        </p:txBody>
      </p:sp>
      <p:sp>
        <p:nvSpPr>
          <p:cNvPr id="6" name="">
            <a:extLst xmlns:a="http://schemas.openxmlformats.org/drawingml/2006/main">
              <a:ext uri="{FF2B5EF4-FFF2-40B4-BE49-F238E27FC236}">
                <a16:creationId xmlns:a16="http://schemas.microsoft.com/office/drawing/2014/main" id="{BC23FB32-301B-4D82-9C2D-E3EA94E3F057}"/>
              </a:ext>
            </a:extLst>
          </p:cNvPr>
          <p:cNvSpPr>
            <a:spLocks xmlns:a="http://schemas.openxmlformats.org/drawingml/2006/main" noGrp="1"/>
          </p:cNvSpPr>
          <p:nvPr/>
        </p:nvSpPr>
        <p:spPr>
          <a:xfrm xmlns:a="http://schemas.openxmlformats.org/drawingml/2006/main">
            <a:off x="723900" y="6067425"/>
            <a:ext cx="666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DCE7E8"/>
                </a:solidFill>
                <a:latin typeface="Arial"/>
                <a:ea typeface="Arial"/>
                <a:cs typeface="Arial"/>
              </a:defRPr>
            </a:pPr>
            <a:r>
              <a:rPr sz="1650" b="0">
                <a:solidFill>
                  <a:srgbClr val="DCE7E8"/>
                </a:solidFill>
                <a:latin typeface="Arial"/>
                <a:ea typeface="Arial"/>
                <a:cs typeface="Arial"/>
              </a:rPr>
              <a:t>PSD 2026, Cadiz</a:t>
            </a:r>
          </a:p>
        </p:txBody>
      </p:sp>
    </p:spTree>
    <p:extLst>
      <p:ext uri="{BB962C8B-B14F-4D97-AF65-F5344CB8AC3E}">
        <p14:creationId xmlns:p14="http://schemas.microsoft.com/office/powerpoint/2010/main" val="39123963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0BB6BCE-D32E-49C6-8CF3-763802EEFC1C}"/>
              </a:ext>
            </a:extLst>
          </p:cNvPr>
          <p:cNvSpPr>
            <a:spLocks xmlns:a="http://schemas.openxmlformats.org/drawingml/2006/main" noGrp="1"/>
          </p:cNvSpPr>
          <p:nvPr/>
        </p:nvSpPr>
        <p:spPr>
          <a:xfrm xmlns:a="http://schemas.openxmlformats.org/drawingml/2006/main">
            <a:off x="685800" y="457200"/>
            <a:ext cx="108204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150" b="1">
                <a:solidFill>
                  <a:srgbClr val="132A39"/>
                </a:solidFill>
                <a:latin typeface="Arial"/>
                <a:ea typeface="Arial"/>
                <a:cs typeface="Arial"/>
              </a:defRPr>
            </a:pPr>
            <a:r>
              <a:rPr sz="3150" b="1">
                <a:solidFill>
                  <a:srgbClr val="132A39"/>
                </a:solidFill>
                <a:latin typeface="Arial"/>
                <a:ea typeface="Arial"/>
                <a:cs typeface="Arial"/>
              </a:rPr>
              <a:t>A fictional scenario</a:t>
            </a:r>
          </a:p>
        </p:txBody>
      </p:sp>
      <p:sp>
        <p:nvSpPr>
          <p:cNvPr id="2" name="">
            <a:extLst xmlns:a="http://schemas.openxmlformats.org/drawingml/2006/main">
              <a:ext uri="{FF2B5EF4-FFF2-40B4-BE49-F238E27FC236}">
                <a16:creationId xmlns:a16="http://schemas.microsoft.com/office/drawing/2014/main" id="{196DFF2A-5CC9-447A-B509-1C44542DB5E2}"/>
              </a:ext>
            </a:extLst>
          </p:cNvPr>
          <p:cNvSpPr>
            <a:spLocks xmlns:a="http://schemas.openxmlformats.org/drawingml/2006/main" noGrp="1"/>
          </p:cNvSpPr>
          <p:nvPr/>
        </p:nvSpPr>
        <p:spPr>
          <a:xfrm xmlns:a="http://schemas.openxmlformats.org/drawingml/2006/main">
            <a:off x="11087100" y="6353175"/>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566774"/>
                </a:solidFill>
                <a:latin typeface="Arial"/>
                <a:ea typeface="Arial"/>
                <a:cs typeface="Arial"/>
              </a:defRPr>
            </a:pPr>
            <a:r>
              <a:rPr sz="1200" b="0">
                <a:solidFill>
                  <a:srgbClr val="566774"/>
                </a:solidFill>
                <a:latin typeface="Arial"/>
                <a:ea typeface="Arial"/>
                <a:cs typeface="Arial"/>
              </a:rPr>
              <a:t>02</a:t>
            </a:r>
          </a:p>
        </p:txBody>
      </p:sp>
      <p:sp>
        <p:nvSpPr>
          <p:cNvPr id="3" name="">
            <a:extLst xmlns:a="http://schemas.openxmlformats.org/drawingml/2006/main">
              <a:ext uri="{FF2B5EF4-FFF2-40B4-BE49-F238E27FC236}">
                <a16:creationId xmlns:a16="http://schemas.microsoft.com/office/drawing/2014/main" id="{F29D4E84-27A0-4F5D-8389-853F8528AC15}"/>
              </a:ext>
            </a:extLst>
          </p:cNvPr>
          <p:cNvSpPr>
            <a:spLocks xmlns:a="http://schemas.openxmlformats.org/drawingml/2006/main" noGrp="1"/>
          </p:cNvSpPr>
          <p:nvPr/>
        </p:nvSpPr>
        <p:spPr>
          <a:xfrm xmlns:a="http://schemas.openxmlformats.org/drawingml/2006/main">
            <a:off x="685800" y="1762125"/>
            <a:ext cx="10477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32A39"/>
                </a:solidFill>
                <a:latin typeface="Arial"/>
                <a:ea typeface="Arial"/>
                <a:cs typeface="Arial"/>
              </a:defRPr>
            </a:pPr>
            <a:r>
              <a:rPr sz="3300" b="1">
                <a:solidFill>
                  <a:srgbClr val="132A39"/>
                </a:solidFill>
                <a:latin typeface="Arial"/>
                <a:ea typeface="Arial"/>
                <a:cs typeface="Arial"/>
              </a:rPr>
              <a:t>A researcher reports a successful</a:t>
            </a:r>
          </a:p>
          <a:p xmlns:a="http://schemas.openxmlformats.org/drawingml/2006/main">
            <a:pPr>
              <a:defRPr sz="3300" b="1">
                <a:solidFill>
                  <a:srgbClr val="132A39"/>
                </a:solidFill>
                <a:latin typeface="Arial"/>
                <a:ea typeface="Arial"/>
                <a:cs typeface="Arial"/>
              </a:defRPr>
            </a:pPr>
            <a:r>
              <a:rPr sz="3300" b="1">
                <a:solidFill>
                  <a:srgbClr val="132A39"/>
                </a:solidFill>
                <a:latin typeface="Arial"/>
                <a:ea typeface="Arial"/>
                <a:cs typeface="Arial"/>
              </a:rPr>
              <a:t>re-identification attack.</a:t>
            </a:r>
          </a:p>
        </p:txBody>
      </p:sp>
      <p:sp>
        <p:nvSpPr>
          <p:cNvPr id="4" name="">
            <a:extLst xmlns:a="http://schemas.openxmlformats.org/drawingml/2006/main">
              <a:ext uri="{FF2B5EF4-FFF2-40B4-BE49-F238E27FC236}">
                <a16:creationId xmlns:a16="http://schemas.microsoft.com/office/drawing/2014/main" id="{0DAD659D-8CA4-49DF-A9B1-9C7DAA66815D}"/>
              </a:ext>
            </a:extLst>
          </p:cNvPr>
          <p:cNvSpPr>
            <a:spLocks xmlns:a="http://schemas.openxmlformats.org/drawingml/2006/main" noGrp="1"/>
          </p:cNvSpPr>
          <p:nvPr/>
        </p:nvSpPr>
        <p:spPr>
          <a:xfrm xmlns:a="http://schemas.openxmlformats.org/drawingml/2006/main">
            <a:off x="685800" y="3257550"/>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566774"/>
                </a:solidFill>
                <a:latin typeface="Arial"/>
                <a:ea typeface="Arial"/>
                <a:cs typeface="Arial"/>
              </a:defRPr>
            </a:pPr>
            <a:r>
              <a:rPr sz="2550" b="0">
                <a:solidFill>
                  <a:srgbClr val="566774"/>
                </a:solidFill>
                <a:latin typeface="Arial"/>
                <a:ea typeface="Arial"/>
                <a:cs typeface="Arial"/>
              </a:rPr>
              <a:t>The company using the anonymization method</a:t>
            </a:r>
          </a:p>
          <a:p xmlns:a="http://schemas.openxmlformats.org/drawingml/2006/main">
            <a:pPr>
              <a:defRPr sz="2550" b="0">
                <a:solidFill>
                  <a:srgbClr val="566774"/>
                </a:solidFill>
                <a:latin typeface="Arial"/>
                <a:ea typeface="Arial"/>
                <a:cs typeface="Arial"/>
              </a:defRPr>
            </a:pPr>
            <a:r>
              <a:rPr sz="2550" b="0">
                <a:solidFill>
                  <a:srgbClr val="566774"/>
                </a:solidFill>
                <a:latin typeface="Arial"/>
                <a:ea typeface="Arial"/>
                <a:cs typeface="Arial"/>
              </a:rPr>
              <a:t>faces reputational damage.</a:t>
            </a:r>
          </a:p>
        </p:txBody>
      </p:sp>
      <p:sp>
        <p:nvSpPr>
          <p:cNvPr id="5" name="">
            <a:extLst xmlns:a="http://schemas.openxmlformats.org/drawingml/2006/main">
              <a:ext uri="{FF2B5EF4-FFF2-40B4-BE49-F238E27FC236}">
                <a16:creationId xmlns:a16="http://schemas.microsoft.com/office/drawing/2014/main" id="{AC91A758-8792-4439-BE47-61F33DEF56C2}"/>
              </a:ext>
            </a:extLst>
          </p:cNvPr>
          <p:cNvSpPr>
            <a:spLocks xmlns:a="http://schemas.openxmlformats.org/drawingml/2006/main" noGrp="1"/>
          </p:cNvSpPr>
          <p:nvPr/>
        </p:nvSpPr>
        <p:spPr>
          <a:xfrm xmlns:a="http://schemas.openxmlformats.org/drawingml/2006/main">
            <a:off x="685800" y="5029200"/>
            <a:ext cx="10668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625" b="1">
                <a:solidFill>
                  <a:srgbClr val="007C78"/>
                </a:solidFill>
                <a:latin typeface="Arial"/>
                <a:ea typeface="Arial"/>
                <a:cs typeface="Arial"/>
              </a:defRPr>
            </a:pPr>
            <a:r>
              <a:rPr sz="2625" b="1">
                <a:solidFill>
                  <a:srgbClr val="007C78"/>
                </a:solidFill>
                <a:latin typeface="Arial"/>
                <a:ea typeface="Arial"/>
                <a:cs typeface="Arial"/>
              </a:rPr>
              <a:t>Would the next organization share its implementation?</a:t>
            </a:r>
          </a:p>
        </p:txBody>
      </p:sp>
    </p:spTree>
    <p:extLst>
      <p:ext uri="{BB962C8B-B14F-4D97-AF65-F5344CB8AC3E}">
        <p14:creationId xmlns:p14="http://schemas.microsoft.com/office/powerpoint/2010/main" val="798659803"/>
      </p:ext>
    </p:extLst>
  </p:cSld>
</p:sld>
</file>

<file path=ppt/slides/slide3.xml><?xml version="1.0" encoding="utf-8"?>
<p:sld xmlns:p="http://schemas.openxmlformats.org/presentationml/2006/main">
  <p:cSld>
    <p:bg>
      <p:bgPr>
        <a:solidFill xmlns:a="http://schemas.openxmlformats.org/drawingml/2006/main">
          <a:srgbClr val="132A39"/>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D25CE0C1-0FAE-4E57-AB4F-1229F7E37015}"/>
              </a:ext>
            </a:extLst>
          </p:cNvPr>
          <p:cNvSpPr>
            <a:spLocks xmlns:a="http://schemas.openxmlformats.org/drawingml/2006/main" noGrp="1"/>
          </p:cNvSpPr>
          <p:nvPr/>
        </p:nvSpPr>
        <p:spPr>
          <a:xfrm xmlns:a="http://schemas.openxmlformats.org/drawingml/2006/main">
            <a:off x="11087100" y="6353175"/>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DCE7E8"/>
                </a:solidFill>
                <a:latin typeface="Arial"/>
                <a:ea typeface="Arial"/>
                <a:cs typeface="Arial"/>
              </a:defRPr>
            </a:pPr>
            <a:r>
              <a:rPr sz="1200" b="0">
                <a:solidFill>
                  <a:srgbClr val="DCE7E8"/>
                </a:solidFill>
                <a:latin typeface="Arial"/>
                <a:ea typeface="Arial"/>
                <a:cs typeface="Arial"/>
              </a:rPr>
              <a:t>03</a:t>
            </a:r>
          </a:p>
        </p:txBody>
      </p:sp>
      <p:sp>
        <p:nvSpPr>
          <p:cNvPr id="2" name="">
            <a:extLst xmlns:a="http://schemas.openxmlformats.org/drawingml/2006/main">
              <a:ext uri="{FF2B5EF4-FFF2-40B4-BE49-F238E27FC236}">
                <a16:creationId xmlns:a16="http://schemas.microsoft.com/office/drawing/2014/main" id="{02EF60DC-3E10-4057-B848-1EDE31E160EF}"/>
              </a:ext>
            </a:extLst>
          </p:cNvPr>
          <p:cNvSpPr>
            <a:spLocks xmlns:a="http://schemas.openxmlformats.org/drawingml/2006/main" noGrp="1"/>
          </p:cNvSpPr>
          <p:nvPr/>
        </p:nvSpPr>
        <p:spPr>
          <a:xfrm xmlns:a="http://schemas.openxmlformats.org/drawingml/2006/main">
            <a:off x="685800" y="1123950"/>
            <a:ext cx="10820400" cy="2495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575" b="1">
                <a:solidFill>
                  <a:srgbClr val="FFFFFF"/>
                </a:solidFill>
                <a:latin typeface="Arial"/>
                <a:ea typeface="Arial"/>
                <a:cs typeface="Arial"/>
              </a:defRPr>
            </a:pPr>
            <a:r>
              <a:rPr sz="4575" b="1">
                <a:solidFill>
                  <a:srgbClr val="FFFFFF"/>
                </a:solidFill>
                <a:latin typeface="Arial"/>
                <a:ea typeface="Arial"/>
                <a:cs typeface="Arial"/>
              </a:rPr>
              <a:t>What can we learn</a:t>
            </a:r>
          </a:p>
          <a:p xmlns:a="http://schemas.openxmlformats.org/drawingml/2006/main">
            <a:pPr>
              <a:defRPr sz="4575" b="1">
                <a:solidFill>
                  <a:srgbClr val="FFFFFF"/>
                </a:solidFill>
                <a:latin typeface="Arial"/>
                <a:ea typeface="Arial"/>
                <a:cs typeface="Arial"/>
              </a:defRPr>
            </a:pPr>
            <a:r>
              <a:rPr sz="4575" b="1">
                <a:solidFill>
                  <a:srgbClr val="FFFFFF"/>
                </a:solidFill>
                <a:latin typeface="Arial"/>
                <a:ea typeface="Arial"/>
                <a:cs typeface="Arial"/>
              </a:rPr>
              <a:t>from strategy descriptions</a:t>
            </a:r>
          </a:p>
          <a:p xmlns:a="http://schemas.openxmlformats.org/drawingml/2006/main">
            <a:pPr>
              <a:defRPr sz="4575" b="1">
                <a:solidFill>
                  <a:srgbClr val="FFFFFF"/>
                </a:solidFill>
                <a:latin typeface="Arial"/>
                <a:ea typeface="Arial"/>
                <a:cs typeface="Arial"/>
              </a:defRPr>
            </a:pPr>
            <a:r>
              <a:rPr sz="4575" b="1">
                <a:solidFill>
                  <a:srgbClr val="FFFFFF"/>
                </a:solidFill>
                <a:latin typeface="Arial"/>
                <a:ea typeface="Arial"/>
                <a:cs typeface="Arial"/>
              </a:rPr>
              <a:t>and outcomes alone?</a:t>
            </a:r>
          </a:p>
        </p:txBody>
      </p:sp>
      <p:sp>
        <p:nvSpPr>
          <p:cNvPr id="3" name="">
            <a:extLst xmlns:a="http://schemas.openxmlformats.org/drawingml/2006/main">
              <a:ext uri="{FF2B5EF4-FFF2-40B4-BE49-F238E27FC236}">
                <a16:creationId xmlns:a16="http://schemas.microsoft.com/office/drawing/2014/main" id="{9A8131BF-83AB-46CE-B959-CD224800338E}"/>
              </a:ext>
            </a:extLst>
          </p:cNvPr>
          <p:cNvSpPr>
            <a:spLocks xmlns:a="http://schemas.openxmlformats.org/drawingml/2006/main" noGrp="1"/>
          </p:cNvSpPr>
          <p:nvPr/>
        </p:nvSpPr>
        <p:spPr>
          <a:xfrm xmlns:a="http://schemas.openxmlformats.org/drawingml/2006/main">
            <a:off x="723900" y="4552950"/>
            <a:ext cx="10287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DCE7E8"/>
                </a:solidFill>
                <a:latin typeface="Arial"/>
                <a:ea typeface="Arial"/>
                <a:cs typeface="Arial"/>
              </a:defRPr>
            </a:pPr>
            <a:r>
              <a:rPr sz="2250" b="0">
                <a:solidFill>
                  <a:srgbClr val="DCE7E8"/>
                </a:solidFill>
                <a:latin typeface="Arial"/>
                <a:ea typeface="Arial"/>
                <a:cs typeface="Arial"/>
              </a:rPr>
              <a:t>Observable: high-level methods and scores</a:t>
            </a:r>
          </a:p>
          <a:p xmlns:a="http://schemas.openxmlformats.org/drawingml/2006/main">
            <a:pPr>
              <a:defRPr sz="2250" b="0">
                <a:solidFill>
                  <a:srgbClr val="DCE7E8"/>
                </a:solidFill>
                <a:latin typeface="Arial"/>
                <a:ea typeface="Arial"/>
                <a:cs typeface="Arial"/>
              </a:defRPr>
            </a:pPr>
            <a:r>
              <a:rPr sz="2250" b="0">
                <a:solidFill>
                  <a:srgbClr val="DCE7E8"/>
                </a:solidFill>
                <a:latin typeface="Arial"/>
                <a:ea typeface="Arial"/>
                <a:cs typeface="Arial"/>
              </a:rPr>
              <a:t>Mostly unavailable: code and implementation details</a:t>
            </a:r>
          </a:p>
        </p:txBody>
      </p:sp>
    </p:spTree>
    <p:extLst>
      <p:ext uri="{BB962C8B-B14F-4D97-AF65-F5344CB8AC3E}">
        <p14:creationId xmlns:p14="http://schemas.microsoft.com/office/powerpoint/2010/main" val="59140203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0E677C3E-9717-4826-89C8-CCE550E67626}"/>
              </a:ext>
            </a:extLst>
          </p:cNvPr>
          <p:cNvSpPr>
            <a:spLocks xmlns:a="http://schemas.openxmlformats.org/drawingml/2006/main" noGrp="1"/>
          </p:cNvSpPr>
          <p:nvPr/>
        </p:nvSpPr>
        <p:spPr>
          <a:xfrm xmlns:a="http://schemas.openxmlformats.org/drawingml/2006/main">
            <a:off x="685800" y="457200"/>
            <a:ext cx="108204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150" b="1">
                <a:solidFill>
                  <a:srgbClr val="132A39"/>
                </a:solidFill>
                <a:latin typeface="Arial"/>
                <a:ea typeface="Arial"/>
                <a:cs typeface="Arial"/>
              </a:defRPr>
            </a:pPr>
            <a:r>
              <a:rPr sz="3150" b="1">
                <a:solidFill>
                  <a:srgbClr val="132A39"/>
                </a:solidFill>
                <a:latin typeface="Arial"/>
                <a:ea typeface="Arial"/>
                <a:cs typeface="Arial"/>
              </a:rPr>
              <a:t>Why PWS Cup 2025?</a:t>
            </a:r>
          </a:p>
        </p:txBody>
      </p:sp>
      <p:sp>
        <p:nvSpPr>
          <p:cNvPr id="2" name="">
            <a:extLst xmlns:a="http://schemas.openxmlformats.org/drawingml/2006/main">
              <a:ext uri="{FF2B5EF4-FFF2-40B4-BE49-F238E27FC236}">
                <a16:creationId xmlns:a16="http://schemas.microsoft.com/office/drawing/2014/main" id="{38AF32E3-FCC1-4BB2-AE1A-0F1E82C0C9F3}"/>
              </a:ext>
            </a:extLst>
          </p:cNvPr>
          <p:cNvSpPr>
            <a:spLocks xmlns:a="http://schemas.openxmlformats.org/drawingml/2006/main" noGrp="1"/>
          </p:cNvSpPr>
          <p:nvPr/>
        </p:nvSpPr>
        <p:spPr>
          <a:xfrm xmlns:a="http://schemas.openxmlformats.org/drawingml/2006/main">
            <a:off x="11087100" y="6353175"/>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566774"/>
                </a:solidFill>
                <a:latin typeface="Arial"/>
                <a:ea typeface="Arial"/>
                <a:cs typeface="Arial"/>
              </a:defRPr>
            </a:pPr>
            <a:r>
              <a:rPr sz="1200" b="0">
                <a:solidFill>
                  <a:srgbClr val="566774"/>
                </a:solidFill>
                <a:latin typeface="Arial"/>
                <a:ea typeface="Arial"/>
                <a:cs typeface="Arial"/>
              </a:rPr>
              <a:t>04</a:t>
            </a:r>
          </a:p>
        </p:txBody>
      </p:sp>
      <p:sp>
        <p:nvSpPr>
          <p:cNvPr id="3" name="">
            <a:extLst xmlns:a="http://schemas.openxmlformats.org/drawingml/2006/main">
              <a:ext uri="{FF2B5EF4-FFF2-40B4-BE49-F238E27FC236}">
                <a16:creationId xmlns:a16="http://schemas.microsoft.com/office/drawing/2014/main" id="{1E3A83A4-B65C-4BA9-AC8C-DA4AD7E6EBEA}"/>
              </a:ext>
            </a:extLst>
          </p:cNvPr>
          <p:cNvSpPr>
            <a:spLocks xmlns:a="http://schemas.openxmlformats.org/drawingml/2006/main" noGrp="1"/>
          </p:cNvSpPr>
          <p:nvPr/>
        </p:nvSpPr>
        <p:spPr>
          <a:xfrm xmlns:a="http://schemas.openxmlformats.org/drawingml/2006/main">
            <a:off x="685800" y="1685925"/>
            <a:ext cx="5238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6300" b="1">
                <a:solidFill>
                  <a:srgbClr val="007C78"/>
                </a:solidFill>
                <a:latin typeface="Arial"/>
                <a:ea typeface="Arial"/>
                <a:cs typeface="Arial"/>
              </a:defRPr>
            </a:pPr>
            <a:r>
              <a:rPr sz="6300" b="1">
                <a:solidFill>
                  <a:srgbClr val="007C78"/>
                </a:solidFill>
                <a:latin typeface="Arial"/>
                <a:ea typeface="Arial"/>
                <a:cs typeface="Arial"/>
              </a:rPr>
              <a:t>20 / 24</a:t>
            </a:r>
          </a:p>
        </p:txBody>
      </p:sp>
      <p:sp>
        <p:nvSpPr>
          <p:cNvPr id="4" name="">
            <a:extLst xmlns:a="http://schemas.openxmlformats.org/drawingml/2006/main">
              <a:ext uri="{FF2B5EF4-FFF2-40B4-BE49-F238E27FC236}">
                <a16:creationId xmlns:a16="http://schemas.microsoft.com/office/drawing/2014/main" id="{87EE102A-BF85-456E-8AEA-E4D0103C0A7D}"/>
              </a:ext>
            </a:extLst>
          </p:cNvPr>
          <p:cNvSpPr>
            <a:spLocks xmlns:a="http://schemas.openxmlformats.org/drawingml/2006/main" noGrp="1"/>
          </p:cNvSpPr>
          <p:nvPr/>
        </p:nvSpPr>
        <p:spPr>
          <a:xfrm xmlns:a="http://schemas.openxmlformats.org/drawingml/2006/main">
            <a:off x="733425" y="2790825"/>
            <a:ext cx="49053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32A39"/>
                </a:solidFill>
                <a:latin typeface="Arial"/>
                <a:ea typeface="Arial"/>
                <a:cs typeface="Arial"/>
              </a:defRPr>
            </a:pPr>
            <a:r>
              <a:rPr sz="2325" b="0">
                <a:solidFill>
                  <a:srgbClr val="132A39"/>
                </a:solidFill>
                <a:latin typeface="Arial"/>
                <a:ea typeface="Arial"/>
                <a:cs typeface="Arial"/>
              </a:rPr>
              <a:t>teams with enough information</a:t>
            </a:r>
          </a:p>
          <a:p xmlns:a="http://schemas.openxmlformats.org/drawingml/2006/main">
            <a:pPr>
              <a:defRPr sz="2325" b="0">
                <a:solidFill>
                  <a:srgbClr val="132A39"/>
                </a:solidFill>
                <a:latin typeface="Arial"/>
                <a:ea typeface="Arial"/>
                <a:cs typeface="Arial"/>
              </a:defRPr>
            </a:pPr>
            <a:r>
              <a:rPr sz="2325" b="0">
                <a:solidFill>
                  <a:srgbClr val="132A39"/>
                </a:solidFill>
                <a:latin typeface="Arial"/>
                <a:ea typeface="Arial"/>
                <a:cs typeface="Arial"/>
              </a:rPr>
              <a:t>to code their strategies</a:t>
            </a:r>
          </a:p>
        </p:txBody>
      </p:sp>
      <p:sp>
        <p:nvSpPr>
          <p:cNvPr id="5" name="">
            <a:extLst xmlns:a="http://schemas.openxmlformats.org/drawingml/2006/main">
              <a:ext uri="{FF2B5EF4-FFF2-40B4-BE49-F238E27FC236}">
                <a16:creationId xmlns:a16="http://schemas.microsoft.com/office/drawing/2014/main" id="{03350A8F-F2CF-412D-BC07-7E0FA69F1AFA}"/>
              </a:ext>
            </a:extLst>
          </p:cNvPr>
          <p:cNvSpPr>
            <a:spLocks xmlns:a="http://schemas.openxmlformats.org/drawingml/2006/main" noGrp="1"/>
          </p:cNvSpPr>
          <p:nvPr/>
        </p:nvSpPr>
        <p:spPr>
          <a:xfrm xmlns:a="http://schemas.openxmlformats.org/drawingml/2006/main">
            <a:off x="7200900" y="1685925"/>
            <a:ext cx="3810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6300" b="1">
                <a:solidFill>
                  <a:srgbClr val="132A39"/>
                </a:solidFill>
                <a:latin typeface="Arial"/>
                <a:ea typeface="Arial"/>
                <a:cs typeface="Arial"/>
              </a:defRPr>
            </a:pPr>
            <a:r>
              <a:rPr sz="6300" b="1">
                <a:solidFill>
                  <a:srgbClr val="132A39"/>
                </a:solidFill>
                <a:latin typeface="Arial"/>
                <a:ea typeface="Arial"/>
                <a:cs typeface="Arial"/>
              </a:rPr>
              <a:t>2</a:t>
            </a:r>
          </a:p>
        </p:txBody>
      </p:sp>
      <p:sp>
        <p:nvSpPr>
          <p:cNvPr id="6" name="">
            <a:extLst xmlns:a="http://schemas.openxmlformats.org/drawingml/2006/main">
              <a:ext uri="{FF2B5EF4-FFF2-40B4-BE49-F238E27FC236}">
                <a16:creationId xmlns:a16="http://schemas.microsoft.com/office/drawing/2014/main" id="{366DFD0F-7A4E-499C-94A8-9ADF1E0BFCE4}"/>
              </a:ext>
            </a:extLst>
          </p:cNvPr>
          <p:cNvSpPr>
            <a:spLocks xmlns:a="http://schemas.openxmlformats.org/drawingml/2006/main" noGrp="1"/>
          </p:cNvSpPr>
          <p:nvPr/>
        </p:nvSpPr>
        <p:spPr>
          <a:xfrm xmlns:a="http://schemas.openxmlformats.org/drawingml/2006/main">
            <a:off x="7229475" y="2790825"/>
            <a:ext cx="4095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32A39"/>
                </a:solidFill>
                <a:latin typeface="Arial"/>
                <a:ea typeface="Arial"/>
                <a:cs typeface="Arial"/>
              </a:defRPr>
            </a:pPr>
            <a:r>
              <a:rPr sz="2325" b="0">
                <a:solidFill>
                  <a:srgbClr val="132A39"/>
                </a:solidFill>
                <a:latin typeface="Arial"/>
                <a:ea typeface="Arial"/>
                <a:cs typeface="Arial"/>
              </a:rPr>
              <a:t>teams released code</a:t>
            </a:r>
          </a:p>
        </p:txBody>
      </p:sp>
      <p:sp>
        <p:nvSpPr>
          <p:cNvPr id="7" name="">
            <a:extLst xmlns:a="http://schemas.openxmlformats.org/drawingml/2006/main">
              <a:ext uri="{FF2B5EF4-FFF2-40B4-BE49-F238E27FC236}">
                <a16:creationId xmlns:a16="http://schemas.microsoft.com/office/drawing/2014/main" id="{C34AF817-1E42-4AE8-B30E-970E1E28AD37}"/>
              </a:ext>
            </a:extLst>
          </p:cNvPr>
          <p:cNvSpPr>
            <a:spLocks xmlns:a="http://schemas.openxmlformats.org/drawingml/2006/main" noGrp="1"/>
          </p:cNvSpPr>
          <p:nvPr/>
        </p:nvSpPr>
        <p:spPr>
          <a:xfrm xmlns:a="http://schemas.openxmlformats.org/drawingml/2006/main">
            <a:off x="723900" y="4162425"/>
            <a:ext cx="342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132A39"/>
                </a:solidFill>
                <a:latin typeface="Arial"/>
                <a:ea typeface="Arial"/>
                <a:cs typeface="Arial"/>
              </a:defRPr>
            </a:pPr>
            <a:r>
              <a:rPr sz="2100" b="1">
                <a:solidFill>
                  <a:srgbClr val="132A39"/>
                </a:solidFill>
                <a:latin typeface="Arial"/>
                <a:ea typeface="Arial"/>
                <a:cs typeface="Arial"/>
              </a:rPr>
              <a:t>Public evidence</a:t>
            </a:r>
          </a:p>
        </p:txBody>
      </p:sp>
      <p:sp>
        <p:nvSpPr>
          <p:cNvPr id="8" name="">
            <a:extLst xmlns:a="http://schemas.openxmlformats.org/drawingml/2006/main">
              <a:ext uri="{FF2B5EF4-FFF2-40B4-BE49-F238E27FC236}">
                <a16:creationId xmlns:a16="http://schemas.microsoft.com/office/drawing/2014/main" id="{497F8A6B-0246-40B5-9E62-1B169760A8B7}"/>
              </a:ext>
            </a:extLst>
          </p:cNvPr>
          <p:cNvSpPr>
            <a:spLocks xmlns:a="http://schemas.openxmlformats.org/drawingml/2006/main" noGrp="1"/>
          </p:cNvSpPr>
          <p:nvPr/>
        </p:nvSpPr>
        <p:spPr>
          <a:xfrm xmlns:a="http://schemas.openxmlformats.org/drawingml/2006/main">
            <a:off x="723900" y="4667250"/>
            <a:ext cx="1047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566774"/>
                </a:solidFill>
                <a:latin typeface="Arial"/>
                <a:ea typeface="Arial"/>
                <a:cs typeface="Arial"/>
              </a:defRPr>
            </a:pPr>
            <a:r>
              <a:rPr sz="2325" b="0">
                <a:solidFill>
                  <a:srgbClr val="566774"/>
                </a:solidFill>
                <a:latin typeface="Arial"/>
                <a:ea typeface="Arial"/>
                <a:cs typeface="Arial"/>
              </a:rPr>
              <a:t>Posters and short talks</a:t>
            </a:r>
          </a:p>
          <a:p xmlns:a="http://schemas.openxmlformats.org/drawingml/2006/main">
            <a:pPr>
              <a:defRPr sz="2325" b="0">
                <a:solidFill>
                  <a:srgbClr val="566774"/>
                </a:solidFill>
                <a:latin typeface="Arial"/>
                <a:ea typeface="Arial"/>
                <a:cs typeface="Arial"/>
              </a:defRPr>
            </a:pPr>
            <a:r>
              <a:rPr sz="2325" b="0">
                <a:solidFill>
                  <a:srgbClr val="566774"/>
                </a:solidFill>
                <a:latin typeface="Arial"/>
                <a:ea typeface="Arial"/>
                <a:cs typeface="Arial"/>
              </a:rPr>
              <a:t>Competition scores and attacker–victim outcomes</a:t>
            </a:r>
          </a:p>
        </p:txBody>
      </p:sp>
      <p:sp>
        <p:nvSpPr>
          <p:cNvPr id="9" name="">
            <a:extLst xmlns:a="http://schemas.openxmlformats.org/drawingml/2006/main">
              <a:ext uri="{FF2B5EF4-FFF2-40B4-BE49-F238E27FC236}">
                <a16:creationId xmlns:a16="http://schemas.microsoft.com/office/drawing/2014/main" id="{D3469D8C-616C-4477-B5B9-01F5FD0528F1}"/>
              </a:ext>
            </a:extLst>
          </p:cNvPr>
          <p:cNvSpPr>
            <a:spLocks xmlns:a="http://schemas.openxmlformats.org/drawingml/2006/main" noGrp="1"/>
          </p:cNvSpPr>
          <p:nvPr/>
        </p:nvSpPr>
        <p:spPr>
          <a:xfrm xmlns:a="http://schemas.openxmlformats.org/drawingml/2006/main">
            <a:off x="723900" y="5781675"/>
            <a:ext cx="1047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007C78"/>
                </a:solidFill>
                <a:latin typeface="Arial"/>
                <a:ea typeface="Arial"/>
                <a:cs typeface="Arial"/>
              </a:defRPr>
            </a:pPr>
            <a:r>
              <a:rPr sz="2100" b="1">
                <a:solidFill>
                  <a:srgbClr val="007C78"/>
                </a:solidFill>
                <a:latin typeface="Arial"/>
                <a:ea typeface="Arial"/>
                <a:cs typeface="Arial"/>
              </a:rPr>
              <a:t>Enough structure for exploratory comparison</a:t>
            </a:r>
          </a:p>
        </p:txBody>
      </p:sp>
    </p:spTree>
    <p:extLst>
      <p:ext uri="{BB962C8B-B14F-4D97-AF65-F5344CB8AC3E}">
        <p14:creationId xmlns:p14="http://schemas.microsoft.com/office/powerpoint/2010/main" val="168558945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2B76AF4F-400A-4851-8E11-BADBD7CA9071}"/>
              </a:ext>
            </a:extLst>
          </p:cNvPr>
          <p:cNvSpPr>
            <a:spLocks xmlns:a="http://schemas.openxmlformats.org/drawingml/2006/main" noGrp="1"/>
          </p:cNvSpPr>
          <p:nvPr/>
        </p:nvSpPr>
        <p:spPr>
          <a:xfrm xmlns:a="http://schemas.openxmlformats.org/drawingml/2006/main">
            <a:off x="685800" y="457200"/>
            <a:ext cx="108204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150" b="1">
                <a:solidFill>
                  <a:srgbClr val="132A39"/>
                </a:solidFill>
                <a:latin typeface="Arial"/>
                <a:ea typeface="Arial"/>
                <a:cs typeface="Arial"/>
              </a:defRPr>
            </a:pPr>
            <a:r>
              <a:rPr sz="3150" b="1">
                <a:solidFill>
                  <a:srgbClr val="132A39"/>
                </a:solidFill>
                <a:latin typeface="Arial"/>
                <a:ea typeface="Arial"/>
                <a:cs typeface="Arial"/>
              </a:rPr>
              <a:t>The defense and attack phases</a:t>
            </a:r>
          </a:p>
        </p:txBody>
      </p:sp>
      <p:sp>
        <p:nvSpPr>
          <p:cNvPr id="2" name="">
            <a:extLst xmlns:a="http://schemas.openxmlformats.org/drawingml/2006/main">
              <a:ext uri="{FF2B5EF4-FFF2-40B4-BE49-F238E27FC236}">
                <a16:creationId xmlns:a16="http://schemas.microsoft.com/office/drawing/2014/main" id="{DD363235-C392-46B7-842D-A7B1A75D8EF1}"/>
              </a:ext>
            </a:extLst>
          </p:cNvPr>
          <p:cNvSpPr>
            <a:spLocks xmlns:a="http://schemas.openxmlformats.org/drawingml/2006/main" noGrp="1"/>
          </p:cNvSpPr>
          <p:nvPr/>
        </p:nvSpPr>
        <p:spPr>
          <a:xfrm xmlns:a="http://schemas.openxmlformats.org/drawingml/2006/main">
            <a:off x="11087100" y="6353175"/>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566774"/>
                </a:solidFill>
                <a:latin typeface="Arial"/>
                <a:ea typeface="Arial"/>
                <a:cs typeface="Arial"/>
              </a:defRPr>
            </a:pPr>
            <a:r>
              <a:rPr sz="1200" b="0">
                <a:solidFill>
                  <a:srgbClr val="566774"/>
                </a:solidFill>
                <a:latin typeface="Arial"/>
                <a:ea typeface="Arial"/>
                <a:cs typeface="Arial"/>
              </a:rPr>
              <a:t>05</a:t>
            </a:r>
          </a:p>
        </p:txBody>
      </p:sp>
      <p:sp>
        <p:nvSpPr>
          <p:cNvPr id="3" name="">
            <a:extLst xmlns:a="http://schemas.openxmlformats.org/drawingml/2006/main">
              <a:ext uri="{FF2B5EF4-FFF2-40B4-BE49-F238E27FC236}">
                <a16:creationId xmlns:a16="http://schemas.microsoft.com/office/drawing/2014/main" id="{BB6ECD46-E5CD-4546-A2FF-EEA06458D14B}"/>
              </a:ext>
            </a:extLst>
          </p:cNvPr>
          <p:cNvSpPr>
            <a:spLocks xmlns:a="http://schemas.openxmlformats.org/drawingml/2006/main" noGrp="1"/>
          </p:cNvSpPr>
          <p:nvPr/>
        </p:nvSpPr>
        <p:spPr>
          <a:xfrm xmlns:a="http://schemas.openxmlformats.org/drawingml/2006/main">
            <a:off x="685800" y="1562100"/>
            <a:ext cx="476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007C78"/>
                </a:solidFill>
                <a:latin typeface="Arial"/>
                <a:ea typeface="Arial"/>
                <a:cs typeface="Arial"/>
              </a:defRPr>
            </a:pPr>
            <a:r>
              <a:rPr sz="2250" b="1">
                <a:solidFill>
                  <a:srgbClr val="007C78"/>
                </a:solidFill>
                <a:latin typeface="Arial"/>
                <a:ea typeface="Arial"/>
                <a:cs typeface="Arial"/>
              </a:rPr>
              <a:t>Defense</a:t>
            </a:r>
          </a:p>
        </p:txBody>
      </p:sp>
      <p:sp>
        <p:nvSpPr>
          <p:cNvPr id="4" name="">
            <a:extLst xmlns:a="http://schemas.openxmlformats.org/drawingml/2006/main">
              <a:ext uri="{FF2B5EF4-FFF2-40B4-BE49-F238E27FC236}">
                <a16:creationId xmlns:a16="http://schemas.microsoft.com/office/drawing/2014/main" id="{C0A0598F-BA03-401C-A67B-03DE6B9200DE}"/>
              </a:ext>
            </a:extLst>
          </p:cNvPr>
          <p:cNvSpPr>
            <a:spLocks xmlns:a="http://schemas.openxmlformats.org/drawingml/2006/main" noGrp="1"/>
          </p:cNvSpPr>
          <p:nvPr/>
        </p:nvSpPr>
        <p:spPr>
          <a:xfrm xmlns:a="http://schemas.openxmlformats.org/drawingml/2006/main">
            <a:off x="6610350" y="1562100"/>
            <a:ext cx="476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C15F33"/>
                </a:solidFill>
                <a:latin typeface="Arial"/>
                <a:ea typeface="Arial"/>
                <a:cs typeface="Arial"/>
              </a:defRPr>
            </a:pPr>
            <a:r>
              <a:rPr sz="2250" b="1">
                <a:solidFill>
                  <a:srgbClr val="C15F33"/>
                </a:solidFill>
                <a:latin typeface="Arial"/>
                <a:ea typeface="Arial"/>
                <a:cs typeface="Arial"/>
              </a:rPr>
              <a:t>Attack</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0a801fb6eefe4a52"/>
          <a:stretch xmlns:a="http://schemas.openxmlformats.org/drawingml/2006/main"/>
        </p:blipFill>
        <p:spPr>
          <a:xfrm xmlns:a="http://schemas.openxmlformats.org/drawingml/2006/main">
            <a:off x="685800" y="2138763"/>
            <a:ext cx="5067300" cy="2675724"/>
          </a:xfrm>
          <a:prstGeom xmlns:a="http://schemas.openxmlformats.org/drawingml/2006/main" prst="rect">
            <a:avLst/>
          </a:prstGeom>
        </p:spPr>
      </p:pic>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17e67af323fc4977"/>
          <a:stretch xmlns:a="http://schemas.openxmlformats.org/drawingml/2006/main"/>
        </p:blipFill>
        <p:spPr>
          <a:xfrm xmlns:a="http://schemas.openxmlformats.org/drawingml/2006/main">
            <a:off x="6477000" y="2183090"/>
            <a:ext cx="5067300" cy="258707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49089038-0DFC-44F8-B032-4FDFF5042FDF}"/>
              </a:ext>
            </a:extLst>
          </p:cNvPr>
          <p:cNvSpPr>
            <a:spLocks xmlns:a="http://schemas.openxmlformats.org/drawingml/2006/main" noGrp="1"/>
          </p:cNvSpPr>
          <p:nvPr/>
        </p:nvSpPr>
        <p:spPr>
          <a:xfrm xmlns:a="http://schemas.openxmlformats.org/drawingml/2006/main">
            <a:off x="685800" y="5000625"/>
            <a:ext cx="51054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32A39"/>
                </a:solidFill>
                <a:latin typeface="Arial"/>
                <a:ea typeface="Arial"/>
                <a:cs typeface="Arial"/>
              </a:defRPr>
            </a:pPr>
            <a:r>
              <a:rPr sz="2100" b="0">
                <a:solidFill>
                  <a:srgbClr val="132A39"/>
                </a:solidFill>
                <a:latin typeface="Arial"/>
                <a:ea typeface="Arial"/>
                <a:cs typeface="Arial"/>
              </a:rPr>
              <a:t>Release anonymized data C</a:t>
            </a:r>
          </a:p>
          <a:p xmlns:a="http://schemas.openxmlformats.org/drawingml/2006/main">
            <a:pPr>
              <a:defRPr sz="2100" b="0">
                <a:solidFill>
                  <a:srgbClr val="132A39"/>
                </a:solidFill>
                <a:latin typeface="Arial"/>
                <a:ea typeface="Arial"/>
                <a:cs typeface="Arial"/>
              </a:defRPr>
            </a:pPr>
            <a:r>
              <a:rPr sz="2100" b="0">
                <a:solidFill>
                  <a:srgbClr val="132A39"/>
                </a:solidFill>
                <a:latin typeface="Arial"/>
                <a:ea typeface="Arial"/>
                <a:cs typeface="Arial"/>
              </a:rPr>
              <a:t>and a stroke-risk model D</a:t>
            </a:r>
          </a:p>
        </p:txBody>
      </p:sp>
      <p:sp>
        <p:nvSpPr>
          <p:cNvPr id="8" name="">
            <a:extLst xmlns:a="http://schemas.openxmlformats.org/drawingml/2006/main">
              <a:ext uri="{FF2B5EF4-FFF2-40B4-BE49-F238E27FC236}">
                <a16:creationId xmlns:a16="http://schemas.microsoft.com/office/drawing/2014/main" id="{7F2153C2-09E0-48FB-B41E-887FCBCEFB67}"/>
              </a:ext>
            </a:extLst>
          </p:cNvPr>
          <p:cNvSpPr>
            <a:spLocks xmlns:a="http://schemas.openxmlformats.org/drawingml/2006/main" noGrp="1"/>
          </p:cNvSpPr>
          <p:nvPr/>
        </p:nvSpPr>
        <p:spPr>
          <a:xfrm xmlns:a="http://schemas.openxmlformats.org/drawingml/2006/main">
            <a:off x="6477000" y="5000625"/>
            <a:ext cx="5048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32A39"/>
                </a:solidFill>
                <a:latin typeface="Arial"/>
                <a:ea typeface="Arial"/>
                <a:cs typeface="Arial"/>
              </a:defRPr>
            </a:pPr>
            <a:r>
              <a:rPr sz="2100" b="0">
                <a:solidFill>
                  <a:srgbClr val="132A39"/>
                </a:solidFill>
                <a:latin typeface="Arial"/>
                <a:ea typeface="Arial"/>
                <a:cs typeface="Arial"/>
              </a:rPr>
              <a:t>Identify which records in population A</a:t>
            </a:r>
          </a:p>
          <a:p xmlns:a="http://schemas.openxmlformats.org/drawingml/2006/main">
            <a:pPr>
              <a:defRPr sz="2100" b="0">
                <a:solidFill>
                  <a:srgbClr val="132A39"/>
                </a:solidFill>
                <a:latin typeface="Arial"/>
                <a:ea typeface="Arial"/>
                <a:cs typeface="Arial"/>
              </a:defRPr>
            </a:pPr>
            <a:r>
              <a:rPr sz="2100" b="0">
                <a:solidFill>
                  <a:srgbClr val="132A39"/>
                </a:solidFill>
                <a:latin typeface="Arial"/>
                <a:ea typeface="Arial"/>
                <a:cs typeface="Arial"/>
              </a:rPr>
              <a:t>belong to the hidden sample B</a:t>
            </a:r>
          </a:p>
        </p:txBody>
      </p:sp>
      <p:sp>
        <p:nvSpPr>
          <p:cNvPr id="9" name="">
            <a:extLst xmlns:a="http://schemas.openxmlformats.org/drawingml/2006/main">
              <a:ext uri="{FF2B5EF4-FFF2-40B4-BE49-F238E27FC236}">
                <a16:creationId xmlns:a16="http://schemas.microsoft.com/office/drawing/2014/main" id="{481A6959-35B3-467B-AD89-A72E29938E94}"/>
              </a:ext>
            </a:extLst>
          </p:cNvPr>
          <p:cNvSpPr>
            <a:spLocks xmlns:a="http://schemas.openxmlformats.org/drawingml/2006/main" noGrp="1"/>
          </p:cNvSpPr>
          <p:nvPr/>
        </p:nvSpPr>
        <p:spPr>
          <a:xfrm xmlns:a="http://schemas.openxmlformats.org/drawingml/2006/main">
            <a:off x="685800" y="6038850"/>
            <a:ext cx="10820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b="0">
                <a:solidFill>
                  <a:srgbClr val="566774"/>
                </a:solidFill>
                <a:latin typeface="Arial"/>
                <a:ea typeface="Arial"/>
                <a:cs typeface="Arial"/>
              </a:defRPr>
            </a:pPr>
            <a:r>
              <a:rPr sz="1575" b="0">
                <a:solidFill>
                  <a:srgbClr val="566774"/>
                </a:solidFill>
                <a:latin typeface="Arial"/>
                <a:ea typeface="Arial"/>
                <a:cs typeface="Arial"/>
              </a:rPr>
              <a:t>Synthetic health data: 100,000 population records, 10,000 sample records, 18 variables</a:t>
            </a:r>
          </a:p>
        </p:txBody>
      </p:sp>
    </p:spTree>
    <p:extLst>
      <p:ext uri="{BB962C8B-B14F-4D97-AF65-F5344CB8AC3E}">
        <p14:creationId xmlns:p14="http://schemas.microsoft.com/office/powerpoint/2010/main" val="1200423680"/>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5322415-D73A-4E9A-82A2-7F2668EAC911}"/>
              </a:ext>
            </a:extLst>
          </p:cNvPr>
          <p:cNvSpPr>
            <a:spLocks xmlns:a="http://schemas.openxmlformats.org/drawingml/2006/main" noGrp="1"/>
          </p:cNvSpPr>
          <p:nvPr/>
        </p:nvSpPr>
        <p:spPr>
          <a:xfrm xmlns:a="http://schemas.openxmlformats.org/drawingml/2006/main">
            <a:off x="685800" y="457200"/>
            <a:ext cx="108204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150" b="1">
                <a:solidFill>
                  <a:srgbClr val="132A39"/>
                </a:solidFill>
                <a:latin typeface="Arial"/>
                <a:ea typeface="Arial"/>
                <a:cs typeface="Arial"/>
              </a:defRPr>
            </a:pPr>
            <a:r>
              <a:rPr sz="3150" b="1">
                <a:solidFill>
                  <a:srgbClr val="132A39"/>
                </a:solidFill>
                <a:latin typeface="Arial"/>
                <a:ea typeface="Arial"/>
                <a:cs typeface="Arial"/>
              </a:rPr>
              <a:t>Strategy descriptions become features</a:t>
            </a:r>
          </a:p>
        </p:txBody>
      </p:sp>
      <p:sp>
        <p:nvSpPr>
          <p:cNvPr id="2" name="">
            <a:extLst xmlns:a="http://schemas.openxmlformats.org/drawingml/2006/main">
              <a:ext uri="{FF2B5EF4-FFF2-40B4-BE49-F238E27FC236}">
                <a16:creationId xmlns:a16="http://schemas.microsoft.com/office/drawing/2014/main" id="{349BC755-8908-4CFD-9EA6-2A29D6516BAC}"/>
              </a:ext>
            </a:extLst>
          </p:cNvPr>
          <p:cNvSpPr>
            <a:spLocks xmlns:a="http://schemas.openxmlformats.org/drawingml/2006/main" noGrp="1"/>
          </p:cNvSpPr>
          <p:nvPr/>
        </p:nvSpPr>
        <p:spPr>
          <a:xfrm xmlns:a="http://schemas.openxmlformats.org/drawingml/2006/main">
            <a:off x="11087100" y="6353175"/>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566774"/>
                </a:solidFill>
                <a:latin typeface="Arial"/>
                <a:ea typeface="Arial"/>
                <a:cs typeface="Arial"/>
              </a:defRPr>
            </a:pPr>
            <a:r>
              <a:rPr sz="1200" b="0">
                <a:solidFill>
                  <a:srgbClr val="566774"/>
                </a:solidFill>
                <a:latin typeface="Arial"/>
                <a:ea typeface="Arial"/>
                <a:cs typeface="Arial"/>
              </a:rPr>
              <a:t>06</a:t>
            </a:r>
          </a:p>
        </p:txBody>
      </p:sp>
      <p:sp>
        <p:nvSpPr>
          <p:cNvPr id="3" name="">
            <a:extLst xmlns:a="http://schemas.openxmlformats.org/drawingml/2006/main">
              <a:ext uri="{FF2B5EF4-FFF2-40B4-BE49-F238E27FC236}">
                <a16:creationId xmlns:a16="http://schemas.microsoft.com/office/drawing/2014/main" id="{098750CD-EEFE-4F62-BDC2-74D10F271E7F}"/>
              </a:ext>
            </a:extLst>
          </p:cNvPr>
          <p:cNvSpPr>
            <a:spLocks xmlns:a="http://schemas.openxmlformats.org/drawingml/2006/main" noGrp="1"/>
          </p:cNvSpPr>
          <p:nvPr/>
        </p:nvSpPr>
        <p:spPr>
          <a:xfrm xmlns:a="http://schemas.openxmlformats.org/drawingml/2006/main">
            <a:off x="685800" y="15621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32A39"/>
                </a:solidFill>
                <a:latin typeface="Arial"/>
                <a:ea typeface="Arial"/>
                <a:cs typeface="Arial"/>
              </a:defRPr>
            </a:pPr>
            <a:r>
              <a:rPr sz="2325" b="0">
                <a:solidFill>
                  <a:srgbClr val="132A39"/>
                </a:solidFill>
                <a:latin typeface="Arial"/>
                <a:ea typeface="Arial"/>
                <a:cs typeface="Arial"/>
              </a:rPr>
              <a:t>Base: which records form the starting point?</a:t>
            </a:r>
          </a:p>
          <a:p xmlns:a="http://schemas.openxmlformats.org/drawingml/2006/main">
            <a:pPr>
              <a:defRPr sz="2325" b="0">
                <a:solidFill>
                  <a:srgbClr val="132A39"/>
                </a:solidFill>
                <a:latin typeface="Arial"/>
                <a:ea typeface="Arial"/>
                <a:cs typeface="Arial"/>
              </a:defRPr>
            </a:pPr>
            <a:r>
              <a:rPr sz="2325" b="0">
                <a:solidFill>
                  <a:srgbClr val="132A39"/>
                </a:solidFill>
                <a:latin typeface="Arial"/>
                <a:ea typeface="Arial"/>
                <a:cs typeface="Arial"/>
              </a:rPr>
              <a:t>Synthesis: does the method generate new records?</a:t>
            </a:r>
          </a:p>
        </p:txBody>
      </p:sp>
      <p:graphicFrame>
        <p:nvGraphicFramePr>
          <p:cNvPr id="9" name=""/>
          <p:cNvGraphicFramePr/>
          <p:nvPr/>
        </p:nvGraphicFramePr>
        <p:xfrm>
          <a:off xmlns:a="http://schemas.openxmlformats.org/drawingml/2006/main" x="685800" y="2943225"/>
          <a:ext xmlns:a="http://schemas.openxmlformats.org/drawingml/2006/main" cx="10820400" cy="2400300"/>
        </p:xfrm>
        <a:graphic xmlns:a="http://schemas.openxmlformats.org/drawingml/2006/main">
          <a:graphicData uri="http://schemas.openxmlformats.org/drawingml/2006/table">
            <a:tbl>
              <a:tblPr/>
              <a:tblGrid>
                <a:gridCol w="6457950"/>
                <a:gridCol w="2133600"/>
                <a:gridCol w="2228850"/>
              </a:tblGrid>
              <a:tr h="600075">
                <a:tc>
                  <a:txBody>
                    <a:bodyPr/>
                    <a:lstStyle/>
                    <a:p>
                      <a:r>
                        <a:rPr sz="1950" b="1">
                          <a:solidFill>
                            <a:srgbClr val="132A39"/>
                          </a:solidFill>
                          <a:latin typeface="Arial"/>
                          <a:ea typeface="Arial"/>
                          <a:cs typeface="Arial"/>
                        </a:rPr>
                        <a:t>Example</a:t>
                      </a:r>
                    </a:p>
                  </a:txBody>
                  <a:tcPr marL="142875" marR="142875" marT="76200" marB="76200">
                    <a:solidFill>
                      <a:srgbClr val="F0F5F5"/>
                    </a:solidFill>
                  </a:tcPr>
                </a:tc>
                <a:tc>
                  <a:txBody>
                    <a:bodyPr/>
                    <a:lstStyle/>
                    <a:p>
                      <a:r>
                        <a:rPr sz="1950" b="1">
                          <a:solidFill>
                            <a:srgbClr val="132A39"/>
                          </a:solidFill>
                          <a:latin typeface="Arial"/>
                          <a:ea typeface="Arial"/>
                          <a:cs typeface="Arial"/>
                        </a:rPr>
                        <a:t>Base</a:t>
                      </a:r>
                    </a:p>
                  </a:txBody>
                  <a:tcPr marL="142875" marR="142875" marT="76200" marB="76200">
                    <a:solidFill>
                      <a:srgbClr val="F0F5F5"/>
                    </a:solidFill>
                  </a:tcPr>
                </a:tc>
                <a:tc>
                  <a:txBody>
                    <a:bodyPr/>
                    <a:lstStyle/>
                    <a:p>
                      <a:r>
                        <a:rPr sz="1950" b="1">
                          <a:solidFill>
                            <a:srgbClr val="132A39"/>
                          </a:solidFill>
                          <a:latin typeface="Arial"/>
                          <a:ea typeface="Arial"/>
                          <a:cs typeface="Arial"/>
                        </a:rPr>
                        <a:t>Synthesis</a:t>
                      </a:r>
                    </a:p>
                  </a:txBody>
                  <a:tcPr marL="142875" marR="142875" marT="76200" marB="76200">
                    <a:solidFill>
                      <a:srgbClr val="F0F5F5"/>
                    </a:solidFill>
                  </a:tcPr>
                </a:tc>
              </a:tr>
              <a:tr h="600075">
                <a:tc>
                  <a:txBody>
                    <a:bodyPr/>
                    <a:lstStyle/>
                    <a:p>
                      <a:r>
                        <a:rPr sz="1950">
                          <a:solidFill>
                            <a:srgbClr val="132A39"/>
                          </a:solidFill>
                          <a:latin typeface="Arial"/>
                          <a:ea typeface="Arial"/>
                          <a:cs typeface="Arial"/>
                        </a:rPr>
                        <a:t>Team 9: direct transformation</a:t>
                      </a:r>
                    </a:p>
                  </a:txBody>
                  <a:tcPr marL="142875" marR="142875" marT="76200" marB="76200">
                    <a:solidFill>
                      <a:srgbClr val="FFFFFF"/>
                    </a:solidFill>
                  </a:tcPr>
                </a:tc>
                <a:tc>
                  <a:txBody>
                    <a:bodyPr/>
                    <a:lstStyle/>
                    <a:p>
                      <a:r>
                        <a:rPr sz="1950">
                          <a:solidFill>
                            <a:srgbClr val="132A39"/>
                          </a:solidFill>
                          <a:latin typeface="Arial"/>
                          <a:ea typeface="Arial"/>
                          <a:cs typeface="Arial"/>
                        </a:rPr>
                        <a:t>B</a:t>
                      </a:r>
                    </a:p>
                  </a:txBody>
                  <a:tcPr marL="142875" marR="142875" marT="76200" marB="76200">
                    <a:solidFill>
                      <a:srgbClr val="FFFFFF"/>
                    </a:solidFill>
                  </a:tcPr>
                </a:tc>
                <a:tc>
                  <a:txBody>
                    <a:bodyPr/>
                    <a:lstStyle/>
                    <a:p>
                      <a:r>
                        <a:rPr sz="1950">
                          <a:solidFill>
                            <a:srgbClr val="132A39"/>
                          </a:solidFill>
                          <a:latin typeface="Arial"/>
                          <a:ea typeface="Arial"/>
                          <a:cs typeface="Arial"/>
                        </a:rPr>
                        <a:t>No</a:t>
                      </a:r>
                    </a:p>
                  </a:txBody>
                  <a:tcPr marL="142875" marR="142875" marT="76200" marB="76200">
                    <a:solidFill>
                      <a:srgbClr val="FFFFFF"/>
                    </a:solidFill>
                  </a:tcPr>
                </a:tc>
              </a:tr>
              <a:tr h="600075">
                <a:tc>
                  <a:txBody>
                    <a:bodyPr/>
                    <a:lstStyle/>
                    <a:p>
                      <a:r>
                        <a:rPr sz="1950">
                          <a:solidFill>
                            <a:srgbClr val="132A39"/>
                          </a:solidFill>
                          <a:latin typeface="Arial"/>
                          <a:ea typeface="Arial"/>
                          <a:cs typeface="Arial"/>
                        </a:rPr>
                        <a:t>Team 2: Gaussian copula</a:t>
                      </a:r>
                    </a:p>
                  </a:txBody>
                  <a:tcPr marL="142875" marR="142875" marT="76200" marB="76200">
                    <a:solidFill>
                      <a:srgbClr val="FFFFFF"/>
                    </a:solidFill>
                  </a:tcPr>
                </a:tc>
                <a:tc>
                  <a:txBody>
                    <a:bodyPr/>
                    <a:lstStyle/>
                    <a:p>
                      <a:r>
                        <a:rPr sz="1950">
                          <a:solidFill>
                            <a:srgbClr val="132A39"/>
                          </a:solidFill>
                          <a:latin typeface="Arial"/>
                          <a:ea typeface="Arial"/>
                          <a:cs typeface="Arial"/>
                        </a:rPr>
                        <a:t>B</a:t>
                      </a:r>
                    </a:p>
                  </a:txBody>
                  <a:tcPr marL="142875" marR="142875" marT="76200" marB="76200">
                    <a:solidFill>
                      <a:srgbClr val="FFFFFF"/>
                    </a:solidFill>
                  </a:tcPr>
                </a:tc>
                <a:tc>
                  <a:txBody>
                    <a:bodyPr/>
                    <a:lstStyle/>
                    <a:p>
                      <a:r>
                        <a:rPr sz="1950">
                          <a:solidFill>
                            <a:srgbClr val="132A39"/>
                          </a:solidFill>
                          <a:latin typeface="Arial"/>
                          <a:ea typeface="Arial"/>
                          <a:cs typeface="Arial"/>
                        </a:rPr>
                        <a:t>Yes</a:t>
                      </a:r>
                    </a:p>
                  </a:txBody>
                  <a:tcPr marL="142875" marR="142875" marT="76200" marB="76200">
                    <a:solidFill>
                      <a:srgbClr val="FFFFFF"/>
                    </a:solidFill>
                  </a:tcPr>
                </a:tc>
              </a:tr>
              <a:tr h="600075">
                <a:tc>
                  <a:txBody>
                    <a:bodyPr/>
                    <a:lstStyle/>
                    <a:p>
                      <a:r>
                        <a:rPr sz="1950">
                          <a:solidFill>
                            <a:srgbClr val="132A39"/>
                          </a:solidFill>
                          <a:latin typeface="Arial"/>
                          <a:ea typeface="Arial"/>
                          <a:cs typeface="Arial"/>
                        </a:rPr>
                        <a:t>Team 18: Synthea generation</a:t>
                      </a:r>
                    </a:p>
                  </a:txBody>
                  <a:tcPr marL="142875" marR="142875" marT="76200" marB="76200">
                    <a:solidFill>
                      <a:srgbClr val="FFFFFF"/>
                    </a:solidFill>
                  </a:tcPr>
                </a:tc>
                <a:tc>
                  <a:txBody>
                    <a:bodyPr/>
                    <a:lstStyle/>
                    <a:p>
                      <a:r>
                        <a:rPr sz="1950">
                          <a:solidFill>
                            <a:srgbClr val="132A39"/>
                          </a:solidFill>
                          <a:latin typeface="Arial"/>
                          <a:ea typeface="Arial"/>
                          <a:cs typeface="Arial"/>
                        </a:rPr>
                        <a:t>Others</a:t>
                      </a:r>
                    </a:p>
                  </a:txBody>
                  <a:tcPr marL="142875" marR="142875" marT="76200" marB="76200">
                    <a:solidFill>
                      <a:srgbClr val="FFFFFF"/>
                    </a:solidFill>
                  </a:tcPr>
                </a:tc>
                <a:tc>
                  <a:txBody>
                    <a:bodyPr/>
                    <a:lstStyle/>
                    <a:p>
                      <a:r>
                        <a:rPr sz="1950">
                          <a:solidFill>
                            <a:srgbClr val="132A39"/>
                          </a:solidFill>
                          <a:latin typeface="Arial"/>
                          <a:ea typeface="Arial"/>
                          <a:cs typeface="Arial"/>
                        </a:rPr>
                        <a:t>Yes</a:t>
                      </a:r>
                    </a:p>
                  </a:txBody>
                  <a:tcPr marL="142875" marR="142875" marT="76200" marB="7620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9B2400A0-8CC6-494C-9889-26DA9BBDAD13}"/>
              </a:ext>
            </a:extLst>
          </p:cNvPr>
          <p:cNvSpPr>
            <a:spLocks xmlns:a="http://schemas.openxmlformats.org/drawingml/2006/main" noGrp="1"/>
          </p:cNvSpPr>
          <p:nvPr/>
        </p:nvSpPr>
        <p:spPr>
          <a:xfrm xmlns:a="http://schemas.openxmlformats.org/drawingml/2006/main">
            <a:off x="685800" y="5753100"/>
            <a:ext cx="108204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007C78"/>
                </a:solidFill>
                <a:latin typeface="Arial"/>
                <a:ea typeface="Arial"/>
                <a:cs typeface="Arial"/>
              </a:defRPr>
            </a:pPr>
            <a:r>
              <a:rPr sz="2250" b="1">
                <a:solidFill>
                  <a:srgbClr val="007C78"/>
                </a:solidFill>
                <a:latin typeface="Arial"/>
                <a:ea typeface="Arial"/>
                <a:cs typeface="Arial"/>
              </a:rPr>
              <a:t>Synthetic methods can also start from B</a:t>
            </a:r>
          </a:p>
        </p:txBody>
      </p:sp>
    </p:spTree>
    <p:extLst>
      <p:ext uri="{BB962C8B-B14F-4D97-AF65-F5344CB8AC3E}">
        <p14:creationId xmlns:p14="http://schemas.microsoft.com/office/powerpoint/2010/main" val="2028962741"/>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2A2CCCD8-04F4-48F3-9C6C-FA786530FA8D}"/>
              </a:ext>
            </a:extLst>
          </p:cNvPr>
          <p:cNvSpPr>
            <a:spLocks xmlns:a="http://schemas.openxmlformats.org/drawingml/2006/main" noGrp="1"/>
          </p:cNvSpPr>
          <p:nvPr/>
        </p:nvSpPr>
        <p:spPr>
          <a:xfrm xmlns:a="http://schemas.openxmlformats.org/drawingml/2006/main">
            <a:off x="685800" y="457200"/>
            <a:ext cx="108204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150" b="1">
                <a:solidFill>
                  <a:srgbClr val="132A39"/>
                </a:solidFill>
                <a:latin typeface="Arial"/>
                <a:ea typeface="Arial"/>
                <a:cs typeface="Arial"/>
              </a:defRPr>
            </a:pPr>
            <a:r>
              <a:rPr sz="3150" b="1">
                <a:solidFill>
                  <a:srgbClr val="132A39"/>
                </a:solidFill>
                <a:latin typeface="Arial"/>
                <a:ea typeface="Arial"/>
                <a:cs typeface="Arial"/>
              </a:rPr>
              <a:t>Two exploratory analyses</a:t>
            </a:r>
          </a:p>
        </p:txBody>
      </p:sp>
      <p:sp>
        <p:nvSpPr>
          <p:cNvPr id="2" name="">
            <a:extLst xmlns:a="http://schemas.openxmlformats.org/drawingml/2006/main">
              <a:ext uri="{FF2B5EF4-FFF2-40B4-BE49-F238E27FC236}">
                <a16:creationId xmlns:a16="http://schemas.microsoft.com/office/drawing/2014/main" id="{59F41B86-E928-4EC9-A07B-299CB9E83D95}"/>
              </a:ext>
            </a:extLst>
          </p:cNvPr>
          <p:cNvSpPr>
            <a:spLocks xmlns:a="http://schemas.openxmlformats.org/drawingml/2006/main" noGrp="1"/>
          </p:cNvSpPr>
          <p:nvPr/>
        </p:nvSpPr>
        <p:spPr>
          <a:xfrm xmlns:a="http://schemas.openxmlformats.org/drawingml/2006/main">
            <a:off x="11087100" y="6353175"/>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566774"/>
                </a:solidFill>
                <a:latin typeface="Arial"/>
                <a:ea typeface="Arial"/>
                <a:cs typeface="Arial"/>
              </a:defRPr>
            </a:pPr>
            <a:r>
              <a:rPr sz="1200" b="0">
                <a:solidFill>
                  <a:srgbClr val="566774"/>
                </a:solidFill>
                <a:latin typeface="Arial"/>
                <a:ea typeface="Arial"/>
                <a:cs typeface="Arial"/>
              </a:rPr>
              <a:t>07</a:t>
            </a:r>
          </a:p>
        </p:txBody>
      </p:sp>
      <p:sp>
        <p:nvSpPr>
          <p:cNvPr id="3" name="">
            <a:extLst xmlns:a="http://schemas.openxmlformats.org/drawingml/2006/main">
              <a:ext uri="{FF2B5EF4-FFF2-40B4-BE49-F238E27FC236}">
                <a16:creationId xmlns:a16="http://schemas.microsoft.com/office/drawing/2014/main" id="{38A946D4-AB24-44B7-A15B-76D3AA357149}"/>
              </a:ext>
            </a:extLst>
          </p:cNvPr>
          <p:cNvSpPr>
            <a:spLocks xmlns:a="http://schemas.openxmlformats.org/drawingml/2006/main" noGrp="1"/>
          </p:cNvSpPr>
          <p:nvPr/>
        </p:nvSpPr>
        <p:spPr>
          <a:xfrm xmlns:a="http://schemas.openxmlformats.org/drawingml/2006/main">
            <a:off x="685800" y="1609725"/>
            <a:ext cx="4857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007C78"/>
                </a:solidFill>
                <a:latin typeface="Arial"/>
                <a:ea typeface="Arial"/>
                <a:cs typeface="Arial"/>
              </a:defRPr>
            </a:pPr>
            <a:r>
              <a:rPr sz="3600" b="1">
                <a:solidFill>
                  <a:srgbClr val="007C78"/>
                </a:solidFill>
                <a:latin typeface="Arial"/>
                <a:ea typeface="Arial"/>
                <a:cs typeface="Arial"/>
              </a:rPr>
              <a:t>H1</a:t>
            </a:r>
          </a:p>
        </p:txBody>
      </p:sp>
      <p:sp>
        <p:nvSpPr>
          <p:cNvPr id="4" name="">
            <a:extLst xmlns:a="http://schemas.openxmlformats.org/drawingml/2006/main">
              <a:ext uri="{FF2B5EF4-FFF2-40B4-BE49-F238E27FC236}">
                <a16:creationId xmlns:a16="http://schemas.microsoft.com/office/drawing/2014/main" id="{CDF8C030-92ED-41A5-8FC0-F177AE3C3369}"/>
              </a:ext>
            </a:extLst>
          </p:cNvPr>
          <p:cNvSpPr>
            <a:spLocks xmlns:a="http://schemas.openxmlformats.org/drawingml/2006/main" noGrp="1"/>
          </p:cNvSpPr>
          <p:nvPr/>
        </p:nvSpPr>
        <p:spPr>
          <a:xfrm xmlns:a="http://schemas.openxmlformats.org/drawingml/2006/main">
            <a:off x="685800" y="2343150"/>
            <a:ext cx="50958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1">
                <a:solidFill>
                  <a:srgbClr val="132A39"/>
                </a:solidFill>
                <a:latin typeface="Arial"/>
                <a:ea typeface="Arial"/>
                <a:cs typeface="Arial"/>
              </a:defRPr>
            </a:pPr>
            <a:r>
              <a:rPr sz="2550" b="1">
                <a:solidFill>
                  <a:srgbClr val="132A39"/>
                </a:solidFill>
                <a:latin typeface="Arial"/>
                <a:ea typeface="Arial"/>
                <a:cs typeface="Arial"/>
              </a:rPr>
              <a:t>Strategy and team scores</a:t>
            </a:r>
          </a:p>
        </p:txBody>
      </p:sp>
      <p:sp>
        <p:nvSpPr>
          <p:cNvPr id="5" name="">
            <a:extLst xmlns:a="http://schemas.openxmlformats.org/drawingml/2006/main">
              <a:ext uri="{FF2B5EF4-FFF2-40B4-BE49-F238E27FC236}">
                <a16:creationId xmlns:a16="http://schemas.microsoft.com/office/drawing/2014/main" id="{C33EE815-CE01-433E-8F78-3427ABE0D03C}"/>
              </a:ext>
            </a:extLst>
          </p:cNvPr>
          <p:cNvSpPr>
            <a:spLocks xmlns:a="http://schemas.openxmlformats.org/drawingml/2006/main" noGrp="1"/>
          </p:cNvSpPr>
          <p:nvPr/>
        </p:nvSpPr>
        <p:spPr>
          <a:xfrm xmlns:a="http://schemas.openxmlformats.org/drawingml/2006/main">
            <a:off x="685800" y="3448050"/>
            <a:ext cx="5095875"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566774"/>
                </a:solidFill>
                <a:latin typeface="Arial"/>
                <a:ea typeface="Arial"/>
                <a:cs typeface="Arial"/>
              </a:defRPr>
            </a:pPr>
            <a:r>
              <a:rPr sz="2100" b="0">
                <a:solidFill>
                  <a:srgbClr val="566774"/>
                </a:solidFill>
                <a:latin typeface="Arial"/>
                <a:ea typeface="Arial"/>
                <a:cs typeface="Arial"/>
              </a:rPr>
              <a:t>20 teams</a:t>
            </a:r>
          </a:p>
          <a:p xmlns:a="http://schemas.openxmlformats.org/drawingml/2006/main">
            <a:pPr>
              <a:defRPr sz="2100" b="0">
                <a:solidFill>
                  <a:srgbClr val="566774"/>
                </a:solidFill>
                <a:latin typeface="Arial"/>
                <a:ea typeface="Arial"/>
                <a:cs typeface="Arial"/>
              </a:defRPr>
            </a:pPr>
            <a:r>
              <a:rPr sz="2100" b="0">
                <a:solidFill>
                  <a:srgbClr val="566774"/>
                </a:solidFill>
                <a:latin typeface="Arial"/>
                <a:ea typeface="Arial"/>
                <a:cs typeface="Arial"/>
              </a:rPr>
              <a:t>Utility and anonymization</a:t>
            </a:r>
          </a:p>
          <a:p xmlns:a="http://schemas.openxmlformats.org/drawingml/2006/main">
            <a:pPr>
              <a:defRPr sz="2100" b="0">
                <a:solidFill>
                  <a:srgbClr val="566774"/>
                </a:solidFill>
                <a:latin typeface="Arial"/>
                <a:ea typeface="Arial"/>
                <a:cs typeface="Arial"/>
              </a:defRPr>
            </a:pPr>
            <a:r>
              <a:rPr sz="2100" b="0">
                <a:solidFill>
                  <a:srgbClr val="566774"/>
                </a:solidFill>
                <a:latin typeface="Arial"/>
                <a:ea typeface="Arial"/>
                <a:cs typeface="Arial"/>
              </a:rPr>
              <a:t>Hedges’ g, then sparse regression</a:t>
            </a:r>
          </a:p>
        </p:txBody>
      </p:sp>
      <p:sp>
        <p:nvSpPr>
          <p:cNvPr id="6" name="">
            <a:extLst xmlns:a="http://schemas.openxmlformats.org/drawingml/2006/main">
              <a:ext uri="{FF2B5EF4-FFF2-40B4-BE49-F238E27FC236}">
                <a16:creationId xmlns:a16="http://schemas.microsoft.com/office/drawing/2014/main" id="{778DAC4C-5452-44C1-BC9D-130B161D135A}"/>
              </a:ext>
            </a:extLst>
          </p:cNvPr>
          <p:cNvSpPr>
            <a:spLocks xmlns:a="http://schemas.openxmlformats.org/drawingml/2006/main" noGrp="1"/>
          </p:cNvSpPr>
          <p:nvPr/>
        </p:nvSpPr>
        <p:spPr>
          <a:xfrm xmlns:a="http://schemas.openxmlformats.org/drawingml/2006/main">
            <a:off x="6667500" y="1609725"/>
            <a:ext cx="4762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C15F33"/>
                </a:solidFill>
                <a:latin typeface="Arial"/>
                <a:ea typeface="Arial"/>
                <a:cs typeface="Arial"/>
              </a:defRPr>
            </a:pPr>
            <a:r>
              <a:rPr sz="3600" b="1">
                <a:solidFill>
                  <a:srgbClr val="C15F33"/>
                </a:solidFill>
                <a:latin typeface="Arial"/>
                <a:ea typeface="Arial"/>
                <a:cs typeface="Arial"/>
              </a:rPr>
              <a:t>H2</a:t>
            </a:r>
          </a:p>
        </p:txBody>
      </p:sp>
      <p:sp>
        <p:nvSpPr>
          <p:cNvPr id="7" name="">
            <a:extLst xmlns:a="http://schemas.openxmlformats.org/drawingml/2006/main">
              <a:ext uri="{FF2B5EF4-FFF2-40B4-BE49-F238E27FC236}">
                <a16:creationId xmlns:a16="http://schemas.microsoft.com/office/drawing/2014/main" id="{3D10B318-F47B-4094-84A5-426C54884614}"/>
              </a:ext>
            </a:extLst>
          </p:cNvPr>
          <p:cNvSpPr>
            <a:spLocks xmlns:a="http://schemas.openxmlformats.org/drawingml/2006/main" noGrp="1"/>
          </p:cNvSpPr>
          <p:nvPr/>
        </p:nvSpPr>
        <p:spPr>
          <a:xfrm xmlns:a="http://schemas.openxmlformats.org/drawingml/2006/main">
            <a:off x="6667500" y="2343150"/>
            <a:ext cx="48291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1">
                <a:solidFill>
                  <a:srgbClr val="132A39"/>
                </a:solidFill>
                <a:latin typeface="Arial"/>
                <a:ea typeface="Arial"/>
                <a:cs typeface="Arial"/>
              </a:defRPr>
            </a:pPr>
            <a:r>
              <a:rPr sz="2550" b="1">
                <a:solidFill>
                  <a:srgbClr val="132A39"/>
                </a:solidFill>
                <a:latin typeface="Arial"/>
                <a:ea typeface="Arial"/>
                <a:cs typeface="Arial"/>
              </a:rPr>
              <a:t>Defense and attack pairing</a:t>
            </a:r>
          </a:p>
        </p:txBody>
      </p:sp>
      <p:sp>
        <p:nvSpPr>
          <p:cNvPr id="8" name="">
            <a:extLst xmlns:a="http://schemas.openxmlformats.org/drawingml/2006/main">
              <a:ext uri="{FF2B5EF4-FFF2-40B4-BE49-F238E27FC236}">
                <a16:creationId xmlns:a16="http://schemas.microsoft.com/office/drawing/2014/main" id="{68745A2E-81B2-4559-8C99-72D55AE041BE}"/>
              </a:ext>
            </a:extLst>
          </p:cNvPr>
          <p:cNvSpPr>
            <a:spLocks xmlns:a="http://schemas.openxmlformats.org/drawingml/2006/main" noGrp="1"/>
          </p:cNvSpPr>
          <p:nvPr/>
        </p:nvSpPr>
        <p:spPr>
          <a:xfrm xmlns:a="http://schemas.openxmlformats.org/drawingml/2006/main">
            <a:off x="6667500" y="3448050"/>
            <a:ext cx="4829175"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566774"/>
                </a:solidFill>
                <a:latin typeface="Arial"/>
                <a:ea typeface="Arial"/>
                <a:cs typeface="Arial"/>
              </a:defRPr>
            </a:pPr>
            <a:r>
              <a:rPr sz="2100" b="0">
                <a:solidFill>
                  <a:srgbClr val="566774"/>
                </a:solidFill>
                <a:latin typeface="Arial"/>
                <a:ea typeface="Arial"/>
                <a:cs typeface="Arial"/>
              </a:rPr>
              <a:t>361 ordered pairs</a:t>
            </a:r>
          </a:p>
          <a:p xmlns:a="http://schemas.openxmlformats.org/drawingml/2006/main">
            <a:pPr>
              <a:defRPr sz="2100" b="0">
                <a:solidFill>
                  <a:srgbClr val="566774"/>
                </a:solidFill>
                <a:latin typeface="Arial"/>
                <a:ea typeface="Arial"/>
                <a:cs typeface="Arial"/>
              </a:defRPr>
            </a:pPr>
            <a:r>
              <a:rPr sz="2100" b="0">
                <a:solidFill>
                  <a:srgbClr val="566774"/>
                </a:solidFill>
                <a:latin typeface="Arial"/>
                <a:ea typeface="Arial"/>
                <a:cs typeface="Arial"/>
              </a:rPr>
              <a:t>Number of exposed records</a:t>
            </a:r>
          </a:p>
          <a:p xmlns:a="http://schemas.openxmlformats.org/drawingml/2006/main">
            <a:pPr>
              <a:defRPr sz="2100" b="0">
                <a:solidFill>
                  <a:srgbClr val="566774"/>
                </a:solidFill>
                <a:latin typeface="Arial"/>
                <a:ea typeface="Arial"/>
                <a:cs typeface="Arial"/>
              </a:defRPr>
            </a:pPr>
            <a:r>
              <a:rPr sz="2100" b="0">
                <a:solidFill>
                  <a:srgbClr val="566774"/>
                </a:solidFill>
                <a:latin typeface="Arial"/>
                <a:ea typeface="Arial"/>
                <a:cs typeface="Arial"/>
              </a:rPr>
              <a:t>Negative binomial regression</a:t>
            </a:r>
          </a:p>
        </p:txBody>
      </p:sp>
      <p:sp>
        <p:nvSpPr>
          <p:cNvPr id="9" name="">
            <a:extLst xmlns:a="http://schemas.openxmlformats.org/drawingml/2006/main">
              <a:ext uri="{FF2B5EF4-FFF2-40B4-BE49-F238E27FC236}">
                <a16:creationId xmlns:a16="http://schemas.microsoft.com/office/drawing/2014/main" id="{A0CB0963-5455-4037-9F90-BD57AA5AB754}"/>
              </a:ext>
            </a:extLst>
          </p:cNvPr>
          <p:cNvSpPr>
            <a:spLocks xmlns:a="http://schemas.openxmlformats.org/drawingml/2006/main" noGrp="1"/>
          </p:cNvSpPr>
          <p:nvPr/>
        </p:nvSpPr>
        <p:spPr>
          <a:xfrm xmlns:a="http://schemas.openxmlformats.org/drawingml/2006/main">
            <a:off x="685800" y="5600700"/>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32A39"/>
                </a:solidFill>
                <a:latin typeface="Arial"/>
                <a:ea typeface="Arial"/>
                <a:cs typeface="Arial"/>
              </a:defRPr>
            </a:pPr>
            <a:r>
              <a:rPr sz="1875" b="0">
                <a:solidFill>
                  <a:srgbClr val="132A39"/>
                </a:solidFill>
                <a:latin typeface="Arial"/>
                <a:ea typeface="Arial"/>
                <a:cs typeface="Arial"/>
              </a:rPr>
              <a:t>Small-sample safeguards: AICc for H1, two-way clustered standard errors for H2</a:t>
            </a:r>
          </a:p>
        </p:txBody>
      </p:sp>
    </p:spTree>
    <p:extLst>
      <p:ext uri="{BB962C8B-B14F-4D97-AF65-F5344CB8AC3E}">
        <p14:creationId xmlns:p14="http://schemas.microsoft.com/office/powerpoint/2010/main" val="2060881034"/>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C0B0D74-7D9E-46A4-93C1-8E30A1A25E30}"/>
              </a:ext>
            </a:extLst>
          </p:cNvPr>
          <p:cNvSpPr>
            <a:spLocks xmlns:a="http://schemas.openxmlformats.org/drawingml/2006/main" noGrp="1"/>
          </p:cNvSpPr>
          <p:nvPr/>
        </p:nvSpPr>
        <p:spPr>
          <a:xfrm xmlns:a="http://schemas.openxmlformats.org/drawingml/2006/main">
            <a:off x="685800" y="457200"/>
            <a:ext cx="108204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150" b="1">
                <a:solidFill>
                  <a:srgbClr val="132A39"/>
                </a:solidFill>
                <a:latin typeface="Arial"/>
                <a:ea typeface="Arial"/>
                <a:cs typeface="Arial"/>
              </a:defRPr>
            </a:pPr>
            <a:r>
              <a:rPr sz="3150" b="1">
                <a:solidFill>
                  <a:srgbClr val="132A39"/>
                </a:solidFill>
                <a:latin typeface="Arial"/>
                <a:ea typeface="Arial"/>
                <a:cs typeface="Arial"/>
              </a:rPr>
              <a:t>H1: synthesis is associated with both scores</a:t>
            </a:r>
          </a:p>
        </p:txBody>
      </p:sp>
      <p:sp>
        <p:nvSpPr>
          <p:cNvPr id="2" name="">
            <a:extLst xmlns:a="http://schemas.openxmlformats.org/drawingml/2006/main">
              <a:ext uri="{FF2B5EF4-FFF2-40B4-BE49-F238E27FC236}">
                <a16:creationId xmlns:a16="http://schemas.microsoft.com/office/drawing/2014/main" id="{A650485C-9B42-4A7F-8AA2-BDBE4DA568DE}"/>
              </a:ext>
            </a:extLst>
          </p:cNvPr>
          <p:cNvSpPr>
            <a:spLocks xmlns:a="http://schemas.openxmlformats.org/drawingml/2006/main" noGrp="1"/>
          </p:cNvSpPr>
          <p:nvPr/>
        </p:nvSpPr>
        <p:spPr>
          <a:xfrm xmlns:a="http://schemas.openxmlformats.org/drawingml/2006/main">
            <a:off x="11087100" y="6353175"/>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566774"/>
                </a:solidFill>
                <a:latin typeface="Arial"/>
                <a:ea typeface="Arial"/>
                <a:cs typeface="Arial"/>
              </a:defRPr>
            </a:pPr>
            <a:r>
              <a:rPr sz="1200" b="0">
                <a:solidFill>
                  <a:srgbClr val="566774"/>
                </a:solidFill>
                <a:latin typeface="Arial"/>
                <a:ea typeface="Arial"/>
                <a:cs typeface="Arial"/>
              </a:rPr>
              <a:t>08</a:t>
            </a:r>
          </a:p>
        </p:txBody>
      </p:sp>
      <p:graphicFrame>
        <p:nvGraphicFramePr>
          <p:cNvPr id="8" name="Chart"/>
          <p:cNvGraphicFramePr/>
          <p:nvPr/>
        </p:nvGraphicFramePr>
        <p:xfrm>
          <a:off xmlns:a="http://schemas.openxmlformats.org/drawingml/2006/main" x="685800" y="1695450"/>
          <a:ext xmlns:a="http://schemas.openxmlformats.org/drawingml/2006/main" cx="10820400" cy="3429000"/>
        </p:xfrm>
        <a:graphic xmlns:a="http://schemas.openxmlformats.org/drawingml/2006/main">
          <a:graphicData uri="http://schemas.openxmlformats.org/drawingml/2006/chart">
            <c:chart xmlns:r="http://schemas.openxmlformats.org/officeDocument/2006/relationships" xmlns:c="http://schemas.openxmlformats.org/drawingml/2006/chart" r:id="Ra53d84e5acd74c19"/>
          </a:graphicData>
        </a:graphic>
      </p:graphicFrame>
      <p:sp>
        <p:nvSpPr>
          <p:cNvPr id="4" name="">
            <a:extLst xmlns:a="http://schemas.openxmlformats.org/drawingml/2006/main">
              <a:ext uri="{FF2B5EF4-FFF2-40B4-BE49-F238E27FC236}">
                <a16:creationId xmlns:a16="http://schemas.microsoft.com/office/drawing/2014/main" id="{C874D0E0-ACFC-49ED-986A-0298F9CD633E}"/>
              </a:ext>
            </a:extLst>
          </p:cNvPr>
          <p:cNvSpPr>
            <a:spLocks xmlns:a="http://schemas.openxmlformats.org/drawingml/2006/main" noGrp="1"/>
          </p:cNvSpPr>
          <p:nvPr/>
        </p:nvSpPr>
        <p:spPr>
          <a:xfrm xmlns:a="http://schemas.openxmlformats.org/drawingml/2006/main">
            <a:off x="685800" y="5276850"/>
            <a:ext cx="1082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66774"/>
                </a:solidFill>
                <a:latin typeface="Arial"/>
                <a:ea typeface="Arial"/>
                <a:cs typeface="Arial"/>
              </a:defRPr>
            </a:pPr>
            <a:r>
              <a:rPr sz="1800" b="0">
                <a:solidFill>
                  <a:srgbClr val="566774"/>
                </a:solidFill>
                <a:latin typeface="Arial"/>
                <a:ea typeface="Arial"/>
                <a:cs typeface="Arial"/>
              </a:rPr>
              <a:t>Hedges’ g: positive values favor the second category</a:t>
            </a:r>
          </a:p>
        </p:txBody>
      </p:sp>
      <p:sp>
        <p:nvSpPr>
          <p:cNvPr id="5" name="">
            <a:extLst xmlns:a="http://schemas.openxmlformats.org/drawingml/2006/main">
              <a:ext uri="{FF2B5EF4-FFF2-40B4-BE49-F238E27FC236}">
                <a16:creationId xmlns:a16="http://schemas.microsoft.com/office/drawing/2014/main" id="{76F52C69-9A3C-4603-8BEB-9C52C77408C1}"/>
              </a:ext>
            </a:extLst>
          </p:cNvPr>
          <p:cNvSpPr>
            <a:spLocks xmlns:a="http://schemas.openxmlformats.org/drawingml/2006/main" noGrp="1"/>
          </p:cNvSpPr>
          <p:nvPr/>
        </p:nvSpPr>
        <p:spPr>
          <a:xfrm xmlns:a="http://schemas.openxmlformats.org/drawingml/2006/main">
            <a:off x="685800" y="5762625"/>
            <a:ext cx="108204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007C78"/>
                </a:solidFill>
                <a:latin typeface="Arial"/>
                <a:ea typeface="Arial"/>
                <a:cs typeface="Arial"/>
              </a:defRPr>
            </a:pPr>
            <a:r>
              <a:rPr sz="2250" b="1">
                <a:solidFill>
                  <a:srgbClr val="007C78"/>
                </a:solidFill>
                <a:latin typeface="Arial"/>
                <a:ea typeface="Arial"/>
                <a:cs typeface="Arial"/>
              </a:rPr>
              <a:t>Utility and anonymization emphasize different features</a:t>
            </a:r>
          </a:p>
        </p:txBody>
      </p:sp>
    </p:spTree>
    <p:extLst>
      <p:ext uri="{BB962C8B-B14F-4D97-AF65-F5344CB8AC3E}">
        <p14:creationId xmlns:p14="http://schemas.microsoft.com/office/powerpoint/2010/main" val="936828779"/>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516715BC-EDE7-472B-AD21-D638CEACD079}"/>
              </a:ext>
            </a:extLst>
          </p:cNvPr>
          <p:cNvSpPr>
            <a:spLocks xmlns:a="http://schemas.openxmlformats.org/drawingml/2006/main" noGrp="1"/>
          </p:cNvSpPr>
          <p:nvPr/>
        </p:nvSpPr>
        <p:spPr>
          <a:xfrm xmlns:a="http://schemas.openxmlformats.org/drawingml/2006/main">
            <a:off x="685800" y="457200"/>
            <a:ext cx="108204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150" b="1">
                <a:solidFill>
                  <a:srgbClr val="132A39"/>
                </a:solidFill>
                <a:latin typeface="Arial"/>
                <a:ea typeface="Arial"/>
                <a:cs typeface="Arial"/>
              </a:defRPr>
            </a:pPr>
            <a:r>
              <a:rPr sz="3150" b="1">
                <a:solidFill>
                  <a:srgbClr val="132A39"/>
                </a:solidFill>
                <a:latin typeface="Arial"/>
                <a:ea typeface="Arial"/>
                <a:cs typeface="Arial"/>
              </a:rPr>
              <a:t>Two different uses of models in attacks</a:t>
            </a:r>
          </a:p>
        </p:txBody>
      </p:sp>
      <p:sp>
        <p:nvSpPr>
          <p:cNvPr id="2" name="">
            <a:extLst xmlns:a="http://schemas.openxmlformats.org/drawingml/2006/main">
              <a:ext uri="{FF2B5EF4-FFF2-40B4-BE49-F238E27FC236}">
                <a16:creationId xmlns:a16="http://schemas.microsoft.com/office/drawing/2014/main" id="{FEDDD729-362E-49F4-A9E6-D392C77F8825}"/>
              </a:ext>
            </a:extLst>
          </p:cNvPr>
          <p:cNvSpPr>
            <a:spLocks xmlns:a="http://schemas.openxmlformats.org/drawingml/2006/main" noGrp="1"/>
          </p:cNvSpPr>
          <p:nvPr/>
        </p:nvSpPr>
        <p:spPr>
          <a:xfrm xmlns:a="http://schemas.openxmlformats.org/drawingml/2006/main">
            <a:off x="11087100" y="6353175"/>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566774"/>
                </a:solidFill>
                <a:latin typeface="Arial"/>
                <a:ea typeface="Arial"/>
                <a:cs typeface="Arial"/>
              </a:defRPr>
            </a:pPr>
            <a:r>
              <a:rPr sz="1200" b="0">
                <a:solidFill>
                  <a:srgbClr val="566774"/>
                </a:solidFill>
                <a:latin typeface="Arial"/>
                <a:ea typeface="Arial"/>
                <a:cs typeface="Arial"/>
              </a:rPr>
              <a:t>09</a:t>
            </a:r>
          </a:p>
        </p:txBody>
      </p:sp>
      <p:sp>
        <p:nvSpPr>
          <p:cNvPr id="3" name="">
            <a:extLst xmlns:a="http://schemas.openxmlformats.org/drawingml/2006/main">
              <a:ext uri="{FF2B5EF4-FFF2-40B4-BE49-F238E27FC236}">
                <a16:creationId xmlns:a16="http://schemas.microsoft.com/office/drawing/2014/main" id="{A2B4FBD4-15D3-4D2D-8447-B8FF6FDE6B76}"/>
              </a:ext>
            </a:extLst>
          </p:cNvPr>
          <p:cNvSpPr>
            <a:spLocks xmlns:a="http://schemas.openxmlformats.org/drawingml/2006/main" noGrp="1"/>
          </p:cNvSpPr>
          <p:nvPr/>
        </p:nvSpPr>
        <p:spPr>
          <a:xfrm xmlns:a="http://schemas.openxmlformats.org/drawingml/2006/main">
            <a:off x="685800" y="1733550"/>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1">
                <a:solidFill>
                  <a:srgbClr val="007C78"/>
                </a:solidFill>
                <a:latin typeface="Arial"/>
                <a:ea typeface="Arial"/>
                <a:cs typeface="Arial"/>
              </a:defRPr>
            </a:pPr>
            <a:r>
              <a:rPr sz="2700" b="1">
                <a:solidFill>
                  <a:srgbClr val="007C78"/>
                </a:solidFill>
                <a:latin typeface="Arial"/>
                <a:ea typeface="Arial"/>
                <a:cs typeface="Arial"/>
              </a:rPr>
              <a:t>Attack target</a:t>
            </a:r>
          </a:p>
        </p:txBody>
      </p:sp>
      <p:sp>
        <p:nvSpPr>
          <p:cNvPr id="4" name="">
            <a:extLst xmlns:a="http://schemas.openxmlformats.org/drawingml/2006/main">
              <a:ext uri="{FF2B5EF4-FFF2-40B4-BE49-F238E27FC236}">
                <a16:creationId xmlns:a16="http://schemas.microsoft.com/office/drawing/2014/main" id="{12EA1E34-00DE-49B0-AEC1-8A3849119936}"/>
              </a:ext>
            </a:extLst>
          </p:cNvPr>
          <p:cNvSpPr>
            <a:spLocks xmlns:a="http://schemas.openxmlformats.org/drawingml/2006/main" noGrp="1"/>
          </p:cNvSpPr>
          <p:nvPr/>
        </p:nvSpPr>
        <p:spPr>
          <a:xfrm xmlns:a="http://schemas.openxmlformats.org/drawingml/2006/main">
            <a:off x="685800" y="2514600"/>
            <a:ext cx="49530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150" b="1">
                <a:solidFill>
                  <a:srgbClr val="132A39"/>
                </a:solidFill>
                <a:latin typeface="Arial"/>
                <a:ea typeface="Arial"/>
                <a:cs typeface="Arial"/>
              </a:defRPr>
            </a:pPr>
            <a:r>
              <a:rPr sz="3150" b="1">
                <a:solidFill>
                  <a:srgbClr val="132A39"/>
                </a:solidFill>
                <a:latin typeface="Arial"/>
                <a:ea typeface="Arial"/>
                <a:cs typeface="Arial"/>
              </a:rPr>
              <a:t>Uses the released</a:t>
            </a:r>
          </a:p>
          <a:p xmlns:a="http://schemas.openxmlformats.org/drawingml/2006/main">
            <a:pPr>
              <a:defRPr sz="3150" b="1">
                <a:solidFill>
                  <a:srgbClr val="132A39"/>
                </a:solidFill>
                <a:latin typeface="Arial"/>
                <a:ea typeface="Arial"/>
                <a:cs typeface="Arial"/>
              </a:defRPr>
            </a:pPr>
            <a:r>
              <a:rPr sz="3150" b="1">
                <a:solidFill>
                  <a:srgbClr val="132A39"/>
                </a:solidFill>
                <a:latin typeface="Arial"/>
                <a:ea typeface="Arial"/>
                <a:cs typeface="Arial"/>
              </a:rPr>
              <a:t>prediction model D</a:t>
            </a:r>
          </a:p>
        </p:txBody>
      </p:sp>
      <p:sp>
        <p:nvSpPr>
          <p:cNvPr id="5" name="">
            <a:extLst xmlns:a="http://schemas.openxmlformats.org/drawingml/2006/main">
              <a:ext uri="{FF2B5EF4-FFF2-40B4-BE49-F238E27FC236}">
                <a16:creationId xmlns:a16="http://schemas.microsoft.com/office/drawing/2014/main" id="{2A1CFBDD-EC21-4112-87EE-7AC870BC37EA}"/>
              </a:ext>
            </a:extLst>
          </p:cNvPr>
          <p:cNvSpPr>
            <a:spLocks xmlns:a="http://schemas.openxmlformats.org/drawingml/2006/main" noGrp="1"/>
          </p:cNvSpPr>
          <p:nvPr/>
        </p:nvSpPr>
        <p:spPr>
          <a:xfrm xmlns:a="http://schemas.openxmlformats.org/drawingml/2006/main">
            <a:off x="685800" y="4210050"/>
            <a:ext cx="4953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566774"/>
                </a:solidFill>
                <a:latin typeface="Arial"/>
                <a:ea typeface="Arial"/>
                <a:cs typeface="Arial"/>
              </a:defRPr>
            </a:pPr>
            <a:r>
              <a:rPr sz="2175" b="0">
                <a:solidFill>
                  <a:srgbClr val="566774"/>
                </a:solidFill>
                <a:latin typeface="Arial"/>
                <a:ea typeface="Arial"/>
                <a:cs typeface="Arial"/>
              </a:rPr>
              <a:t>Anonymized data alone</a:t>
            </a:r>
          </a:p>
          <a:p xmlns:a="http://schemas.openxmlformats.org/drawingml/2006/main">
            <a:pPr>
              <a:defRPr sz="2175" b="0">
                <a:solidFill>
                  <a:srgbClr val="566774"/>
                </a:solidFill>
                <a:latin typeface="Arial"/>
                <a:ea typeface="Arial"/>
                <a:cs typeface="Arial"/>
              </a:defRPr>
            </a:pPr>
            <a:r>
              <a:rPr sz="2175" b="0">
                <a:solidFill>
                  <a:srgbClr val="566774"/>
                </a:solidFill>
                <a:latin typeface="Arial"/>
                <a:ea typeface="Arial"/>
                <a:cs typeface="Arial"/>
              </a:rPr>
              <a:t>or data plus the released model</a:t>
            </a:r>
          </a:p>
        </p:txBody>
      </p:sp>
      <p:sp>
        <p:nvSpPr>
          <p:cNvPr id="6" name="">
            <a:extLst xmlns:a="http://schemas.openxmlformats.org/drawingml/2006/main">
              <a:ext uri="{FF2B5EF4-FFF2-40B4-BE49-F238E27FC236}">
                <a16:creationId xmlns:a16="http://schemas.microsoft.com/office/drawing/2014/main" id="{0EBA3947-63D8-47B5-9EFB-9580DA0DF3E3}"/>
              </a:ext>
            </a:extLst>
          </p:cNvPr>
          <p:cNvSpPr>
            <a:spLocks xmlns:a="http://schemas.openxmlformats.org/drawingml/2006/main" noGrp="1"/>
          </p:cNvSpPr>
          <p:nvPr/>
        </p:nvSpPr>
        <p:spPr>
          <a:xfrm xmlns:a="http://schemas.openxmlformats.org/drawingml/2006/main">
            <a:off x="6667500" y="1733550"/>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1">
                <a:solidFill>
                  <a:srgbClr val="C15F33"/>
                </a:solidFill>
                <a:latin typeface="Arial"/>
                <a:ea typeface="Arial"/>
                <a:cs typeface="Arial"/>
              </a:defRPr>
            </a:pPr>
            <a:r>
              <a:rPr sz="2700" b="1">
                <a:solidFill>
                  <a:srgbClr val="C15F33"/>
                </a:solidFill>
                <a:latin typeface="Arial"/>
                <a:ea typeface="Arial"/>
                <a:cs typeface="Arial"/>
              </a:rPr>
              <a:t>Model-based attack</a:t>
            </a:r>
          </a:p>
        </p:txBody>
      </p:sp>
      <p:sp>
        <p:nvSpPr>
          <p:cNvPr id="7" name="">
            <a:extLst xmlns:a="http://schemas.openxmlformats.org/drawingml/2006/main">
              <a:ext uri="{FF2B5EF4-FFF2-40B4-BE49-F238E27FC236}">
                <a16:creationId xmlns:a16="http://schemas.microsoft.com/office/drawing/2014/main" id="{F1825929-8000-4FC2-BD21-F79AAD397B51}"/>
              </a:ext>
            </a:extLst>
          </p:cNvPr>
          <p:cNvSpPr>
            <a:spLocks xmlns:a="http://schemas.openxmlformats.org/drawingml/2006/main" noGrp="1"/>
          </p:cNvSpPr>
          <p:nvPr/>
        </p:nvSpPr>
        <p:spPr>
          <a:xfrm xmlns:a="http://schemas.openxmlformats.org/drawingml/2006/main">
            <a:off x="6667500" y="2514600"/>
            <a:ext cx="485775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150" b="1">
                <a:solidFill>
                  <a:srgbClr val="132A39"/>
                </a:solidFill>
                <a:latin typeface="Arial"/>
                <a:ea typeface="Arial"/>
                <a:cs typeface="Arial"/>
              </a:defRPr>
            </a:pPr>
            <a:r>
              <a:rPr sz="3150" b="1">
                <a:solidFill>
                  <a:srgbClr val="132A39"/>
                </a:solidFill>
                <a:latin typeface="Arial"/>
                <a:ea typeface="Arial"/>
                <a:cs typeface="Arial"/>
              </a:rPr>
              <a:t>Trains a membership</a:t>
            </a:r>
          </a:p>
          <a:p xmlns:a="http://schemas.openxmlformats.org/drawingml/2006/main">
            <a:pPr>
              <a:defRPr sz="3150" b="1">
                <a:solidFill>
                  <a:srgbClr val="132A39"/>
                </a:solidFill>
                <a:latin typeface="Arial"/>
                <a:ea typeface="Arial"/>
                <a:cs typeface="Arial"/>
              </a:defRPr>
            </a:pPr>
            <a:r>
              <a:rPr sz="3150" b="1">
                <a:solidFill>
                  <a:srgbClr val="132A39"/>
                </a:solidFill>
                <a:latin typeface="Arial"/>
                <a:ea typeface="Arial"/>
                <a:cs typeface="Arial"/>
              </a:rPr>
              <a:t>scoring model</a:t>
            </a:r>
          </a:p>
        </p:txBody>
      </p:sp>
      <p:sp>
        <p:nvSpPr>
          <p:cNvPr id="8" name="">
            <a:extLst xmlns:a="http://schemas.openxmlformats.org/drawingml/2006/main">
              <a:ext uri="{FF2B5EF4-FFF2-40B4-BE49-F238E27FC236}">
                <a16:creationId xmlns:a16="http://schemas.microsoft.com/office/drawing/2014/main" id="{3C7B8CE1-B978-4834-95AB-75FEB59CB39C}"/>
              </a:ext>
            </a:extLst>
          </p:cNvPr>
          <p:cNvSpPr>
            <a:spLocks xmlns:a="http://schemas.openxmlformats.org/drawingml/2006/main" noGrp="1"/>
          </p:cNvSpPr>
          <p:nvPr/>
        </p:nvSpPr>
        <p:spPr>
          <a:xfrm xmlns:a="http://schemas.openxmlformats.org/drawingml/2006/main">
            <a:off x="6667500" y="4210050"/>
            <a:ext cx="4857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566774"/>
                </a:solidFill>
                <a:latin typeface="Arial"/>
                <a:ea typeface="Arial"/>
                <a:cs typeface="Arial"/>
              </a:defRPr>
            </a:pPr>
            <a:r>
              <a:rPr sz="2175" b="0">
                <a:solidFill>
                  <a:srgbClr val="566774"/>
                </a:solidFill>
                <a:latin typeface="Arial"/>
                <a:ea typeface="Arial"/>
                <a:cs typeface="Arial"/>
              </a:rPr>
              <a:t>For example, a membership classifier</a:t>
            </a:r>
          </a:p>
          <a:p xmlns:a="http://schemas.openxmlformats.org/drawingml/2006/main">
            <a:pPr>
              <a:defRPr sz="2175" b="0">
                <a:solidFill>
                  <a:srgbClr val="566774"/>
                </a:solidFill>
                <a:latin typeface="Arial"/>
                <a:ea typeface="Arial"/>
                <a:cs typeface="Arial"/>
              </a:defRPr>
            </a:pPr>
            <a:r>
              <a:rPr sz="2175" b="0">
                <a:solidFill>
                  <a:srgbClr val="566774"/>
                </a:solidFill>
                <a:latin typeface="Arial"/>
                <a:ea typeface="Arial"/>
                <a:cs typeface="Arial"/>
              </a:rPr>
              <a:t>or likelihood-ratio scoring</a:t>
            </a:r>
          </a:p>
        </p:txBody>
      </p:sp>
      <p:sp>
        <p:nvSpPr>
          <p:cNvPr id="9" name="">
            <a:extLst xmlns:a="http://schemas.openxmlformats.org/drawingml/2006/main">
              <a:ext uri="{FF2B5EF4-FFF2-40B4-BE49-F238E27FC236}">
                <a16:creationId xmlns:a16="http://schemas.microsoft.com/office/drawing/2014/main" id="{6D7E1C83-B908-45D5-A23F-131536DF4736}"/>
              </a:ext>
            </a:extLst>
          </p:cNvPr>
          <p:cNvSpPr>
            <a:spLocks xmlns:a="http://schemas.openxmlformats.org/drawingml/2006/main" noGrp="1"/>
          </p:cNvSpPr>
          <p:nvPr/>
        </p:nvSpPr>
        <p:spPr>
          <a:xfrm xmlns:a="http://schemas.openxmlformats.org/drawingml/2006/main">
            <a:off x="685800" y="5838825"/>
            <a:ext cx="108204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132A39"/>
                </a:solidFill>
                <a:latin typeface="Arial"/>
                <a:ea typeface="Arial"/>
                <a:cs typeface="Arial"/>
              </a:defRPr>
            </a:pPr>
            <a:r>
              <a:rPr sz="1725" b="0">
                <a:solidFill>
                  <a:srgbClr val="132A39"/>
                </a:solidFill>
                <a:latin typeface="Arial"/>
                <a:ea typeface="Arial"/>
                <a:cs typeface="Arial"/>
              </a:rPr>
              <a:t>Team 8 combined Gaussian LiRA and a distance attack, while targeting data alone</a:t>
            </a:r>
          </a:p>
        </p:txBody>
      </p:sp>
    </p:spTree>
    <p:extLst>
      <p:ext uri="{BB962C8B-B14F-4D97-AF65-F5344CB8AC3E}">
        <p14:creationId xmlns:p14="http://schemas.microsoft.com/office/powerpoint/2010/main" val="1105778457"/>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FD29766-BD66-43D6-841B-8C4E87DD4F45}"/>
              </a:ext>
            </a:extLst>
          </p:cNvPr>
          <p:cNvSpPr>
            <a:spLocks xmlns:a="http://schemas.openxmlformats.org/drawingml/2006/main" noGrp="1"/>
          </p:cNvSpPr>
          <p:nvPr/>
        </p:nvSpPr>
        <p:spPr>
          <a:xfrm xmlns:a="http://schemas.openxmlformats.org/drawingml/2006/main">
            <a:off x="685800" y="457200"/>
            <a:ext cx="108204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150" b="1">
                <a:solidFill>
                  <a:srgbClr val="132A39"/>
                </a:solidFill>
                <a:latin typeface="Arial"/>
                <a:ea typeface="Arial"/>
                <a:cs typeface="Arial"/>
              </a:defRPr>
            </a:pPr>
            <a:r>
              <a:rPr sz="3150" b="1">
                <a:solidFill>
                  <a:srgbClr val="132A39"/>
                </a:solidFill>
                <a:latin typeface="Arial"/>
                <a:ea typeface="Arial"/>
                <a:cs typeface="Arial"/>
              </a:rPr>
              <a:t>H2: the defense advantage persists</a:t>
            </a:r>
          </a:p>
        </p:txBody>
      </p:sp>
      <p:sp>
        <p:nvSpPr>
          <p:cNvPr id="2" name="">
            <a:extLst xmlns:a="http://schemas.openxmlformats.org/drawingml/2006/main">
              <a:ext uri="{FF2B5EF4-FFF2-40B4-BE49-F238E27FC236}">
                <a16:creationId xmlns:a16="http://schemas.microsoft.com/office/drawing/2014/main" id="{7B2D5FA6-A480-4982-A94D-B32E552078E4}"/>
              </a:ext>
            </a:extLst>
          </p:cNvPr>
          <p:cNvSpPr>
            <a:spLocks xmlns:a="http://schemas.openxmlformats.org/drawingml/2006/main" noGrp="1"/>
          </p:cNvSpPr>
          <p:nvPr/>
        </p:nvSpPr>
        <p:spPr>
          <a:xfrm xmlns:a="http://schemas.openxmlformats.org/drawingml/2006/main">
            <a:off x="11087100" y="6353175"/>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566774"/>
                </a:solidFill>
                <a:latin typeface="Arial"/>
                <a:ea typeface="Arial"/>
                <a:cs typeface="Arial"/>
              </a:defRPr>
            </a:pPr>
            <a:r>
              <a:rPr sz="1200" b="0">
                <a:solidFill>
                  <a:srgbClr val="566774"/>
                </a:solidFill>
                <a:latin typeface="Arial"/>
                <a:ea typeface="Arial"/>
                <a:cs typeface="Arial"/>
              </a:rPr>
              <a:t>10</a:t>
            </a:r>
          </a:p>
        </p:txBody>
      </p:sp>
      <p:sp>
        <p:nvSpPr>
          <p:cNvPr id="3" name="">
            <a:extLst xmlns:a="http://schemas.openxmlformats.org/drawingml/2006/main">
              <a:ext uri="{FF2B5EF4-FFF2-40B4-BE49-F238E27FC236}">
                <a16:creationId xmlns:a16="http://schemas.microsoft.com/office/drawing/2014/main" id="{B464506C-D315-43AF-A5AD-322D6A04CED5}"/>
              </a:ext>
            </a:extLst>
          </p:cNvPr>
          <p:cNvSpPr>
            <a:spLocks xmlns:a="http://schemas.openxmlformats.org/drawingml/2006/main" noGrp="1"/>
          </p:cNvSpPr>
          <p:nvPr/>
        </p:nvSpPr>
        <p:spPr>
          <a:xfrm xmlns:a="http://schemas.openxmlformats.org/drawingml/2006/main">
            <a:off x="685800" y="1466850"/>
            <a:ext cx="108204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566774"/>
                </a:solidFill>
                <a:latin typeface="Arial"/>
                <a:ea typeface="Arial"/>
                <a:cs typeface="Arial"/>
              </a:defRPr>
            </a:pPr>
            <a:r>
              <a:rPr sz="2325" b="0">
                <a:solidFill>
                  <a:srgbClr val="566774"/>
                </a:solidFill>
                <a:latin typeface="Arial"/>
                <a:ea typeface="Arial"/>
                <a:cs typeface="Arial"/>
              </a:rPr>
              <a:t>When attackers also use the released model</a:t>
            </a:r>
          </a:p>
        </p:txBody>
      </p:sp>
      <p:graphicFrame>
        <p:nvGraphicFramePr>
          <p:cNvPr id="10" name=""/>
          <p:cNvGraphicFramePr/>
          <p:nvPr/>
        </p:nvGraphicFramePr>
        <p:xfrm>
          <a:off xmlns:a="http://schemas.openxmlformats.org/drawingml/2006/main" x="685800" y="2228850"/>
          <a:ext xmlns:a="http://schemas.openxmlformats.org/drawingml/2006/main" cx="10820400" cy="2857500"/>
        </p:xfrm>
        <a:graphic xmlns:a="http://schemas.openxmlformats.org/drawingml/2006/main">
          <a:graphicData uri="http://schemas.openxmlformats.org/drawingml/2006/table">
            <a:tbl>
              <a:tblPr/>
              <a:tblGrid>
                <a:gridCol w="5391150"/>
                <a:gridCol w="2714625"/>
                <a:gridCol w="2714625"/>
              </a:tblGrid>
              <a:tr h="571500">
                <a:tc>
                  <a:txBody>
                    <a:bodyPr/>
                    <a:lstStyle/>
                    <a:p>
                      <a:r>
                        <a:rPr sz="1950" b="1">
                          <a:solidFill>
                            <a:srgbClr val="132A39"/>
                          </a:solidFill>
                          <a:latin typeface="Arial"/>
                          <a:ea typeface="Arial"/>
                          <a:cs typeface="Arial"/>
                        </a:rPr>
                        <a:t>Victim feature</a:t>
                      </a:r>
                    </a:p>
                  </a:txBody>
                  <a:tcPr marL="142875" marR="142875" marT="76200" marB="76200">
                    <a:solidFill>
                      <a:srgbClr val="F0F5F5"/>
                    </a:solidFill>
                  </a:tcPr>
                </a:tc>
                <a:tc>
                  <a:txBody>
                    <a:bodyPr/>
                    <a:lstStyle/>
                    <a:p>
                      <a:r>
                        <a:rPr sz="1950" b="1">
                          <a:solidFill>
                            <a:srgbClr val="132A39"/>
                          </a:solidFill>
                          <a:latin typeface="Arial"/>
                          <a:ea typeface="Arial"/>
                          <a:cs typeface="Arial"/>
                        </a:rPr>
                        <a:t>Interaction IRR</a:t>
                      </a:r>
                    </a:p>
                  </a:txBody>
                  <a:tcPr marL="142875" marR="142875" marT="76200" marB="76200">
                    <a:solidFill>
                      <a:srgbClr val="F0F5F5"/>
                    </a:solidFill>
                  </a:tcPr>
                </a:tc>
                <a:tc>
                  <a:txBody>
                    <a:bodyPr/>
                    <a:lstStyle/>
                    <a:p>
                      <a:r>
                        <a:rPr sz="1950" b="1">
                          <a:solidFill>
                            <a:srgbClr val="132A39"/>
                          </a:solidFill>
                          <a:latin typeface="Arial"/>
                          <a:ea typeface="Arial"/>
                          <a:cs typeface="Arial"/>
                        </a:rPr>
                        <a:t>Combined IRR</a:t>
                      </a:r>
                    </a:p>
                  </a:txBody>
                  <a:tcPr marL="142875" marR="142875" marT="76200" marB="76200">
                    <a:solidFill>
                      <a:srgbClr val="F0F5F5"/>
                    </a:solidFill>
                  </a:tcPr>
                </a:tc>
              </a:tr>
              <a:tr h="571500">
                <a:tc>
                  <a:txBody>
                    <a:bodyPr/>
                    <a:lstStyle/>
                    <a:p>
                      <a:r>
                        <a:rPr sz="1950">
                          <a:solidFill>
                            <a:srgbClr val="132A39"/>
                          </a:solidFill>
                          <a:latin typeface="Arial"/>
                          <a:ea typeface="Arial"/>
                          <a:cs typeface="Arial"/>
                        </a:rPr>
                        <a:t>Alternative base</a:t>
                      </a:r>
                    </a:p>
                  </a:txBody>
                  <a:tcPr marL="142875" marR="142875" marT="76200" marB="76200">
                    <a:solidFill>
                      <a:srgbClr val="FFFFFF"/>
                    </a:solidFill>
                  </a:tcPr>
                </a:tc>
                <a:tc>
                  <a:txBody>
                    <a:bodyPr/>
                    <a:lstStyle/>
                    <a:p>
                      <a:r>
                        <a:rPr sz="1950">
                          <a:solidFill>
                            <a:srgbClr val="132A39"/>
                          </a:solidFill>
                          <a:latin typeface="Arial"/>
                          <a:ea typeface="Arial"/>
                          <a:cs typeface="Arial"/>
                        </a:rPr>
                        <a:t>1.13</a:t>
                      </a:r>
                    </a:p>
                  </a:txBody>
                  <a:tcPr marL="142875" marR="142875" marT="76200" marB="76200">
                    <a:solidFill>
                      <a:srgbClr val="FFFFFF"/>
                    </a:solidFill>
                  </a:tcPr>
                </a:tc>
                <a:tc>
                  <a:txBody>
                    <a:bodyPr/>
                    <a:lstStyle/>
                    <a:p>
                      <a:r>
                        <a:rPr sz="1950">
                          <a:solidFill>
                            <a:srgbClr val="132A39"/>
                          </a:solidFill>
                          <a:latin typeface="Arial"/>
                          <a:ea typeface="Arial"/>
                          <a:cs typeface="Arial"/>
                        </a:rPr>
                        <a:t>0.69</a:t>
                      </a:r>
                    </a:p>
                  </a:txBody>
                  <a:tcPr marL="142875" marR="142875" marT="76200" marB="76200">
                    <a:solidFill>
                      <a:srgbClr val="FFFFFF"/>
                    </a:solidFill>
                  </a:tcPr>
                </a:tc>
              </a:tr>
              <a:tr h="571500">
                <a:tc>
                  <a:txBody>
                    <a:bodyPr/>
                    <a:lstStyle/>
                    <a:p>
                      <a:r>
                        <a:rPr sz="1950">
                          <a:solidFill>
                            <a:srgbClr val="132A39"/>
                          </a:solidFill>
                          <a:latin typeface="Arial"/>
                          <a:ea typeface="Arial"/>
                          <a:cs typeface="Arial"/>
                        </a:rPr>
                        <a:t>Synthesis</a:t>
                      </a:r>
                    </a:p>
                  </a:txBody>
                  <a:tcPr marL="142875" marR="142875" marT="76200" marB="76200">
                    <a:solidFill>
                      <a:srgbClr val="FFFFFF"/>
                    </a:solidFill>
                  </a:tcPr>
                </a:tc>
                <a:tc>
                  <a:txBody>
                    <a:bodyPr/>
                    <a:lstStyle/>
                    <a:p>
                      <a:r>
                        <a:rPr sz="1950">
                          <a:solidFill>
                            <a:srgbClr val="132A39"/>
                          </a:solidFill>
                          <a:latin typeface="Arial"/>
                          <a:ea typeface="Arial"/>
                          <a:cs typeface="Arial"/>
                        </a:rPr>
                        <a:t>1.18</a:t>
                      </a:r>
                    </a:p>
                  </a:txBody>
                  <a:tcPr marL="142875" marR="142875" marT="76200" marB="76200">
                    <a:solidFill>
                      <a:srgbClr val="FFFFFF"/>
                    </a:solidFill>
                  </a:tcPr>
                </a:tc>
                <a:tc>
                  <a:txBody>
                    <a:bodyPr/>
                    <a:lstStyle/>
                    <a:p>
                      <a:r>
                        <a:rPr sz="1950">
                          <a:solidFill>
                            <a:srgbClr val="132A39"/>
                          </a:solidFill>
                          <a:latin typeface="Arial"/>
                          <a:ea typeface="Arial"/>
                          <a:cs typeface="Arial"/>
                        </a:rPr>
                        <a:t>0.61</a:t>
                      </a:r>
                    </a:p>
                  </a:txBody>
                  <a:tcPr marL="142875" marR="142875" marT="76200" marB="76200">
                    <a:solidFill>
                      <a:srgbClr val="FFFFFF"/>
                    </a:solidFill>
                  </a:tcPr>
                </a:tc>
              </a:tr>
              <a:tr h="571500">
                <a:tc>
                  <a:txBody>
                    <a:bodyPr/>
                    <a:lstStyle/>
                    <a:p>
                      <a:r>
                        <a:rPr sz="1950">
                          <a:solidFill>
                            <a:srgbClr val="132A39"/>
                          </a:solidFill>
                          <a:latin typeface="Arial"/>
                          <a:ea typeface="Arial"/>
                          <a:cs typeface="Arial"/>
                        </a:rPr>
                        <a:t>Optimization</a:t>
                      </a:r>
                    </a:p>
                  </a:txBody>
                  <a:tcPr marL="142875" marR="142875" marT="76200" marB="76200">
                    <a:solidFill>
                      <a:srgbClr val="FFFFFF"/>
                    </a:solidFill>
                  </a:tcPr>
                </a:tc>
                <a:tc>
                  <a:txBody>
                    <a:bodyPr/>
                    <a:lstStyle/>
                    <a:p>
                      <a:r>
                        <a:rPr sz="1950">
                          <a:solidFill>
                            <a:srgbClr val="132A39"/>
                          </a:solidFill>
                          <a:latin typeface="Arial"/>
                          <a:ea typeface="Arial"/>
                          <a:cs typeface="Arial"/>
                        </a:rPr>
                        <a:t>1.11</a:t>
                      </a:r>
                    </a:p>
                  </a:txBody>
                  <a:tcPr marL="142875" marR="142875" marT="76200" marB="76200">
                    <a:solidFill>
                      <a:srgbClr val="FFFFFF"/>
                    </a:solidFill>
                  </a:tcPr>
                </a:tc>
                <a:tc>
                  <a:txBody>
                    <a:bodyPr/>
                    <a:lstStyle/>
                    <a:p>
                      <a:r>
                        <a:rPr sz="1950">
                          <a:solidFill>
                            <a:srgbClr val="132A39"/>
                          </a:solidFill>
                          <a:latin typeface="Arial"/>
                          <a:ea typeface="Arial"/>
                          <a:cs typeface="Arial"/>
                        </a:rPr>
                        <a:t>0.70</a:t>
                      </a:r>
                    </a:p>
                  </a:txBody>
                  <a:tcPr marL="142875" marR="142875" marT="76200" marB="76200">
                    <a:solidFill>
                      <a:srgbClr val="FFFFFF"/>
                    </a:solidFill>
                  </a:tcPr>
                </a:tc>
              </a:tr>
              <a:tr h="571500">
                <a:tc>
                  <a:txBody>
                    <a:bodyPr/>
                    <a:lstStyle/>
                    <a:p>
                      <a:r>
                        <a:rPr sz="1950">
                          <a:solidFill>
                            <a:srgbClr val="132A39"/>
                          </a:solidFill>
                          <a:latin typeface="Arial"/>
                          <a:ea typeface="Arial"/>
                          <a:cs typeface="Arial"/>
                        </a:rPr>
                        <a:t>Swapping</a:t>
                      </a:r>
                    </a:p>
                  </a:txBody>
                  <a:tcPr marL="142875" marR="142875" marT="76200" marB="76200">
                    <a:solidFill>
                      <a:srgbClr val="FFFFFF"/>
                    </a:solidFill>
                  </a:tcPr>
                </a:tc>
                <a:tc>
                  <a:txBody>
                    <a:bodyPr/>
                    <a:lstStyle/>
                    <a:p>
                      <a:r>
                        <a:rPr sz="1950">
                          <a:solidFill>
                            <a:srgbClr val="132A39"/>
                          </a:solidFill>
                          <a:latin typeface="Arial"/>
                          <a:ea typeface="Arial"/>
                          <a:cs typeface="Arial"/>
                        </a:rPr>
                        <a:t>1.16</a:t>
                      </a:r>
                    </a:p>
                  </a:txBody>
                  <a:tcPr marL="142875" marR="142875" marT="76200" marB="76200">
                    <a:solidFill>
                      <a:srgbClr val="FFFFFF"/>
                    </a:solidFill>
                  </a:tcPr>
                </a:tc>
                <a:tc>
                  <a:txBody>
                    <a:bodyPr/>
                    <a:lstStyle/>
                    <a:p>
                      <a:r>
                        <a:rPr sz="1950">
                          <a:solidFill>
                            <a:srgbClr val="132A39"/>
                          </a:solidFill>
                          <a:latin typeface="Arial"/>
                          <a:ea typeface="Arial"/>
                          <a:cs typeface="Arial"/>
                        </a:rPr>
                        <a:t>0.65</a:t>
                      </a:r>
                    </a:p>
                  </a:txBody>
                  <a:tcPr marL="142875" marR="142875" marT="76200" marB="7620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0E2762A5-2D7D-407F-8BAA-0D0F9BA98F29}"/>
              </a:ext>
            </a:extLst>
          </p:cNvPr>
          <p:cNvSpPr>
            <a:spLocks xmlns:a="http://schemas.openxmlformats.org/drawingml/2006/main" noGrp="1"/>
          </p:cNvSpPr>
          <p:nvPr/>
        </p:nvSpPr>
        <p:spPr>
          <a:xfrm xmlns:a="http://schemas.openxmlformats.org/drawingml/2006/main">
            <a:off x="685800" y="5381625"/>
            <a:ext cx="10820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1">
                <a:solidFill>
                  <a:srgbClr val="007C78"/>
                </a:solidFill>
                <a:latin typeface="Arial"/>
                <a:ea typeface="Arial"/>
                <a:cs typeface="Arial"/>
              </a:defRPr>
            </a:pPr>
            <a:r>
              <a:rPr sz="2400" b="1">
                <a:solidFill>
                  <a:srgbClr val="007C78"/>
                </a:solidFill>
                <a:latin typeface="Arial"/>
                <a:ea typeface="Arial"/>
                <a:cs typeface="Arial"/>
              </a:rPr>
              <a:t>All combined estimates remain below 1</a:t>
            </a:r>
          </a:p>
        </p:txBody>
      </p:sp>
      <p:sp>
        <p:nvSpPr>
          <p:cNvPr id="6" name="">
            <a:extLst xmlns:a="http://schemas.openxmlformats.org/drawingml/2006/main">
              <a:ext uri="{FF2B5EF4-FFF2-40B4-BE49-F238E27FC236}">
                <a16:creationId xmlns:a16="http://schemas.microsoft.com/office/drawing/2014/main" id="{09E438A8-5123-4EF5-B702-2B6820E1F68A}"/>
              </a:ext>
            </a:extLst>
          </p:cNvPr>
          <p:cNvSpPr>
            <a:spLocks xmlns:a="http://schemas.openxmlformats.org/drawingml/2006/main" noGrp="1"/>
          </p:cNvSpPr>
          <p:nvPr/>
        </p:nvSpPr>
        <p:spPr>
          <a:xfrm xmlns:a="http://schemas.openxmlformats.org/drawingml/2006/main">
            <a:off x="685800" y="5962650"/>
            <a:ext cx="108204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b="0">
                <a:solidFill>
                  <a:srgbClr val="566774"/>
                </a:solidFill>
                <a:latin typeface="Arial"/>
                <a:ea typeface="Arial"/>
                <a:cs typeface="Arial"/>
              </a:defRPr>
            </a:pPr>
            <a:r>
              <a:rPr sz="1575" b="0">
                <a:solidFill>
                  <a:srgbClr val="566774"/>
                </a:solidFill>
                <a:latin typeface="Arial"/>
                <a:ea typeface="Arial"/>
                <a:cs typeface="Arial"/>
              </a:rPr>
              <a:t>Relative to the joint reference in each model. IRR compares expected exposed-record counts.</a:t>
            </a:r>
          </a:p>
        </p:txBody>
      </p:sp>
    </p:spTree>
    <p:extLst>
      <p:ext uri="{BB962C8B-B14F-4D97-AF65-F5344CB8AC3E}">
        <p14:creationId xmlns:p14="http://schemas.microsoft.com/office/powerpoint/2010/main" val="78956005"/>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0573C0C-9A56-43DF-9BD9-71D3B3BD9680}"/>
              </a:ext>
            </a:extLst>
          </p:cNvPr>
          <p:cNvSpPr>
            <a:spLocks xmlns:a="http://schemas.openxmlformats.org/drawingml/2006/main" noGrp="1"/>
          </p:cNvSpPr>
          <p:nvPr/>
        </p:nvSpPr>
        <p:spPr>
          <a:xfrm xmlns:a="http://schemas.openxmlformats.org/drawingml/2006/main">
            <a:off x="685800" y="457200"/>
            <a:ext cx="108204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150" b="1">
                <a:solidFill>
                  <a:srgbClr val="132A39"/>
                </a:solidFill>
                <a:latin typeface="Arial"/>
                <a:ea typeface="Arial"/>
                <a:cs typeface="Arial"/>
              </a:defRPr>
            </a:pPr>
            <a:r>
              <a:rPr sz="3150" b="1">
                <a:solidFill>
                  <a:srgbClr val="132A39"/>
                </a:solidFill>
                <a:latin typeface="Arial"/>
                <a:ea typeface="Arial"/>
                <a:cs typeface="Arial"/>
              </a:rPr>
              <a:t>What this evidence can support</a:t>
            </a:r>
          </a:p>
        </p:txBody>
      </p:sp>
      <p:sp>
        <p:nvSpPr>
          <p:cNvPr id="2" name="">
            <a:extLst xmlns:a="http://schemas.openxmlformats.org/drawingml/2006/main">
              <a:ext uri="{FF2B5EF4-FFF2-40B4-BE49-F238E27FC236}">
                <a16:creationId xmlns:a16="http://schemas.microsoft.com/office/drawing/2014/main" id="{84060243-C0C5-4F19-B53F-3BE18725D3DA}"/>
              </a:ext>
            </a:extLst>
          </p:cNvPr>
          <p:cNvSpPr>
            <a:spLocks xmlns:a="http://schemas.openxmlformats.org/drawingml/2006/main" noGrp="1"/>
          </p:cNvSpPr>
          <p:nvPr/>
        </p:nvSpPr>
        <p:spPr>
          <a:xfrm xmlns:a="http://schemas.openxmlformats.org/drawingml/2006/main">
            <a:off x="11087100" y="6353175"/>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566774"/>
                </a:solidFill>
                <a:latin typeface="Arial"/>
                <a:ea typeface="Arial"/>
                <a:cs typeface="Arial"/>
              </a:defRPr>
            </a:pPr>
            <a:r>
              <a:rPr sz="1200" b="0">
                <a:solidFill>
                  <a:srgbClr val="566774"/>
                </a:solidFill>
                <a:latin typeface="Arial"/>
                <a:ea typeface="Arial"/>
                <a:cs typeface="Arial"/>
              </a:rPr>
              <a:t>11</a:t>
            </a:r>
          </a:p>
        </p:txBody>
      </p:sp>
      <p:sp>
        <p:nvSpPr>
          <p:cNvPr id="3" name="">
            <a:extLst xmlns:a="http://schemas.openxmlformats.org/drawingml/2006/main">
              <a:ext uri="{FF2B5EF4-FFF2-40B4-BE49-F238E27FC236}">
                <a16:creationId xmlns:a16="http://schemas.microsoft.com/office/drawing/2014/main" id="{85A9694A-00A2-4818-8337-EB25DAF6E23F}"/>
              </a:ext>
            </a:extLst>
          </p:cNvPr>
          <p:cNvSpPr>
            <a:spLocks xmlns:a="http://schemas.openxmlformats.org/drawingml/2006/main" noGrp="1"/>
          </p:cNvSpPr>
          <p:nvPr/>
        </p:nvSpPr>
        <p:spPr>
          <a:xfrm xmlns:a="http://schemas.openxmlformats.org/drawingml/2006/main">
            <a:off x="685800" y="1752600"/>
            <a:ext cx="50101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007C78"/>
                </a:solidFill>
                <a:latin typeface="Arial"/>
                <a:ea typeface="Arial"/>
                <a:cs typeface="Arial"/>
              </a:defRPr>
            </a:pPr>
            <a:r>
              <a:rPr sz="2775" b="1">
                <a:solidFill>
                  <a:srgbClr val="007C78"/>
                </a:solidFill>
                <a:latin typeface="Arial"/>
                <a:ea typeface="Arial"/>
                <a:cs typeface="Arial"/>
              </a:rPr>
              <a:t>Patterns worth testing</a:t>
            </a:r>
          </a:p>
        </p:txBody>
      </p:sp>
      <p:sp>
        <p:nvSpPr>
          <p:cNvPr id="4" name="">
            <a:extLst xmlns:a="http://schemas.openxmlformats.org/drawingml/2006/main">
              <a:ext uri="{FF2B5EF4-FFF2-40B4-BE49-F238E27FC236}">
                <a16:creationId xmlns:a16="http://schemas.microsoft.com/office/drawing/2014/main" id="{C25BFE29-B56E-47E8-8BAC-FC27E851E495}"/>
              </a:ext>
            </a:extLst>
          </p:cNvPr>
          <p:cNvSpPr>
            <a:spLocks xmlns:a="http://schemas.openxmlformats.org/drawingml/2006/main" noGrp="1"/>
          </p:cNvSpPr>
          <p:nvPr/>
        </p:nvSpPr>
        <p:spPr>
          <a:xfrm xmlns:a="http://schemas.openxmlformats.org/drawingml/2006/main">
            <a:off x="685800" y="2676525"/>
            <a:ext cx="5010150" cy="1543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32A39"/>
                </a:solidFill>
                <a:latin typeface="Arial"/>
                <a:ea typeface="Arial"/>
                <a:cs typeface="Arial"/>
              </a:defRPr>
            </a:pPr>
            <a:r>
              <a:rPr sz="2250" b="0">
                <a:solidFill>
                  <a:srgbClr val="132A39"/>
                </a:solidFill>
                <a:latin typeface="Arial"/>
                <a:ea typeface="Arial"/>
                <a:cs typeface="Arial"/>
              </a:rPr>
              <a:t>Strategy features align with outcomes.</a:t>
            </a:r>
          </a:p>
          <a:p xmlns:a="http://schemas.openxmlformats.org/drawingml/2006/main">
            <a:pPr>
              <a:defRPr sz="2250" b="0">
                <a:solidFill>
                  <a:srgbClr val="132A39"/>
                </a:solidFill>
                <a:latin typeface="Arial"/>
                <a:ea typeface="Arial"/>
                <a:cs typeface="Arial"/>
              </a:defRPr>
            </a:pPr>
            <a:r>
              <a:rPr sz="2250" b="0">
                <a:solidFill>
                  <a:srgbClr val="132A39"/>
                </a:solidFill>
                <a:latin typeface="Arial"/>
                <a:ea typeface="Arial"/>
                <a:cs typeface="Arial"/>
              </a:rPr>
              <a:t>Several associations remain visible</a:t>
            </a:r>
          </a:p>
          <a:p xmlns:a="http://schemas.openxmlformats.org/drawingml/2006/main">
            <a:pPr>
              <a:defRPr sz="2250" b="0">
                <a:solidFill>
                  <a:srgbClr val="132A39"/>
                </a:solidFill>
                <a:latin typeface="Arial"/>
                <a:ea typeface="Arial"/>
                <a:cs typeface="Arial"/>
              </a:defRPr>
            </a:pPr>
            <a:r>
              <a:rPr sz="2250" b="0">
                <a:solidFill>
                  <a:srgbClr val="132A39"/>
                </a:solidFill>
                <a:latin typeface="Arial"/>
                <a:ea typeface="Arial"/>
                <a:cs typeface="Arial"/>
              </a:rPr>
              <a:t>in parsimonious models.</a:t>
            </a:r>
          </a:p>
        </p:txBody>
      </p:sp>
      <p:sp>
        <p:nvSpPr>
          <p:cNvPr id="5" name="">
            <a:extLst xmlns:a="http://schemas.openxmlformats.org/drawingml/2006/main">
              <a:ext uri="{FF2B5EF4-FFF2-40B4-BE49-F238E27FC236}">
                <a16:creationId xmlns:a16="http://schemas.microsoft.com/office/drawing/2014/main" id="{46D027D6-27CD-4D83-ADB9-A6F079DCDCC2}"/>
              </a:ext>
            </a:extLst>
          </p:cNvPr>
          <p:cNvSpPr>
            <a:spLocks xmlns:a="http://schemas.openxmlformats.org/drawingml/2006/main" noGrp="1"/>
          </p:cNvSpPr>
          <p:nvPr/>
        </p:nvSpPr>
        <p:spPr>
          <a:xfrm xmlns:a="http://schemas.openxmlformats.org/drawingml/2006/main">
            <a:off x="6667500" y="1752600"/>
            <a:ext cx="48387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C15F33"/>
                </a:solidFill>
                <a:latin typeface="Arial"/>
                <a:ea typeface="Arial"/>
                <a:cs typeface="Arial"/>
              </a:defRPr>
            </a:pPr>
            <a:r>
              <a:rPr sz="2775" b="1">
                <a:solidFill>
                  <a:srgbClr val="C15F33"/>
                </a:solidFill>
                <a:latin typeface="Arial"/>
                <a:ea typeface="Arial"/>
                <a:cs typeface="Arial"/>
              </a:rPr>
              <a:t>Questions still open</a:t>
            </a:r>
          </a:p>
        </p:txBody>
      </p:sp>
      <p:sp>
        <p:nvSpPr>
          <p:cNvPr id="6" name="">
            <a:extLst xmlns:a="http://schemas.openxmlformats.org/drawingml/2006/main">
              <a:ext uri="{FF2B5EF4-FFF2-40B4-BE49-F238E27FC236}">
                <a16:creationId xmlns:a16="http://schemas.microsoft.com/office/drawing/2014/main" id="{F53D10A9-2956-47B3-BD9F-04CF88465B07}"/>
              </a:ext>
            </a:extLst>
          </p:cNvPr>
          <p:cNvSpPr>
            <a:spLocks xmlns:a="http://schemas.openxmlformats.org/drawingml/2006/main" noGrp="1"/>
          </p:cNvSpPr>
          <p:nvPr/>
        </p:nvSpPr>
        <p:spPr>
          <a:xfrm xmlns:a="http://schemas.openxmlformats.org/drawingml/2006/main">
            <a:off x="6667500" y="2676525"/>
            <a:ext cx="483870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32A39"/>
                </a:solidFill>
                <a:latin typeface="Arial"/>
                <a:ea typeface="Arial"/>
                <a:cs typeface="Arial"/>
              </a:defRPr>
            </a:pPr>
            <a:r>
              <a:rPr sz="2250" b="0">
                <a:solidFill>
                  <a:srgbClr val="132A39"/>
                </a:solidFill>
                <a:latin typeface="Arial"/>
                <a:ea typeface="Arial"/>
                <a:cs typeface="Arial"/>
              </a:rPr>
              <a:t>Did the strategy cause the outcome?</a:t>
            </a:r>
          </a:p>
          <a:p xmlns:a="http://schemas.openxmlformats.org/drawingml/2006/main">
            <a:pPr>
              <a:defRPr sz="2250" b="0">
                <a:solidFill>
                  <a:srgbClr val="132A39"/>
                </a:solidFill>
                <a:latin typeface="Arial"/>
                <a:ea typeface="Arial"/>
                <a:cs typeface="Arial"/>
              </a:defRPr>
            </a:pPr>
            <a:r>
              <a:rPr sz="2250" b="0">
                <a:solidFill>
                  <a:srgbClr val="132A39"/>
                </a:solidFill>
                <a:latin typeface="Arial"/>
                <a:ea typeface="Arial"/>
                <a:cs typeface="Arial"/>
              </a:rPr>
              <a:t>Was the implementation reconstructed correctly?</a:t>
            </a:r>
          </a:p>
          <a:p xmlns:a="http://schemas.openxmlformats.org/drawingml/2006/main">
            <a:pPr>
              <a:defRPr sz="2250" b="0">
                <a:solidFill>
                  <a:srgbClr val="132A39"/>
                </a:solidFill>
                <a:latin typeface="Arial"/>
                <a:ea typeface="Arial"/>
                <a:cs typeface="Arial"/>
              </a:defRPr>
            </a:pPr>
            <a:r>
              <a:rPr sz="2250" b="0">
                <a:solidFill>
                  <a:srgbClr val="132A39"/>
                </a:solidFill>
                <a:latin typeface="Arial"/>
                <a:ea typeface="Arial"/>
                <a:cs typeface="Arial"/>
              </a:rPr>
              <a:t>Would the result transfer to another setting?</a:t>
            </a:r>
          </a:p>
        </p:txBody>
      </p:sp>
      <p:sp>
        <p:nvSpPr>
          <p:cNvPr id="7" name="">
            <a:extLst xmlns:a="http://schemas.openxmlformats.org/drawingml/2006/main">
              <a:ext uri="{FF2B5EF4-FFF2-40B4-BE49-F238E27FC236}">
                <a16:creationId xmlns:a16="http://schemas.microsoft.com/office/drawing/2014/main" id="{1756B766-9FEA-4A00-A6AC-90E6813DAEA6}"/>
              </a:ext>
            </a:extLst>
          </p:cNvPr>
          <p:cNvSpPr>
            <a:spLocks xmlns:a="http://schemas.openxmlformats.org/drawingml/2006/main" noGrp="1"/>
          </p:cNvSpPr>
          <p:nvPr/>
        </p:nvSpPr>
        <p:spPr>
          <a:xfrm xmlns:a="http://schemas.openxmlformats.org/drawingml/2006/main">
            <a:off x="685800" y="5562600"/>
            <a:ext cx="10820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566774"/>
                </a:solidFill>
                <a:latin typeface="Arial"/>
                <a:ea typeface="Arial"/>
                <a:cs typeface="Arial"/>
              </a:defRPr>
            </a:pPr>
            <a:r>
              <a:rPr sz="2025" b="0">
                <a:solidFill>
                  <a:srgbClr val="566774"/>
                </a:solidFill>
                <a:latin typeface="Arial"/>
                <a:ea typeface="Arial"/>
                <a:cs typeface="Arial"/>
              </a:rPr>
              <a:t>20 teams, correlated choices, and descriptions reconstructed without most source code</a:t>
            </a:r>
          </a:p>
        </p:txBody>
      </p:sp>
    </p:spTree>
    <p:extLst>
      <p:ext uri="{BB962C8B-B14F-4D97-AF65-F5344CB8AC3E}">
        <p14:creationId xmlns:p14="http://schemas.microsoft.com/office/powerpoint/2010/main" val="984295679"/>
      </p:ext>
    </p:extLst>
  </p:cSld>
</p:sld>
</file>

<file path=ppt/slides/slide12.xml><?xml version="1.0" encoding="utf-8"?>
<p:sld xmlns:p="http://schemas.openxmlformats.org/presentationml/2006/main">
  <p:cSld>
    <p:bg>
      <p:bgPr>
        <a:solidFill xmlns:a="http://schemas.openxmlformats.org/drawingml/2006/main">
          <a:srgbClr val="132A39"/>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2005409-B1B5-4A98-B967-27C6F4ED28C8}"/>
              </a:ext>
            </a:extLst>
          </p:cNvPr>
          <p:cNvSpPr>
            <a:spLocks xmlns:a="http://schemas.openxmlformats.org/drawingml/2006/main" noGrp="1"/>
          </p:cNvSpPr>
          <p:nvPr/>
        </p:nvSpPr>
        <p:spPr>
          <a:xfrm xmlns:a="http://schemas.openxmlformats.org/drawingml/2006/main">
            <a:off x="11087100" y="6353175"/>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DCE7E8"/>
                </a:solidFill>
                <a:latin typeface="Arial"/>
                <a:ea typeface="Arial"/>
                <a:cs typeface="Arial"/>
              </a:defRPr>
            </a:pPr>
            <a:r>
              <a:rPr sz="1200" b="0">
                <a:solidFill>
                  <a:srgbClr val="DCE7E8"/>
                </a:solidFill>
                <a:latin typeface="Arial"/>
                <a:ea typeface="Arial"/>
                <a:cs typeface="Arial"/>
              </a:rPr>
              <a:t>12</a:t>
            </a:r>
          </a:p>
        </p:txBody>
      </p:sp>
      <p:sp>
        <p:nvSpPr>
          <p:cNvPr id="2" name="">
            <a:extLst xmlns:a="http://schemas.openxmlformats.org/drawingml/2006/main">
              <a:ext uri="{FF2B5EF4-FFF2-40B4-BE49-F238E27FC236}">
                <a16:creationId xmlns:a16="http://schemas.microsoft.com/office/drawing/2014/main" id="{524845A2-B038-49B6-AB8B-67F6AAB8AB73}"/>
              </a:ext>
            </a:extLst>
          </p:cNvPr>
          <p:cNvSpPr>
            <a:spLocks xmlns:a="http://schemas.openxmlformats.org/drawingml/2006/main" noGrp="1"/>
          </p:cNvSpPr>
          <p:nvPr/>
        </p:nvSpPr>
        <p:spPr>
          <a:xfrm xmlns:a="http://schemas.openxmlformats.org/drawingml/2006/main">
            <a:off x="685800" y="1285875"/>
            <a:ext cx="10820400" cy="1581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350" b="1">
                <a:solidFill>
                  <a:srgbClr val="FFFFFF"/>
                </a:solidFill>
                <a:latin typeface="Arial"/>
                <a:ea typeface="Arial"/>
                <a:cs typeface="Arial"/>
              </a:defRPr>
            </a:pPr>
            <a:r>
              <a:rPr sz="4350" b="1">
                <a:solidFill>
                  <a:srgbClr val="FFFFFF"/>
                </a:solidFill>
                <a:latin typeface="Arial"/>
                <a:ea typeface="Arial"/>
                <a:cs typeface="Arial"/>
              </a:rPr>
              <a:t>Coarse descriptions can reveal</a:t>
            </a:r>
          </a:p>
          <a:p xmlns:a="http://schemas.openxmlformats.org/drawingml/2006/main">
            <a:pPr>
              <a:defRPr sz="4350" b="1">
                <a:solidFill>
                  <a:srgbClr val="FFFFFF"/>
                </a:solidFill>
                <a:latin typeface="Arial"/>
                <a:ea typeface="Arial"/>
                <a:cs typeface="Arial"/>
              </a:defRPr>
            </a:pPr>
            <a:r>
              <a:rPr sz="4350" b="1">
                <a:solidFill>
                  <a:srgbClr val="FFFFFF"/>
                </a:solidFill>
                <a:latin typeface="Arial"/>
                <a:ea typeface="Arial"/>
                <a:cs typeface="Arial"/>
              </a:rPr>
              <a:t>patterns worth testing</a:t>
            </a:r>
          </a:p>
        </p:txBody>
      </p:sp>
      <p:sp>
        <p:nvSpPr>
          <p:cNvPr id="3" name="">
            <a:extLst xmlns:a="http://schemas.openxmlformats.org/drawingml/2006/main">
              <a:ext uri="{FF2B5EF4-FFF2-40B4-BE49-F238E27FC236}">
                <a16:creationId xmlns:a16="http://schemas.microsoft.com/office/drawing/2014/main" id="{CC3C967F-A86C-4E41-9B8A-1B718C624BFC}"/>
              </a:ext>
            </a:extLst>
          </p:cNvPr>
          <p:cNvSpPr>
            <a:spLocks xmlns:a="http://schemas.openxmlformats.org/drawingml/2006/main" noGrp="1"/>
          </p:cNvSpPr>
          <p:nvPr/>
        </p:nvSpPr>
        <p:spPr>
          <a:xfrm xmlns:a="http://schemas.openxmlformats.org/drawingml/2006/main">
            <a:off x="723900" y="3314700"/>
            <a:ext cx="104775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75" b="0">
                <a:solidFill>
                  <a:srgbClr val="DCE7E8"/>
                </a:solidFill>
                <a:latin typeface="Arial"/>
                <a:ea typeface="Arial"/>
                <a:cs typeface="Arial"/>
              </a:defRPr>
            </a:pPr>
            <a:r>
              <a:rPr sz="2475" b="0">
                <a:solidFill>
                  <a:srgbClr val="DCE7E8"/>
                </a:solidFill>
                <a:latin typeface="Arial"/>
                <a:ea typeface="Arial"/>
                <a:cs typeface="Arial"/>
              </a:rPr>
              <a:t>PWS Cup 2025 provides exploratory evidence</a:t>
            </a:r>
          </a:p>
          <a:p xmlns:a="http://schemas.openxmlformats.org/drawingml/2006/main">
            <a:pPr>
              <a:defRPr sz="2475" b="0">
                <a:solidFill>
                  <a:srgbClr val="DCE7E8"/>
                </a:solidFill>
                <a:latin typeface="Arial"/>
                <a:ea typeface="Arial"/>
                <a:cs typeface="Arial"/>
              </a:defRPr>
            </a:pPr>
            <a:r>
              <a:rPr sz="2475" b="0">
                <a:solidFill>
                  <a:srgbClr val="DCE7E8"/>
                </a:solidFill>
                <a:latin typeface="Arial"/>
                <a:ea typeface="Arial"/>
                <a:cs typeface="Arial"/>
              </a:rPr>
              <a:t>linking strategy choices to observed outcomes.</a:t>
            </a:r>
          </a:p>
        </p:txBody>
      </p:sp>
      <p:sp>
        <p:nvSpPr>
          <p:cNvPr id="4" name="">
            <a:extLst xmlns:a="http://schemas.openxmlformats.org/drawingml/2006/main">
              <a:ext uri="{FF2B5EF4-FFF2-40B4-BE49-F238E27FC236}">
                <a16:creationId xmlns:a16="http://schemas.microsoft.com/office/drawing/2014/main" id="{D9B9EB9E-6E37-4F54-A829-C3AAC919150E}"/>
              </a:ext>
            </a:extLst>
          </p:cNvPr>
          <p:cNvSpPr>
            <a:spLocks xmlns:a="http://schemas.openxmlformats.org/drawingml/2006/main" noGrp="1"/>
          </p:cNvSpPr>
          <p:nvPr/>
        </p:nvSpPr>
        <p:spPr>
          <a:xfrm xmlns:a="http://schemas.openxmlformats.org/drawingml/2006/main">
            <a:off x="723900" y="4981575"/>
            <a:ext cx="10477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DCE7E8"/>
                </a:solidFill>
                <a:latin typeface="Arial"/>
                <a:ea typeface="Arial"/>
                <a:cs typeface="Arial"/>
              </a:defRPr>
            </a:pPr>
            <a:r>
              <a:rPr sz="1875" b="0">
                <a:solidFill>
                  <a:srgbClr val="DCE7E8"/>
                </a:solidFill>
                <a:latin typeface="Arial"/>
                <a:ea typeface="Arial"/>
                <a:cs typeface="Arial"/>
              </a:rPr>
              <a:t>Next competition</a:t>
            </a:r>
          </a:p>
        </p:txBody>
      </p:sp>
      <p:sp>
        <p:nvSpPr>
          <p:cNvPr id="5" name="">
            <a:extLst xmlns:a="http://schemas.openxmlformats.org/drawingml/2006/main">
              <a:ext uri="{FF2B5EF4-FFF2-40B4-BE49-F238E27FC236}">
                <a16:creationId xmlns:a16="http://schemas.microsoft.com/office/drawing/2014/main" id="{584D4961-6162-4206-B7CE-1E8C310489BF}"/>
              </a:ext>
            </a:extLst>
          </p:cNvPr>
          <p:cNvSpPr>
            <a:spLocks xmlns:a="http://schemas.openxmlformats.org/drawingml/2006/main" noGrp="1"/>
          </p:cNvSpPr>
          <p:nvPr/>
        </p:nvSpPr>
        <p:spPr>
          <a:xfrm xmlns:a="http://schemas.openxmlformats.org/drawingml/2006/main">
            <a:off x="723900" y="5476875"/>
            <a:ext cx="10477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1">
                <a:solidFill>
                  <a:srgbClr val="FFFFFF"/>
                </a:solidFill>
                <a:latin typeface="Arial"/>
                <a:ea typeface="Arial"/>
                <a:cs typeface="Arial"/>
              </a:defRPr>
            </a:pPr>
            <a:r>
              <a:rPr sz="2550" b="1">
                <a:solidFill>
                  <a:srgbClr val="FFFFFF"/>
                </a:solidFill>
                <a:latin typeface="Arial"/>
                <a:ea typeface="Arial"/>
                <a:cs typeface="Arial"/>
              </a:rPr>
              <a:t>Collect strategy information with a common checklist</a:t>
            </a:r>
          </a:p>
        </p:txBody>
      </p:sp>
    </p:spTree>
    <p:extLst>
      <p:ext uri="{BB962C8B-B14F-4D97-AF65-F5344CB8AC3E}">
        <p14:creationId xmlns:p14="http://schemas.microsoft.com/office/powerpoint/2010/main" val="1392902105"/>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8B175FC-4212-4AA4-996B-0F8B40CC27E2}"/>
              </a:ext>
            </a:extLst>
          </p:cNvPr>
          <p:cNvSpPr>
            <a:spLocks xmlns:a="http://schemas.openxmlformats.org/drawingml/2006/main" noGrp="1"/>
          </p:cNvSpPr>
          <p:nvPr/>
        </p:nvSpPr>
        <p:spPr>
          <a:xfrm xmlns:a="http://schemas.openxmlformats.org/drawingml/2006/main">
            <a:off x="685800" y="457200"/>
            <a:ext cx="108204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150" b="1">
                <a:solidFill>
                  <a:srgbClr val="132A39"/>
                </a:solidFill>
                <a:latin typeface="Arial"/>
                <a:ea typeface="Arial"/>
                <a:cs typeface="Arial"/>
              </a:defRPr>
            </a:pPr>
            <a:r>
              <a:rPr sz="3150" b="1">
                <a:solidFill>
                  <a:srgbClr val="132A39"/>
                </a:solidFill>
                <a:latin typeface="Arial"/>
                <a:ea typeface="Arial"/>
                <a:cs typeface="Arial"/>
              </a:rPr>
              <a:t>Appendix: H1 effect sizes</a:t>
            </a:r>
          </a:p>
        </p:txBody>
      </p:sp>
      <p:sp>
        <p:nvSpPr>
          <p:cNvPr id="2" name="">
            <a:extLst xmlns:a="http://schemas.openxmlformats.org/drawingml/2006/main">
              <a:ext uri="{FF2B5EF4-FFF2-40B4-BE49-F238E27FC236}">
                <a16:creationId xmlns:a16="http://schemas.microsoft.com/office/drawing/2014/main" id="{7AFCB8C6-FED8-4704-B435-8017332F8886}"/>
              </a:ext>
            </a:extLst>
          </p:cNvPr>
          <p:cNvSpPr>
            <a:spLocks xmlns:a="http://schemas.openxmlformats.org/drawingml/2006/main" noGrp="1"/>
          </p:cNvSpPr>
          <p:nvPr/>
        </p:nvSpPr>
        <p:spPr>
          <a:xfrm xmlns:a="http://schemas.openxmlformats.org/drawingml/2006/main">
            <a:off x="11087100" y="6353175"/>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566774"/>
                </a:solidFill>
                <a:latin typeface="Arial"/>
                <a:ea typeface="Arial"/>
                <a:cs typeface="Arial"/>
              </a:defRPr>
            </a:pPr>
            <a:r>
              <a:rPr sz="1200" b="0">
                <a:solidFill>
                  <a:srgbClr val="566774"/>
                </a:solidFill>
                <a:latin typeface="Arial"/>
                <a:ea typeface="Arial"/>
                <a:cs typeface="Arial"/>
              </a:rPr>
              <a:t>13</a:t>
            </a:r>
          </a:p>
        </p:txBody>
      </p:sp>
      <p:graphicFrame>
        <p:nvGraphicFramePr>
          <p:cNvPr id="8" name=""/>
          <p:cNvGraphicFramePr/>
          <p:nvPr/>
        </p:nvGraphicFramePr>
        <p:xfrm>
          <a:off xmlns:a="http://schemas.openxmlformats.org/drawingml/2006/main" x="685800" y="1638300"/>
          <a:ext xmlns:a="http://schemas.openxmlformats.org/drawingml/2006/main" cx="10820400" cy="3543300"/>
        </p:xfrm>
        <a:graphic xmlns:a="http://schemas.openxmlformats.org/drawingml/2006/main">
          <a:graphicData uri="http://schemas.openxmlformats.org/drawingml/2006/table">
            <a:tbl>
              <a:tblPr/>
              <a:tblGrid>
                <a:gridCol w="5391150"/>
                <a:gridCol w="2714625"/>
                <a:gridCol w="2714625"/>
              </a:tblGrid>
              <a:tr h="590550">
                <a:tc>
                  <a:txBody>
                    <a:bodyPr/>
                    <a:lstStyle/>
                    <a:p>
                      <a:r>
                        <a:rPr sz="1950" b="1">
                          <a:solidFill>
                            <a:srgbClr val="132A39"/>
                          </a:solidFill>
                          <a:latin typeface="Arial"/>
                          <a:ea typeface="Arial"/>
                          <a:cs typeface="Arial"/>
                        </a:rPr>
                        <a:t>Feature contrast</a:t>
                      </a:r>
                    </a:p>
                  </a:txBody>
                  <a:tcPr marL="142875" marR="142875" marT="76200" marB="76200">
                    <a:solidFill>
                      <a:srgbClr val="F0F5F5"/>
                    </a:solidFill>
                  </a:tcPr>
                </a:tc>
                <a:tc>
                  <a:txBody>
                    <a:bodyPr/>
                    <a:lstStyle/>
                    <a:p>
                      <a:r>
                        <a:rPr sz="1950" b="1">
                          <a:solidFill>
                            <a:srgbClr val="132A39"/>
                          </a:solidFill>
                          <a:latin typeface="Arial"/>
                          <a:ea typeface="Arial"/>
                          <a:cs typeface="Arial"/>
                        </a:rPr>
                        <a:t>Utility g</a:t>
                      </a:r>
                    </a:p>
                  </a:txBody>
                  <a:tcPr marL="142875" marR="142875" marT="76200" marB="76200">
                    <a:solidFill>
                      <a:srgbClr val="F0F5F5"/>
                    </a:solidFill>
                  </a:tcPr>
                </a:tc>
                <a:tc>
                  <a:txBody>
                    <a:bodyPr/>
                    <a:lstStyle/>
                    <a:p>
                      <a:r>
                        <a:rPr sz="1950" b="1">
                          <a:solidFill>
                            <a:srgbClr val="132A39"/>
                          </a:solidFill>
                          <a:latin typeface="Arial"/>
                          <a:ea typeface="Arial"/>
                          <a:cs typeface="Arial"/>
                        </a:rPr>
                        <a:t>Anonymization g</a:t>
                      </a:r>
                    </a:p>
                  </a:txBody>
                  <a:tcPr marL="142875" marR="142875" marT="76200" marB="76200">
                    <a:solidFill>
                      <a:srgbClr val="F0F5F5"/>
                    </a:solidFill>
                  </a:tcPr>
                </a:tc>
              </a:tr>
              <a:tr h="590550">
                <a:tc>
                  <a:txBody>
                    <a:bodyPr/>
                    <a:lstStyle/>
                    <a:p>
                      <a:r>
                        <a:rPr sz="1950">
                          <a:solidFill>
                            <a:srgbClr val="132A39"/>
                          </a:solidFill>
                          <a:latin typeface="Arial"/>
                          <a:ea typeface="Arial"/>
                          <a:cs typeface="Arial"/>
                        </a:rPr>
                        <a:t>Base: B to others</a:t>
                      </a:r>
                    </a:p>
                  </a:txBody>
                  <a:tcPr marL="142875" marR="142875" marT="76200" marB="76200">
                    <a:solidFill>
                      <a:srgbClr val="FFFFFF"/>
                    </a:solidFill>
                  </a:tcPr>
                </a:tc>
                <a:tc>
                  <a:txBody>
                    <a:bodyPr/>
                    <a:lstStyle/>
                    <a:p>
                      <a:r>
                        <a:rPr sz="1950">
                          <a:solidFill>
                            <a:srgbClr val="132A39"/>
                          </a:solidFill>
                          <a:latin typeface="Arial"/>
                          <a:ea typeface="Arial"/>
                          <a:cs typeface="Arial"/>
                        </a:rPr>
                        <a:t>1.55</a:t>
                      </a:r>
                    </a:p>
                  </a:txBody>
                  <a:tcPr marL="142875" marR="142875" marT="76200" marB="76200">
                    <a:solidFill>
                      <a:srgbClr val="FFFFFF"/>
                    </a:solidFill>
                  </a:tcPr>
                </a:tc>
                <a:tc>
                  <a:txBody>
                    <a:bodyPr/>
                    <a:lstStyle/>
                    <a:p>
                      <a:r>
                        <a:rPr sz="1950">
                          <a:solidFill>
                            <a:srgbClr val="132A39"/>
                          </a:solidFill>
                          <a:latin typeface="Arial"/>
                          <a:ea typeface="Arial"/>
                          <a:cs typeface="Arial"/>
                        </a:rPr>
                        <a:t>0.54</a:t>
                      </a:r>
                    </a:p>
                  </a:txBody>
                  <a:tcPr marL="142875" marR="142875" marT="76200" marB="76200">
                    <a:solidFill>
                      <a:srgbClr val="FFFFFF"/>
                    </a:solidFill>
                  </a:tcPr>
                </a:tc>
              </a:tr>
              <a:tr h="590550">
                <a:tc>
                  <a:txBody>
                    <a:bodyPr/>
                    <a:lstStyle/>
                    <a:p>
                      <a:r>
                        <a:rPr sz="1950">
                          <a:solidFill>
                            <a:srgbClr val="132A39"/>
                          </a:solidFill>
                          <a:latin typeface="Arial"/>
                          <a:ea typeface="Arial"/>
                          <a:cs typeface="Arial"/>
                        </a:rPr>
                        <a:t>Synthesis: no to yes</a:t>
                      </a:r>
                    </a:p>
                  </a:txBody>
                  <a:tcPr marL="142875" marR="142875" marT="76200" marB="76200">
                    <a:solidFill>
                      <a:srgbClr val="FFFFFF"/>
                    </a:solidFill>
                  </a:tcPr>
                </a:tc>
                <a:tc>
                  <a:txBody>
                    <a:bodyPr/>
                    <a:lstStyle/>
                    <a:p>
                      <a:r>
                        <a:rPr sz="1950">
                          <a:solidFill>
                            <a:srgbClr val="132A39"/>
                          </a:solidFill>
                          <a:latin typeface="Arial"/>
                          <a:ea typeface="Arial"/>
                          <a:cs typeface="Arial"/>
                        </a:rPr>
                        <a:t>1.26</a:t>
                      </a:r>
                    </a:p>
                  </a:txBody>
                  <a:tcPr marL="142875" marR="142875" marT="76200" marB="76200">
                    <a:solidFill>
                      <a:srgbClr val="FFFFFF"/>
                    </a:solidFill>
                  </a:tcPr>
                </a:tc>
                <a:tc>
                  <a:txBody>
                    <a:bodyPr/>
                    <a:lstStyle/>
                    <a:p>
                      <a:r>
                        <a:rPr sz="1950">
                          <a:solidFill>
                            <a:srgbClr val="132A39"/>
                          </a:solidFill>
                          <a:latin typeface="Arial"/>
                          <a:ea typeface="Arial"/>
                          <a:cs typeface="Arial"/>
                        </a:rPr>
                        <a:t>1.01</a:t>
                      </a:r>
                    </a:p>
                  </a:txBody>
                  <a:tcPr marL="142875" marR="142875" marT="76200" marB="76200">
                    <a:solidFill>
                      <a:srgbClr val="FFFFFF"/>
                    </a:solidFill>
                  </a:tcPr>
                </a:tc>
              </a:tr>
              <a:tr h="590550">
                <a:tc>
                  <a:txBody>
                    <a:bodyPr/>
                    <a:lstStyle/>
                    <a:p>
                      <a:r>
                        <a:rPr sz="1950">
                          <a:solidFill>
                            <a:srgbClr val="132A39"/>
                          </a:solidFill>
                          <a:latin typeface="Arial"/>
                          <a:ea typeface="Arial"/>
                          <a:cs typeface="Arial"/>
                        </a:rPr>
                        <a:t>Noise: no to yes</a:t>
                      </a:r>
                    </a:p>
                  </a:txBody>
                  <a:tcPr marL="142875" marR="142875" marT="76200" marB="76200">
                    <a:solidFill>
                      <a:srgbClr val="FFFFFF"/>
                    </a:solidFill>
                  </a:tcPr>
                </a:tc>
                <a:tc>
                  <a:txBody>
                    <a:bodyPr/>
                    <a:lstStyle/>
                    <a:p>
                      <a:r>
                        <a:rPr sz="1950">
                          <a:solidFill>
                            <a:srgbClr val="132A39"/>
                          </a:solidFill>
                          <a:latin typeface="Arial"/>
                          <a:ea typeface="Arial"/>
                          <a:cs typeface="Arial"/>
                        </a:rPr>
                        <a:t>−0.73</a:t>
                      </a:r>
                    </a:p>
                  </a:txBody>
                  <a:tcPr marL="142875" marR="142875" marT="76200" marB="76200">
                    <a:solidFill>
                      <a:srgbClr val="FFFFFF"/>
                    </a:solidFill>
                  </a:tcPr>
                </a:tc>
                <a:tc>
                  <a:txBody>
                    <a:bodyPr/>
                    <a:lstStyle/>
                    <a:p>
                      <a:r>
                        <a:rPr sz="1950">
                          <a:solidFill>
                            <a:srgbClr val="132A39"/>
                          </a:solidFill>
                          <a:latin typeface="Arial"/>
                          <a:ea typeface="Arial"/>
                          <a:cs typeface="Arial"/>
                        </a:rPr>
                        <a:t>−0.98</a:t>
                      </a:r>
                    </a:p>
                  </a:txBody>
                  <a:tcPr marL="142875" marR="142875" marT="76200" marB="76200">
                    <a:solidFill>
                      <a:srgbClr val="FFFFFF"/>
                    </a:solidFill>
                  </a:tcPr>
                </a:tc>
              </a:tr>
              <a:tr h="590550">
                <a:tc>
                  <a:txBody>
                    <a:bodyPr/>
                    <a:lstStyle/>
                    <a:p>
                      <a:r>
                        <a:rPr sz="1950">
                          <a:solidFill>
                            <a:srgbClr val="132A39"/>
                          </a:solidFill>
                          <a:latin typeface="Arial"/>
                          <a:ea typeface="Arial"/>
                          <a:cs typeface="Arial"/>
                        </a:rPr>
                        <a:t>Optimization: no to yes</a:t>
                      </a:r>
                    </a:p>
                  </a:txBody>
                  <a:tcPr marL="142875" marR="142875" marT="76200" marB="76200">
                    <a:solidFill>
                      <a:srgbClr val="FFFFFF"/>
                    </a:solidFill>
                  </a:tcPr>
                </a:tc>
                <a:tc>
                  <a:txBody>
                    <a:bodyPr/>
                    <a:lstStyle/>
                    <a:p>
                      <a:r>
                        <a:rPr sz="1950">
                          <a:solidFill>
                            <a:srgbClr val="132A39"/>
                          </a:solidFill>
                          <a:latin typeface="Arial"/>
                          <a:ea typeface="Arial"/>
                          <a:cs typeface="Arial"/>
                        </a:rPr>
                        <a:t>1.17</a:t>
                      </a:r>
                    </a:p>
                  </a:txBody>
                  <a:tcPr marL="142875" marR="142875" marT="76200" marB="76200">
                    <a:solidFill>
                      <a:srgbClr val="FFFFFF"/>
                    </a:solidFill>
                  </a:tcPr>
                </a:tc>
                <a:tc>
                  <a:txBody>
                    <a:bodyPr/>
                    <a:lstStyle/>
                    <a:p>
                      <a:r>
                        <a:rPr sz="1950">
                          <a:solidFill>
                            <a:srgbClr val="132A39"/>
                          </a:solidFill>
                          <a:latin typeface="Arial"/>
                          <a:ea typeface="Arial"/>
                          <a:cs typeface="Arial"/>
                        </a:rPr>
                        <a:t>0.55</a:t>
                      </a:r>
                    </a:p>
                  </a:txBody>
                  <a:tcPr marL="142875" marR="142875" marT="76200" marB="76200">
                    <a:solidFill>
                      <a:srgbClr val="FFFFFF"/>
                    </a:solidFill>
                  </a:tcPr>
                </a:tc>
              </a:tr>
              <a:tr h="590550">
                <a:tc>
                  <a:txBody>
                    <a:bodyPr/>
                    <a:lstStyle/>
                    <a:p>
                      <a:r>
                        <a:rPr sz="1950">
                          <a:solidFill>
                            <a:srgbClr val="132A39"/>
                          </a:solidFill>
                          <a:latin typeface="Arial"/>
                          <a:ea typeface="Arial"/>
                          <a:cs typeface="Arial"/>
                        </a:rPr>
                        <a:t>Swapping: no to yes</a:t>
                      </a:r>
                    </a:p>
                  </a:txBody>
                  <a:tcPr marL="142875" marR="142875" marT="76200" marB="76200">
                    <a:solidFill>
                      <a:srgbClr val="FFFFFF"/>
                    </a:solidFill>
                  </a:tcPr>
                </a:tc>
                <a:tc>
                  <a:txBody>
                    <a:bodyPr/>
                    <a:lstStyle/>
                    <a:p>
                      <a:r>
                        <a:rPr sz="1950">
                          <a:solidFill>
                            <a:srgbClr val="132A39"/>
                          </a:solidFill>
                          <a:latin typeface="Arial"/>
                          <a:ea typeface="Arial"/>
                          <a:cs typeface="Arial"/>
                        </a:rPr>
                        <a:t>−0.04</a:t>
                      </a:r>
                    </a:p>
                  </a:txBody>
                  <a:tcPr marL="142875" marR="142875" marT="76200" marB="76200">
                    <a:solidFill>
                      <a:srgbClr val="FFFFFF"/>
                    </a:solidFill>
                  </a:tcPr>
                </a:tc>
                <a:tc>
                  <a:txBody>
                    <a:bodyPr/>
                    <a:lstStyle/>
                    <a:p>
                      <a:r>
                        <a:rPr sz="1950">
                          <a:solidFill>
                            <a:srgbClr val="132A39"/>
                          </a:solidFill>
                          <a:latin typeface="Arial"/>
                          <a:ea typeface="Arial"/>
                          <a:cs typeface="Arial"/>
                        </a:rPr>
                        <a:t>0.73</a:t>
                      </a:r>
                    </a:p>
                  </a:txBody>
                  <a:tcPr marL="142875" marR="142875" marT="76200" marB="7620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BEF8F7D3-EBC5-4A89-9A0F-4867C68BBF5F}"/>
              </a:ext>
            </a:extLst>
          </p:cNvPr>
          <p:cNvSpPr>
            <a:spLocks xmlns:a="http://schemas.openxmlformats.org/drawingml/2006/main" noGrp="1"/>
          </p:cNvSpPr>
          <p:nvPr/>
        </p:nvSpPr>
        <p:spPr>
          <a:xfrm xmlns:a="http://schemas.openxmlformats.org/drawingml/2006/main">
            <a:off x="685800" y="5362575"/>
            <a:ext cx="10820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007C78"/>
                </a:solidFill>
                <a:latin typeface="Arial"/>
                <a:ea typeface="Arial"/>
                <a:cs typeface="Arial"/>
              </a:defRPr>
            </a:pPr>
            <a:r>
              <a:rPr sz="1950" b="1">
                <a:solidFill>
                  <a:srgbClr val="007C78"/>
                </a:solidFill>
                <a:latin typeface="Arial"/>
                <a:ea typeface="Arial"/>
                <a:cs typeface="Arial"/>
              </a:rPr>
              <a:t>Positive values favor the second category</a:t>
            </a:r>
          </a:p>
        </p:txBody>
      </p:sp>
      <p:sp>
        <p:nvSpPr>
          <p:cNvPr id="5" name="">
            <a:extLst xmlns:a="http://schemas.openxmlformats.org/drawingml/2006/main">
              <a:ext uri="{FF2B5EF4-FFF2-40B4-BE49-F238E27FC236}">
                <a16:creationId xmlns:a16="http://schemas.microsoft.com/office/drawing/2014/main" id="{A0523560-9503-409A-ABD3-FC0DB60290B6}"/>
              </a:ext>
            </a:extLst>
          </p:cNvPr>
          <p:cNvSpPr>
            <a:spLocks xmlns:a="http://schemas.openxmlformats.org/drawingml/2006/main" noGrp="1"/>
          </p:cNvSpPr>
          <p:nvPr/>
        </p:nvSpPr>
        <p:spPr>
          <a:xfrm xmlns:a="http://schemas.openxmlformats.org/drawingml/2006/main">
            <a:off x="685800" y="5800725"/>
            <a:ext cx="10820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566774"/>
                </a:solidFill>
                <a:latin typeface="Arial"/>
                <a:ea typeface="Arial"/>
                <a:cs typeface="Arial"/>
              </a:defRPr>
            </a:pPr>
            <a:r>
              <a:rPr sz="1725" b="0">
                <a:solidFill>
                  <a:srgbClr val="566774"/>
                </a:solidFill>
                <a:latin typeface="Arial"/>
                <a:ea typeface="Arial"/>
                <a:cs typeface="Arial"/>
              </a:rPr>
              <a:t>Hedges’ g, n = 20. Anonymization uses the post-penalty score Anon_all.</a:t>
            </a:r>
          </a:p>
        </p:txBody>
      </p:sp>
    </p:spTree>
    <p:extLst>
      <p:ext uri="{BB962C8B-B14F-4D97-AF65-F5344CB8AC3E}">
        <p14:creationId xmlns:p14="http://schemas.microsoft.com/office/powerpoint/2010/main" val="481161449"/>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4E11CB4-43F7-44EF-B6C0-42CBB605A1DA}"/>
              </a:ext>
            </a:extLst>
          </p:cNvPr>
          <p:cNvSpPr>
            <a:spLocks xmlns:a="http://schemas.openxmlformats.org/drawingml/2006/main" noGrp="1"/>
          </p:cNvSpPr>
          <p:nvPr/>
        </p:nvSpPr>
        <p:spPr>
          <a:xfrm xmlns:a="http://schemas.openxmlformats.org/drawingml/2006/main">
            <a:off x="685800" y="457200"/>
            <a:ext cx="108204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150" b="1">
                <a:solidFill>
                  <a:srgbClr val="132A39"/>
                </a:solidFill>
                <a:latin typeface="Arial"/>
                <a:ea typeface="Arial"/>
                <a:cs typeface="Arial"/>
              </a:defRPr>
            </a:pPr>
            <a:r>
              <a:rPr sz="3150" b="1">
                <a:solidFill>
                  <a:srgbClr val="132A39"/>
                </a:solidFill>
                <a:latin typeface="Arial"/>
                <a:ea typeface="Arial"/>
                <a:cs typeface="Arial"/>
              </a:rPr>
              <a:t>Appendix: H2 main and interaction effects</a:t>
            </a:r>
          </a:p>
        </p:txBody>
      </p:sp>
      <p:sp>
        <p:nvSpPr>
          <p:cNvPr id="2" name="">
            <a:extLst xmlns:a="http://schemas.openxmlformats.org/drawingml/2006/main">
              <a:ext uri="{FF2B5EF4-FFF2-40B4-BE49-F238E27FC236}">
                <a16:creationId xmlns:a16="http://schemas.microsoft.com/office/drawing/2014/main" id="{E53CA25D-C9C0-48FC-A48F-D8BF0C14C51B}"/>
              </a:ext>
            </a:extLst>
          </p:cNvPr>
          <p:cNvSpPr>
            <a:spLocks xmlns:a="http://schemas.openxmlformats.org/drawingml/2006/main" noGrp="1"/>
          </p:cNvSpPr>
          <p:nvPr/>
        </p:nvSpPr>
        <p:spPr>
          <a:xfrm xmlns:a="http://schemas.openxmlformats.org/drawingml/2006/main">
            <a:off x="11087100" y="6353175"/>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566774"/>
                </a:solidFill>
                <a:latin typeface="Arial"/>
                <a:ea typeface="Arial"/>
                <a:cs typeface="Arial"/>
              </a:defRPr>
            </a:pPr>
            <a:r>
              <a:rPr sz="1200" b="0">
                <a:solidFill>
                  <a:srgbClr val="566774"/>
                </a:solidFill>
                <a:latin typeface="Arial"/>
                <a:ea typeface="Arial"/>
                <a:cs typeface="Arial"/>
              </a:rPr>
              <a:t>14</a:t>
            </a:r>
          </a:p>
        </p:txBody>
      </p:sp>
      <p:graphicFrame>
        <p:nvGraphicFramePr>
          <p:cNvPr id="8" name=""/>
          <p:cNvGraphicFramePr/>
          <p:nvPr/>
        </p:nvGraphicFramePr>
        <p:xfrm>
          <a:off xmlns:a="http://schemas.openxmlformats.org/drawingml/2006/main" x="685800" y="1609725"/>
          <a:ext xmlns:a="http://schemas.openxmlformats.org/drawingml/2006/main" cx="10820400" cy="3943350"/>
        </p:xfrm>
        <a:graphic xmlns:a="http://schemas.openxmlformats.org/drawingml/2006/main">
          <a:graphicData uri="http://schemas.openxmlformats.org/drawingml/2006/table">
            <a:tbl>
              <a:tblPr/>
              <a:tblGrid>
                <a:gridCol w="2600325"/>
                <a:gridCol w="1857375"/>
                <a:gridCol w="3181350"/>
                <a:gridCol w="3181350"/>
              </a:tblGrid>
              <a:tr h="657225">
                <a:tc>
                  <a:txBody>
                    <a:bodyPr/>
                    <a:lstStyle/>
                    <a:p>
                      <a:r>
                        <a:rPr sz="1650" b="1">
                          <a:solidFill>
                            <a:srgbClr val="132A39"/>
                          </a:solidFill>
                          <a:latin typeface="Arial"/>
                          <a:ea typeface="Arial"/>
                          <a:cs typeface="Arial"/>
                        </a:rPr>
                        <a:t>Victim feature</a:t>
                      </a:r>
                    </a:p>
                  </a:txBody>
                  <a:tcPr marL="142875" marR="142875" marT="76200" marB="76200">
                    <a:solidFill>
                      <a:srgbClr val="F0F5F5"/>
                    </a:solidFill>
                  </a:tcPr>
                </a:tc>
                <a:tc>
                  <a:txBody>
                    <a:bodyPr/>
                    <a:lstStyle/>
                    <a:p>
                      <a:r>
                        <a:rPr sz="1650" b="1">
                          <a:solidFill>
                            <a:srgbClr val="132A39"/>
                          </a:solidFill>
                          <a:latin typeface="Arial"/>
                          <a:ea typeface="Arial"/>
                          <a:cs typeface="Arial"/>
                        </a:rPr>
                        <a:t>Main IRR</a:t>
                      </a:r>
                    </a:p>
                  </a:txBody>
                  <a:tcPr marL="142875" marR="142875" marT="76200" marB="76200">
                    <a:solidFill>
                      <a:srgbClr val="F0F5F5"/>
                    </a:solidFill>
                  </a:tcPr>
                </a:tc>
                <a:tc>
                  <a:txBody>
                    <a:bodyPr/>
                    <a:lstStyle/>
                    <a:p>
                      <a:r>
                        <a:rPr sz="1650" b="1">
                          <a:solidFill>
                            <a:srgbClr val="132A39"/>
                          </a:solidFill>
                          <a:latin typeface="Arial"/>
                          <a:ea typeface="Arial"/>
                          <a:cs typeface="Arial"/>
                        </a:rPr>
                        <a:t>Attack target</a:t>
                      </a:r>
                    </a:p>
                    <a:p>
                      <a:r>
                        <a:rPr sz="1650" b="1">
                          <a:solidFill>
                            <a:srgbClr val="132A39"/>
                          </a:solidFill>
                          <a:latin typeface="Arial"/>
                          <a:ea typeface="Arial"/>
                          <a:cs typeface="Arial"/>
                        </a:rPr>
                        <a:t>Interaction / total</a:t>
                      </a:r>
                    </a:p>
                  </a:txBody>
                  <a:tcPr marL="142875" marR="142875" marT="76200" marB="76200">
                    <a:solidFill>
                      <a:srgbClr val="F0F5F5"/>
                    </a:solidFill>
                  </a:tcPr>
                </a:tc>
                <a:tc>
                  <a:txBody>
                    <a:bodyPr/>
                    <a:lstStyle/>
                    <a:p>
                      <a:r>
                        <a:rPr sz="1650" b="1">
                          <a:solidFill>
                            <a:srgbClr val="132A39"/>
                          </a:solidFill>
                          <a:latin typeface="Arial"/>
                          <a:ea typeface="Arial"/>
                          <a:cs typeface="Arial"/>
                        </a:rPr>
                        <a:t>Trained scorer</a:t>
                      </a:r>
                    </a:p>
                    <a:p>
                      <a:r>
                        <a:rPr sz="1650" b="1">
                          <a:solidFill>
                            <a:srgbClr val="132A39"/>
                          </a:solidFill>
                          <a:latin typeface="Arial"/>
                          <a:ea typeface="Arial"/>
                          <a:cs typeface="Arial"/>
                        </a:rPr>
                        <a:t>Interaction / total</a:t>
                      </a:r>
                    </a:p>
                  </a:txBody>
                  <a:tcPr marL="142875" marR="142875" marT="76200" marB="76200">
                    <a:solidFill>
                      <a:srgbClr val="F0F5F5"/>
                    </a:solidFill>
                  </a:tcPr>
                </a:tc>
              </a:tr>
              <a:tr h="657225">
                <a:tc>
                  <a:txBody>
                    <a:bodyPr/>
                    <a:lstStyle/>
                    <a:p>
                      <a:r>
                        <a:rPr sz="1650">
                          <a:solidFill>
                            <a:srgbClr val="132A39"/>
                          </a:solidFill>
                          <a:latin typeface="Arial"/>
                          <a:ea typeface="Arial"/>
                          <a:cs typeface="Arial"/>
                        </a:rPr>
                        <a:t>Reference</a:t>
                      </a:r>
                    </a:p>
                  </a:txBody>
                  <a:tcPr marL="142875" marR="142875" marT="76200" marB="76200">
                    <a:solidFill>
                      <a:srgbClr val="FFFFFF"/>
                    </a:solidFill>
                  </a:tcPr>
                </a:tc>
                <a:tc>
                  <a:txBody>
                    <a:bodyPr/>
                    <a:lstStyle/>
                    <a:p>
                      <a:r>
                        <a:rPr sz="1650">
                          <a:solidFill>
                            <a:srgbClr val="132A39"/>
                          </a:solidFill>
                          <a:latin typeface="Arial"/>
                          <a:ea typeface="Arial"/>
                          <a:cs typeface="Arial"/>
                        </a:rPr>
                        <a:t>1.00</a:t>
                      </a:r>
                    </a:p>
                  </a:txBody>
                  <a:tcPr marL="142875" marR="142875" marT="76200" marB="76200">
                    <a:solidFill>
                      <a:srgbClr val="FFFFFF"/>
                    </a:solidFill>
                  </a:tcPr>
                </a:tc>
                <a:tc>
                  <a:txBody>
                    <a:bodyPr/>
                    <a:lstStyle/>
                    <a:p>
                      <a:r>
                        <a:rPr sz="1650">
                          <a:solidFill>
                            <a:srgbClr val="132A39"/>
                          </a:solidFill>
                          <a:latin typeface="Arial"/>
                          <a:ea typeface="Arial"/>
                          <a:cs typeface="Arial"/>
                        </a:rPr>
                        <a:t>Main: 0.82–0.86**</a:t>
                      </a:r>
                    </a:p>
                  </a:txBody>
                  <a:tcPr marL="142875" marR="142875" marT="76200" marB="76200">
                    <a:solidFill>
                      <a:srgbClr val="FFFFFF"/>
                    </a:solidFill>
                  </a:tcPr>
                </a:tc>
                <a:tc>
                  <a:txBody>
                    <a:bodyPr/>
                    <a:lstStyle/>
                    <a:p>
                      <a:r>
                        <a:rPr sz="1650">
                          <a:solidFill>
                            <a:srgbClr val="132A39"/>
                          </a:solidFill>
                          <a:latin typeface="Arial"/>
                          <a:ea typeface="Arial"/>
                          <a:cs typeface="Arial"/>
                        </a:rPr>
                        <a:t>Main: 1.04–1.05</a:t>
                      </a:r>
                    </a:p>
                  </a:txBody>
                  <a:tcPr marL="142875" marR="142875" marT="76200" marB="76200">
                    <a:solidFill>
                      <a:srgbClr val="FFFFFF"/>
                    </a:solidFill>
                  </a:tcPr>
                </a:tc>
              </a:tr>
              <a:tr h="657225">
                <a:tc>
                  <a:txBody>
                    <a:bodyPr/>
                    <a:lstStyle/>
                    <a:p>
                      <a:r>
                        <a:rPr sz="1650">
                          <a:solidFill>
                            <a:srgbClr val="132A39"/>
                          </a:solidFill>
                          <a:latin typeface="Arial"/>
                          <a:ea typeface="Arial"/>
                          <a:cs typeface="Arial"/>
                        </a:rPr>
                        <a:t>Base: B to others</a:t>
                      </a:r>
                    </a:p>
                  </a:txBody>
                  <a:tcPr marL="142875" marR="142875" marT="76200" marB="76200">
                    <a:solidFill>
                      <a:srgbClr val="FFFFFF"/>
                    </a:solidFill>
                  </a:tcPr>
                </a:tc>
                <a:tc>
                  <a:txBody>
                    <a:bodyPr/>
                    <a:lstStyle/>
                    <a:p>
                      <a:r>
                        <a:rPr sz="1650">
                          <a:solidFill>
                            <a:srgbClr val="132A39"/>
                          </a:solidFill>
                          <a:latin typeface="Arial"/>
                          <a:ea typeface="Arial"/>
                          <a:cs typeface="Arial"/>
                        </a:rPr>
                        <a:t>0.72–0.73*</a:t>
                      </a:r>
                    </a:p>
                  </a:txBody>
                  <a:tcPr marL="142875" marR="142875" marT="76200" marB="76200">
                    <a:solidFill>
                      <a:srgbClr val="FFFFFF"/>
                    </a:solidFill>
                  </a:tcPr>
                </a:tc>
                <a:tc>
                  <a:txBody>
                    <a:bodyPr/>
                    <a:lstStyle/>
                    <a:p>
                      <a:r>
                        <a:rPr sz="1650">
                          <a:solidFill>
                            <a:srgbClr val="132A39"/>
                          </a:solidFill>
                          <a:latin typeface="Arial"/>
                          <a:ea typeface="Arial"/>
                          <a:cs typeface="Arial"/>
                        </a:rPr>
                        <a:t>1.13** / 0.69</a:t>
                      </a:r>
                    </a:p>
                  </a:txBody>
                  <a:tcPr marL="142875" marR="142875" marT="76200" marB="76200">
                    <a:solidFill>
                      <a:srgbClr val="FFFFFF"/>
                    </a:solidFill>
                  </a:tcPr>
                </a:tc>
                <a:tc>
                  <a:txBody>
                    <a:bodyPr/>
                    <a:lstStyle/>
                    <a:p>
                      <a:r>
                        <a:rPr sz="1650">
                          <a:solidFill>
                            <a:srgbClr val="132A39"/>
                          </a:solidFill>
                          <a:latin typeface="Arial"/>
                          <a:ea typeface="Arial"/>
                          <a:cs typeface="Arial"/>
                        </a:rPr>
                        <a:t>1.03 / 0.78</a:t>
                      </a:r>
                    </a:p>
                    <a:p>
                      <a:r>
                        <a:rPr sz="1650">
                          <a:solidFill>
                            <a:srgbClr val="132A39"/>
                          </a:solidFill>
                          <a:latin typeface="Arial"/>
                          <a:ea typeface="Arial"/>
                          <a:cs typeface="Arial"/>
                        </a:rPr>
                        <a:t>SE n.e.</a:t>
                      </a:r>
                    </a:p>
                  </a:txBody>
                  <a:tcPr marL="142875" marR="142875" marT="76200" marB="76200">
                    <a:solidFill>
                      <a:srgbClr val="FFFFFF"/>
                    </a:solidFill>
                  </a:tcPr>
                </a:tc>
              </a:tr>
              <a:tr h="657225">
                <a:tc>
                  <a:txBody>
                    <a:bodyPr/>
                    <a:lstStyle/>
                    <a:p>
                      <a:r>
                        <a:rPr sz="1650">
                          <a:solidFill>
                            <a:srgbClr val="132A39"/>
                          </a:solidFill>
                          <a:latin typeface="Arial"/>
                          <a:ea typeface="Arial"/>
                          <a:cs typeface="Arial"/>
                        </a:rPr>
                        <a:t>Synthesis</a:t>
                      </a:r>
                    </a:p>
                  </a:txBody>
                  <a:tcPr marL="142875" marR="142875" marT="76200" marB="76200">
                    <a:solidFill>
                      <a:srgbClr val="FFFFFF"/>
                    </a:solidFill>
                  </a:tcPr>
                </a:tc>
                <a:tc>
                  <a:txBody>
                    <a:bodyPr/>
                    <a:lstStyle/>
                    <a:p>
                      <a:r>
                        <a:rPr sz="1650">
                          <a:solidFill>
                            <a:srgbClr val="132A39"/>
                          </a:solidFill>
                          <a:latin typeface="Arial"/>
                          <a:ea typeface="Arial"/>
                          <a:cs typeface="Arial"/>
                        </a:rPr>
                        <a:t>0.63–0.65*</a:t>
                      </a:r>
                    </a:p>
                  </a:txBody>
                  <a:tcPr marL="142875" marR="142875" marT="76200" marB="76200">
                    <a:solidFill>
                      <a:srgbClr val="FFFFFF"/>
                    </a:solidFill>
                  </a:tcPr>
                </a:tc>
                <a:tc>
                  <a:txBody>
                    <a:bodyPr/>
                    <a:lstStyle/>
                    <a:p>
                      <a:r>
                        <a:rPr sz="1650">
                          <a:solidFill>
                            <a:srgbClr val="132A39"/>
                          </a:solidFill>
                          <a:latin typeface="Arial"/>
                          <a:ea typeface="Arial"/>
                          <a:cs typeface="Arial"/>
                        </a:rPr>
                        <a:t>1.18** / 0.61</a:t>
                      </a:r>
                    </a:p>
                  </a:txBody>
                  <a:tcPr marL="142875" marR="142875" marT="76200" marB="76200">
                    <a:solidFill>
                      <a:srgbClr val="FFFFFF"/>
                    </a:solidFill>
                  </a:tcPr>
                </a:tc>
                <a:tc>
                  <a:txBody>
                    <a:bodyPr/>
                    <a:lstStyle/>
                    <a:p>
                      <a:r>
                        <a:rPr sz="1650">
                          <a:solidFill>
                            <a:srgbClr val="132A39"/>
                          </a:solidFill>
                          <a:latin typeface="Arial"/>
                          <a:ea typeface="Arial"/>
                          <a:cs typeface="Arial"/>
                        </a:rPr>
                        <a:t>1.00 / 0.68</a:t>
                      </a:r>
                    </a:p>
                    <a:p>
                      <a:r>
                        <a:rPr sz="1650">
                          <a:solidFill>
                            <a:srgbClr val="132A39"/>
                          </a:solidFill>
                          <a:latin typeface="Arial"/>
                          <a:ea typeface="Arial"/>
                          <a:cs typeface="Arial"/>
                        </a:rPr>
                        <a:t>SE n.e.</a:t>
                      </a:r>
                    </a:p>
                  </a:txBody>
                  <a:tcPr marL="142875" marR="142875" marT="76200" marB="76200">
                    <a:solidFill>
                      <a:srgbClr val="FFFFFF"/>
                    </a:solidFill>
                  </a:tcPr>
                </a:tc>
              </a:tr>
              <a:tr h="657225">
                <a:tc>
                  <a:txBody>
                    <a:bodyPr/>
                    <a:lstStyle/>
                    <a:p>
                      <a:r>
                        <a:rPr sz="1650">
                          <a:solidFill>
                            <a:srgbClr val="132A39"/>
                          </a:solidFill>
                          <a:latin typeface="Arial"/>
                          <a:ea typeface="Arial"/>
                          <a:cs typeface="Arial"/>
                        </a:rPr>
                        <a:t>Optimization</a:t>
                      </a:r>
                    </a:p>
                  </a:txBody>
                  <a:tcPr marL="142875" marR="142875" marT="76200" marB="76200">
                    <a:solidFill>
                      <a:srgbClr val="FFFFFF"/>
                    </a:solidFill>
                  </a:tcPr>
                </a:tc>
                <a:tc>
                  <a:txBody>
                    <a:bodyPr/>
                    <a:lstStyle/>
                    <a:p>
                      <a:r>
                        <a:rPr sz="1650">
                          <a:solidFill>
                            <a:srgbClr val="132A39"/>
                          </a:solidFill>
                          <a:latin typeface="Arial"/>
                          <a:ea typeface="Arial"/>
                          <a:cs typeface="Arial"/>
                        </a:rPr>
                        <a:t>0.73–0.75*</a:t>
                      </a:r>
                    </a:p>
                  </a:txBody>
                  <a:tcPr marL="142875" marR="142875" marT="76200" marB="76200">
                    <a:solidFill>
                      <a:srgbClr val="FFFFFF"/>
                    </a:solidFill>
                  </a:tcPr>
                </a:tc>
                <a:tc>
                  <a:txBody>
                    <a:bodyPr/>
                    <a:lstStyle/>
                    <a:p>
                      <a:r>
                        <a:rPr sz="1650">
                          <a:solidFill>
                            <a:srgbClr val="132A39"/>
                          </a:solidFill>
                          <a:latin typeface="Arial"/>
                          <a:ea typeface="Arial"/>
                          <a:cs typeface="Arial"/>
                        </a:rPr>
                        <a:t>1.11** / 0.70</a:t>
                      </a:r>
                    </a:p>
                  </a:txBody>
                  <a:tcPr marL="142875" marR="142875" marT="76200" marB="76200">
                    <a:solidFill>
                      <a:srgbClr val="FFFFFF"/>
                    </a:solidFill>
                  </a:tcPr>
                </a:tc>
                <a:tc>
                  <a:txBody>
                    <a:bodyPr/>
                    <a:lstStyle/>
                    <a:p>
                      <a:r>
                        <a:rPr sz="1650">
                          <a:solidFill>
                            <a:srgbClr val="132A39"/>
                          </a:solidFill>
                          <a:latin typeface="Arial"/>
                          <a:ea typeface="Arial"/>
                          <a:cs typeface="Arial"/>
                        </a:rPr>
                        <a:t>1.01 / 0.78</a:t>
                      </a:r>
                    </a:p>
                    <a:p>
                      <a:r>
                        <a:rPr sz="1650">
                          <a:solidFill>
                            <a:srgbClr val="132A39"/>
                          </a:solidFill>
                          <a:latin typeface="Arial"/>
                          <a:ea typeface="Arial"/>
                          <a:cs typeface="Arial"/>
                        </a:rPr>
                        <a:t>SE n.e.</a:t>
                      </a:r>
                    </a:p>
                  </a:txBody>
                  <a:tcPr marL="142875" marR="142875" marT="76200" marB="76200">
                    <a:solidFill>
                      <a:srgbClr val="FFFFFF"/>
                    </a:solidFill>
                  </a:tcPr>
                </a:tc>
              </a:tr>
              <a:tr h="657225">
                <a:tc>
                  <a:txBody>
                    <a:bodyPr/>
                    <a:lstStyle/>
                    <a:p>
                      <a:r>
                        <a:rPr sz="1650">
                          <a:solidFill>
                            <a:srgbClr val="132A39"/>
                          </a:solidFill>
                          <a:latin typeface="Arial"/>
                          <a:ea typeface="Arial"/>
                          <a:cs typeface="Arial"/>
                        </a:rPr>
                        <a:t>Swapping</a:t>
                      </a:r>
                    </a:p>
                  </a:txBody>
                  <a:tcPr marL="142875" marR="142875" marT="76200" marB="76200">
                    <a:solidFill>
                      <a:srgbClr val="FFFFFF"/>
                    </a:solidFill>
                  </a:tcPr>
                </a:tc>
                <a:tc>
                  <a:txBody>
                    <a:bodyPr/>
                    <a:lstStyle/>
                    <a:p>
                      <a:r>
                        <a:rPr sz="1650">
                          <a:solidFill>
                            <a:srgbClr val="132A39"/>
                          </a:solidFill>
                          <a:latin typeface="Arial"/>
                          <a:ea typeface="Arial"/>
                          <a:cs typeface="Arial"/>
                        </a:rPr>
                        <a:t>0.68–0.70*</a:t>
                      </a:r>
                    </a:p>
                  </a:txBody>
                  <a:tcPr marL="142875" marR="142875" marT="76200" marB="76200">
                    <a:solidFill>
                      <a:srgbClr val="FFFFFF"/>
                    </a:solidFill>
                  </a:tcPr>
                </a:tc>
                <a:tc>
                  <a:txBody>
                    <a:bodyPr/>
                    <a:lstStyle/>
                    <a:p>
                      <a:r>
                        <a:rPr sz="1650">
                          <a:solidFill>
                            <a:srgbClr val="132A39"/>
                          </a:solidFill>
                          <a:latin typeface="Arial"/>
                          <a:ea typeface="Arial"/>
                          <a:cs typeface="Arial"/>
                        </a:rPr>
                        <a:t>1.16** / 0.65</a:t>
                      </a:r>
                    </a:p>
                  </a:txBody>
                  <a:tcPr marL="142875" marR="142875" marT="76200" marB="76200">
                    <a:solidFill>
                      <a:srgbClr val="FFFFFF"/>
                    </a:solidFill>
                  </a:tcPr>
                </a:tc>
                <a:tc>
                  <a:txBody>
                    <a:bodyPr/>
                    <a:lstStyle/>
                    <a:p>
                      <a:r>
                        <a:rPr sz="1650">
                          <a:solidFill>
                            <a:srgbClr val="132A39"/>
                          </a:solidFill>
                          <a:latin typeface="Arial"/>
                          <a:ea typeface="Arial"/>
                          <a:cs typeface="Arial"/>
                        </a:rPr>
                        <a:t>0.99 / 0.74</a:t>
                      </a:r>
                    </a:p>
                    <a:p>
                      <a:r>
                        <a:rPr sz="1650">
                          <a:solidFill>
                            <a:srgbClr val="132A39"/>
                          </a:solidFill>
                          <a:latin typeface="Arial"/>
                          <a:ea typeface="Arial"/>
                          <a:cs typeface="Arial"/>
                        </a:rPr>
                        <a:t>SE n.e.</a:t>
                      </a:r>
                    </a:p>
                  </a:txBody>
                  <a:tcPr marL="142875" marR="142875" marT="76200" marB="7620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5DCFE39C-0043-4EF8-8891-C72516D078F8}"/>
              </a:ext>
            </a:extLst>
          </p:cNvPr>
          <p:cNvSpPr>
            <a:spLocks xmlns:a="http://schemas.openxmlformats.org/drawingml/2006/main" noGrp="1"/>
          </p:cNvSpPr>
          <p:nvPr/>
        </p:nvSpPr>
        <p:spPr>
          <a:xfrm xmlns:a="http://schemas.openxmlformats.org/drawingml/2006/main">
            <a:off x="685800" y="5772150"/>
            <a:ext cx="10820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b="0">
                <a:solidFill>
                  <a:srgbClr val="566774"/>
                </a:solidFill>
                <a:latin typeface="Arial"/>
                <a:ea typeface="Arial"/>
                <a:cs typeface="Arial"/>
              </a:defRPr>
            </a:pPr>
            <a:r>
              <a:rPr sz="1575" b="0">
                <a:solidFill>
                  <a:srgbClr val="566774"/>
                </a:solidFill>
                <a:latin typeface="Arial"/>
                <a:ea typeface="Arial"/>
                <a:cs typeface="Arial"/>
              </a:rPr>
              <a:t>Ranges span model specifications, not confidence intervals. * p &lt; 0.05, ** p &lt; 0.01.</a:t>
            </a:r>
          </a:p>
        </p:txBody>
      </p:sp>
      <p:sp>
        <p:nvSpPr>
          <p:cNvPr id="5" name="">
            <a:extLst xmlns:a="http://schemas.openxmlformats.org/drawingml/2006/main">
              <a:ext uri="{FF2B5EF4-FFF2-40B4-BE49-F238E27FC236}">
                <a16:creationId xmlns:a16="http://schemas.microsoft.com/office/drawing/2014/main" id="{D9C21FB8-FEAB-44D1-9CBF-797D22893DEF}"/>
              </a:ext>
            </a:extLst>
          </p:cNvPr>
          <p:cNvSpPr>
            <a:spLocks xmlns:a="http://schemas.openxmlformats.org/drawingml/2006/main" noGrp="1"/>
          </p:cNvSpPr>
          <p:nvPr/>
        </p:nvSpPr>
        <p:spPr>
          <a:xfrm xmlns:a="http://schemas.openxmlformats.org/drawingml/2006/main">
            <a:off x="685800" y="6115050"/>
            <a:ext cx="10820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b="0">
                <a:solidFill>
                  <a:srgbClr val="566774"/>
                </a:solidFill>
                <a:latin typeface="Arial"/>
                <a:ea typeface="Arial"/>
                <a:cs typeface="Arial"/>
              </a:defRPr>
            </a:pPr>
            <a:r>
              <a:rPr sz="1575" b="0">
                <a:solidFill>
                  <a:srgbClr val="566774"/>
                </a:solidFill>
                <a:latin typeface="Arial"/>
                <a:ea typeface="Arial"/>
                <a:cs typeface="Arial"/>
              </a:rPr>
              <a:t>SE n.e.: the two-way clustered standard error for the interaction was not estimable.</a:t>
            </a:r>
          </a:p>
        </p:txBody>
      </p:sp>
    </p:spTree>
    <p:extLst>
      <p:ext uri="{BB962C8B-B14F-4D97-AF65-F5344CB8AC3E}">
        <p14:creationId xmlns:p14="http://schemas.microsoft.com/office/powerpoint/2010/main" val="93641547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2026-09-25T03:23:17.1760000Z</dcterms:created>
  <dcterms:modified xsi:type="dcterms:W3CDTF">2026-09-25T03:23:17.1760000Z</dcterms:modified>
</coreProperties>
</file>