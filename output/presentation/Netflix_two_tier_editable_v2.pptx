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1119c3e9f4a2f" /><Relationship Type="http://schemas.openxmlformats.org/officeDocument/2006/relationships/extended-properties" Target="/docProps/app.xml" Id="Rb09ecd9845224128" /><Relationship Type="http://schemas.openxmlformats.org/officeDocument/2006/relationships/officeDocument" Target="/ppt/presentation.xml" Id="R3c2463ca643f48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9aeb22b234356"/>
  </p:sldMasterIdLst>
  <p:notesMasterIdLst>
    <p:notesMasterId xmlns:r="http://schemas.openxmlformats.org/officeDocument/2006/relationships" r:id="R8ae0276a0bd443b0"/>
  </p:notesMasterIdLst>
  <p:sldIdLst>
    <p:sldId xmlns:r="http://schemas.openxmlformats.org/officeDocument/2006/relationships" id="256" r:id="R899756adce9647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58bd3b03fb42ad" /><Relationship Type="http://schemas.openxmlformats.org/officeDocument/2006/relationships/slideMaster" Target="/ppt/slideMasters/slideMaster1.xml" Id="R1879aeb22b234356" /><Relationship Type="http://schemas.openxmlformats.org/officeDocument/2006/relationships/notesMaster" Target="/ppt/notesMasters/notesMaster1.xml" Id="R8ae0276a0bd443b0" /><Relationship Type="http://schemas.openxmlformats.org/officeDocument/2006/relationships/presProps" Target="/ppt/presProps.xml" Id="Rdd3ce12c141543b4" /><Relationship Type="http://schemas.openxmlformats.org/officeDocument/2006/relationships/tableStyles" Target="/ppt/tableStyles.xml" Id="Re0dca65bab5a433b" /><Relationship Type="http://schemas.openxmlformats.org/officeDocument/2006/relationships/slide" Target="/ppt/slides/slide1.xml" Id="R899756adce96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25e4d5376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5b53181724728" /><Relationship Type="http://schemas.openxmlformats.org/officeDocument/2006/relationships/notesMaster" Target="/ppt/notesMasters/notesMaster1.xml" Id="R64eeaa37b5a5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目安：60秒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矢印は出来事の順序。IMDbとの照合が再識別リスクの実証につながる。FTCの懸念はPrize 2向けに計画された、より豊富なデータが対象。Netflixのデータ公開と、本研究の実装情報不足を区別する。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English speaking cue</a:t>
            </a:r>
          </a:p>
          <a:p xmlns:a="http://schemas.openxmlformats.org/drawingml/2006/main">
            <a:r>
              <a:t>In 2006, Netflix launched the Netflix Prize. To improve recommendations, it released movie ratings from about half a million subscribers, with direct identifiers removed. Narayanan and Shmatikov showed that some records could be linked to individuals using public information, such as ratings on IMDb. Netflix later planned a second competition with richer data. The Federal Trade Commission raised concerns about re-identification, and Netflix subsequently suspended those plans. This illustrates a tension: data disclosure helps research, but can also create privacy risks. Our study concerns a different information gap: limited access to implementation details. What can researchers learn when those details are unavailable?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https://arxiv.org/abs/cs/0610105</a:t>
            </a:r>
          </a:p>
          <a:p xmlns:a="http://schemas.openxmlformats.org/drawingml/2006/main">
            <a:r>
              <a:t>https://www.ftc.gov/sites/default/files/documents/closing_letters/netflix-inc./100312netflixletter.pdf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244588f4a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591f366c74b77" /><Relationship Type="http://schemas.openxmlformats.org/officeDocument/2006/relationships/slideLayout" Target="/ppt/slideLayouts/slideLayout1.xml" Id="Re181de908d2d41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1de908d2d41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66f84b9949be" /><Relationship Type="http://schemas.openxmlformats.org/officeDocument/2006/relationships/notesSlide" Target="/ppt/notesSlides/notesSlide1.xml" Id="R39fc07be2cbf45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D37C2-CA17-4F3F-A1AA-6E14F691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FC722-0CCA-4FBF-950A-C960E29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Netflix Prize shows the tension in data disclosure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92780-D1AF-4A6E-ABC6-27FE362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209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8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F19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193F"/>
                </a:solidFill>
                <a:latin typeface="Arial"/>
                <a:ea typeface="Arial"/>
                <a:cs typeface="Arial"/>
              </a:rPr>
              <a:t>2006</a:t>
            </a:r>
          </a:p>
          <a:p xmlns:a="http://schemas.openxmlformats.org/drawingml/2006/main">
            <a:pPr algn="ctr">
              <a:defRPr sz="2175" b="1">
                <a:solidFill>
                  <a:srgbClr val="AF19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193F"/>
                </a:solidFill>
                <a:latin typeface="Arial"/>
                <a:ea typeface="Arial"/>
                <a:cs typeface="Arial"/>
              </a:rPr>
              <a:t>Netflix Prize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825EE-B371-42D8-B5B5-A1BA5C1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52750"/>
            <a:ext cx="209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Anonymized</a:t>
            </a:r>
          </a:p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movie ratings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BC3AF-DF9C-46CA-8473-3C23284C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38250"/>
            <a:ext cx="209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Linked with</a:t>
            </a:r>
          </a:p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IMDb ratings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C8FFF-29A2-42DC-9882-4F21558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52750"/>
            <a:ext cx="209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Some users</a:t>
            </a:r>
          </a:p>
          <a:p xmlns:a="http://schemas.openxmlformats.org/drawingml/2006/main">
            <a:pPr algn="ctr">
              <a:defRPr sz="210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re-identified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17423-B1C0-4F68-957C-03C51BF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38250"/>
            <a:ext cx="209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8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F19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193F"/>
                </a:solidFill>
                <a:latin typeface="Arial"/>
                <a:ea typeface="Arial"/>
                <a:cs typeface="Arial"/>
              </a:rPr>
              <a:t>2010</a:t>
            </a:r>
          </a:p>
          <a:p xmlns:a="http://schemas.openxmlformats.org/drawingml/2006/main">
            <a:pPr algn="ctr">
              <a:defRPr sz="2175" b="1">
                <a:solidFill>
                  <a:srgbClr val="AF19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F193F"/>
                </a:solidFill>
                <a:latin typeface="Arial"/>
                <a:ea typeface="Arial"/>
                <a:cs typeface="Arial"/>
              </a:rPr>
              <a:t>Prize 2 suspended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8F7B1-9F4D-4137-AC61-49A2FDAA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52725"/>
            <a:ext cx="1095375" cy="1000125"/>
          </a:xfrm>
          <a:custGeom xmlns:a="http://schemas.openxmlformats.org/drawingml/2006/main">
            <a:pathLst>
              <a:path w="1095375" h="1000125">
                <a:moveTo>
                  <a:pt x="0" y="0"/>
                </a:moveTo>
                <a:lnTo>
                  <a:pt x="161925" y="0"/>
                </a:lnTo>
                <a:lnTo>
                  <a:pt x="161925" y="628650"/>
                </a:lnTo>
                <a:lnTo>
                  <a:pt x="828675" y="628650"/>
                </a:lnTo>
                <a:lnTo>
                  <a:pt x="828675" y="485775"/>
                </a:lnTo>
                <a:lnTo>
                  <a:pt x="1095375" y="762000"/>
                </a:lnTo>
                <a:lnTo>
                  <a:pt x="828675" y="1000125"/>
                </a:lnTo>
                <a:lnTo>
                  <a:pt x="828675" y="847725"/>
                </a:lnTo>
                <a:lnTo>
                  <a:pt x="0" y="847725"/>
                </a:lnTo>
                <a:close/>
              </a:path>
            </a:pathLst>
          </a:custGeom>
          <a:solidFill xmlns:a="http://schemas.openxmlformats.org/drawingml/2006/main">
            <a:srgbClr val="196481"/>
          </a:solidFill>
          <a:ln xmlns:a="http://schemas.openxmlformats.org/drawingml/2006/main" w="14288">
            <a:solidFill>
              <a:srgbClr val="123D5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09EF3-5837-49D7-BF7B-EC95BBC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66900"/>
            <a:ext cx="1095375" cy="1000125"/>
          </a:xfrm>
          <a:custGeom xmlns:a="http://schemas.openxmlformats.org/drawingml/2006/main">
            <a:pathLst>
              <a:path w="1095375" h="1000125">
                <a:moveTo>
                  <a:pt x="0" y="1000125"/>
                </a:moveTo>
                <a:lnTo>
                  <a:pt x="161925" y="1000125"/>
                </a:lnTo>
                <a:lnTo>
                  <a:pt x="161925" y="371475"/>
                </a:lnTo>
                <a:lnTo>
                  <a:pt x="828675" y="371475"/>
                </a:lnTo>
                <a:lnTo>
                  <a:pt x="828675" y="514350"/>
                </a:lnTo>
                <a:lnTo>
                  <a:pt x="1095375" y="238125"/>
                </a:lnTo>
                <a:lnTo>
                  <a:pt x="828675" y="0"/>
                </a:lnTo>
                <a:lnTo>
                  <a:pt x="828675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96481"/>
          </a:solidFill>
          <a:ln xmlns:a="http://schemas.openxmlformats.org/drawingml/2006/main" w="14288">
            <a:solidFill>
              <a:srgbClr val="123D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13960-E40C-4DD9-9E9F-93F8D5F7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52725"/>
            <a:ext cx="1095375" cy="1000125"/>
          </a:xfrm>
          <a:custGeom xmlns:a="http://schemas.openxmlformats.org/drawingml/2006/main">
            <a:pathLst>
              <a:path w="1095375" h="1000125">
                <a:moveTo>
                  <a:pt x="0" y="0"/>
                </a:moveTo>
                <a:lnTo>
                  <a:pt x="161925" y="0"/>
                </a:lnTo>
                <a:lnTo>
                  <a:pt x="161925" y="628650"/>
                </a:lnTo>
                <a:lnTo>
                  <a:pt x="828675" y="628650"/>
                </a:lnTo>
                <a:lnTo>
                  <a:pt x="828675" y="485775"/>
                </a:lnTo>
                <a:lnTo>
                  <a:pt x="1095375" y="762000"/>
                </a:lnTo>
                <a:lnTo>
                  <a:pt x="828675" y="1000125"/>
                </a:lnTo>
                <a:lnTo>
                  <a:pt x="828675" y="847725"/>
                </a:lnTo>
                <a:lnTo>
                  <a:pt x="0" y="847725"/>
                </a:lnTo>
                <a:close/>
              </a:path>
            </a:pathLst>
          </a:custGeom>
          <a:solidFill xmlns:a="http://schemas.openxmlformats.org/drawingml/2006/main">
            <a:srgbClr val="196481"/>
          </a:solidFill>
          <a:ln xmlns:a="http://schemas.openxmlformats.org/drawingml/2006/main" w="14288">
            <a:solidFill>
              <a:srgbClr val="123D5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C994C-3497-4165-8B01-D9B4BC8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66900"/>
            <a:ext cx="1095375" cy="1000125"/>
          </a:xfrm>
          <a:custGeom xmlns:a="http://schemas.openxmlformats.org/drawingml/2006/main">
            <a:pathLst>
              <a:path w="1095375" h="1000125">
                <a:moveTo>
                  <a:pt x="0" y="1000125"/>
                </a:moveTo>
                <a:lnTo>
                  <a:pt x="161925" y="1000125"/>
                </a:lnTo>
                <a:lnTo>
                  <a:pt x="161925" y="371475"/>
                </a:lnTo>
                <a:lnTo>
                  <a:pt x="828675" y="371475"/>
                </a:lnTo>
                <a:lnTo>
                  <a:pt x="828675" y="514350"/>
                </a:lnTo>
                <a:lnTo>
                  <a:pt x="1095375" y="238125"/>
                </a:lnTo>
                <a:lnTo>
                  <a:pt x="828675" y="0"/>
                </a:lnTo>
                <a:lnTo>
                  <a:pt x="828675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96481"/>
          </a:solidFill>
          <a:ln xmlns:a="http://schemas.openxmlformats.org/drawingml/2006/main" w="14288">
            <a:solidFill>
              <a:srgbClr val="123D5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15A4E-B1E0-46D5-8472-1177C53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4"/>
                </a:solidFill>
                <a:latin typeface="Arial"/>
                <a:ea typeface="Arial"/>
                <a:cs typeface="Arial"/>
              </a:rPr>
              <a:t>FTC concerns about</a:t>
            </a:r>
          </a:p>
          <a:p xmlns:a="http://schemas.openxmlformats.org/drawingml/2006/main">
            <a:pPr>
              <a:defRPr sz="1725" b="0">
                <a:solidFill>
                  <a:srgbClr val="5667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4"/>
                </a:solidFill>
                <a:latin typeface="Arial"/>
                <a:ea typeface="Arial"/>
                <a:cs typeface="Arial"/>
              </a:rPr>
              <a:t>the planned richer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5E511-3778-412A-9838-E35F7DDD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38700"/>
            <a:ext cx="1061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Disclosure helps research, but can create privacy risks.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71868-50A9-4640-A129-42C007D7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What can researchers learn when implementation details are unavailable?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F8D07-CFAA-419D-B0D0-840D790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7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74"/>
                </a:solidFill>
                <a:latin typeface="Arial"/>
                <a:ea typeface="Arial"/>
                <a:cs typeface="Arial"/>
              </a:rPr>
              <a:t>Sources: Narayanan &amp; Shmatikov (2006/2008); FTC closing letter (2010)</a:t>
            </a:r>
          </a:p>
        </p:txBody>
      </p:sp>
    </p:spTree>
    <p:extLst>
      <p:ext uri="{BB962C8B-B14F-4D97-AF65-F5344CB8AC3E}">
        <p14:creationId xmlns:p14="http://schemas.microsoft.com/office/powerpoint/2010/main" val="1623431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2026-09-25T11:09:32.6220000Z</dcterms:created>
  <dcterms:modified xsi:type="dcterms:W3CDTF">2026-09-25T11:09:32.6220000Z</dcterms:modified>
</coreProperties>
</file>