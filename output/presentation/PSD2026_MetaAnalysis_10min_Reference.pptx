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560fa5b8824f09" /><Relationship Type="http://schemas.openxmlformats.org/officeDocument/2006/relationships/extended-properties" Target="/docProps/app.xml" Id="R7681aa86a98d4135" /><Relationship Type="http://schemas.openxmlformats.org/officeDocument/2006/relationships/officeDocument" Target="/ppt/presentation.xml" Id="R79b4c8dfe3eb4d6b" /></Relationships>
</file>

<file path=ppt/presentation.xml><?xml version="1.0" encoding="utf-8"?>
<p:presentation xmlns:p="http://schemas.openxmlformats.org/presentationml/2006/main">
  <p:sldMasterIdLst>
    <p:sldMasterId xmlns:r="http://schemas.openxmlformats.org/officeDocument/2006/relationships" id="2147483648" r:id="R521e0eee57844aa7"/>
  </p:sldMasterIdLst>
  <p:notesMasterIdLst>
    <p:notesMasterId xmlns:r="http://schemas.openxmlformats.org/officeDocument/2006/relationships" r:id="R1a106c4f23e741d0"/>
  </p:notesMasterIdLst>
  <p:sldIdLst>
    <p:sldId xmlns:r="http://schemas.openxmlformats.org/officeDocument/2006/relationships" id="256" r:id="R8e2a543955d84eec"/>
    <p:sldId xmlns:r="http://schemas.openxmlformats.org/officeDocument/2006/relationships" id="257" r:id="Rb200d79426534663"/>
    <p:sldId xmlns:r="http://schemas.openxmlformats.org/officeDocument/2006/relationships" id="258" r:id="Rd43df124938441a8"/>
    <p:sldId xmlns:r="http://schemas.openxmlformats.org/officeDocument/2006/relationships" id="259" r:id="R4b70644731f749ac"/>
    <p:sldId xmlns:r="http://schemas.openxmlformats.org/officeDocument/2006/relationships" id="260" r:id="Refebea59420e487c"/>
    <p:sldId xmlns:r="http://schemas.openxmlformats.org/officeDocument/2006/relationships" id="261" r:id="R657d24bce5ed4d5b"/>
    <p:sldId xmlns:r="http://schemas.openxmlformats.org/officeDocument/2006/relationships" id="262" r:id="R727f503ab7c3460c"/>
    <p:sldId xmlns:r="http://schemas.openxmlformats.org/officeDocument/2006/relationships" id="263" r:id="Rb68ad1032ead43f2"/>
    <p:sldId xmlns:r="http://schemas.openxmlformats.org/officeDocument/2006/relationships" id="264" r:id="Rac7257ab41024c0e"/>
    <p:sldId xmlns:r="http://schemas.openxmlformats.org/officeDocument/2006/relationships" id="265" r:id="R2d6844f578354932"/>
    <p:sldId xmlns:r="http://schemas.openxmlformats.org/officeDocument/2006/relationships" id="266" r:id="R1e001d8d2b19423c"/>
    <p:sldId xmlns:r="http://schemas.openxmlformats.org/officeDocument/2006/relationships" id="267" r:id="R1cbe254c03cd40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f1259ec58a484e" /><Relationship Type="http://schemas.openxmlformats.org/officeDocument/2006/relationships/slideMaster" Target="/ppt/slideMasters/slideMaster1.xml" Id="R521e0eee57844aa7" /><Relationship Type="http://schemas.openxmlformats.org/officeDocument/2006/relationships/notesMaster" Target="/ppt/notesMasters/notesMaster1.xml" Id="R1a106c4f23e741d0" /><Relationship Type="http://schemas.openxmlformats.org/officeDocument/2006/relationships/presProps" Target="/ppt/presProps.xml" Id="R2bc09507df464e49" /><Relationship Type="http://schemas.openxmlformats.org/officeDocument/2006/relationships/tableStyles" Target="/ppt/tableStyles.xml" Id="R79dc8488f2254497" /><Relationship Type="http://schemas.openxmlformats.org/officeDocument/2006/relationships/slide" Target="/ppt/slides/slide1.xml" Id="R8e2a543955d84eec" /><Relationship Type="http://schemas.openxmlformats.org/officeDocument/2006/relationships/slide" Target="/ppt/slides/slide2.xml" Id="Rb200d79426534663" /><Relationship Type="http://schemas.openxmlformats.org/officeDocument/2006/relationships/slide" Target="/ppt/slides/slide3.xml" Id="Rd43df124938441a8" /><Relationship Type="http://schemas.openxmlformats.org/officeDocument/2006/relationships/slide" Target="/ppt/slides/slide4.xml" Id="R4b70644731f749ac" /><Relationship Type="http://schemas.openxmlformats.org/officeDocument/2006/relationships/slide" Target="/ppt/slides/slide5.xml" Id="Refebea59420e487c" /><Relationship Type="http://schemas.openxmlformats.org/officeDocument/2006/relationships/slide" Target="/ppt/slides/slide6.xml" Id="R657d24bce5ed4d5b" /><Relationship Type="http://schemas.openxmlformats.org/officeDocument/2006/relationships/slide" Target="/ppt/slides/slide7.xml" Id="R727f503ab7c3460c" /><Relationship Type="http://schemas.openxmlformats.org/officeDocument/2006/relationships/slide" Target="/ppt/slides/slide8.xml" Id="Rb68ad1032ead43f2" /><Relationship Type="http://schemas.openxmlformats.org/officeDocument/2006/relationships/slide" Target="/ppt/slides/slide9.xml" Id="Rac7257ab41024c0e" /><Relationship Type="http://schemas.openxmlformats.org/officeDocument/2006/relationships/slide" Target="/ppt/slides/slide10.xml" Id="R2d6844f578354932" /><Relationship Type="http://schemas.openxmlformats.org/officeDocument/2006/relationships/slide" Target="/ppt/slides/slide11.xml" Id="R1e001d8d2b19423c" /><Relationship Type="http://schemas.openxmlformats.org/officeDocument/2006/relationships/slide" Target="/ppt/slides/slide12.xml" Id="R1cbe254c03cd40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3e4832cc9d4d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PSD Academic">
      <a:dk1>
        <a:srgbClr val="000000"/>
      </a:dk1>
      <a:lt1>
        <a:srgbClr val="FFFFFF"/>
      </a:lt1>
      <a:dk2>
        <a:srgbClr val="102A43"/>
      </a:dk2>
      <a:lt2>
        <a:srgbClr val="C8D3DA"/>
      </a:lt2>
      <a:accent1>
        <a:srgbClr val="1C8C8C"/>
      </a:accent1>
      <a:accent2>
        <a:srgbClr val="E76F51"/>
      </a:accent2>
      <a:accent3>
        <a:srgbClr val="E9B949"/>
      </a:accent3>
      <a:accent4>
        <a:srgbClr val="2A9D6F"/>
      </a:accent4>
      <a:accent5>
        <a:srgbClr val="163A5F"/>
      </a:accent5>
      <a:accent6>
        <a:srgbClr val="7A6F9B"/>
      </a:accent6>
      <a:hlink>
        <a:srgbClr val="1666B1"/>
      </a:hlink>
      <a:folHlink>
        <a:srgbClr val="6B4EA0"/>
      </a:folHlink>
    </a:clrScheme>
    <a:fontScheme name="Office">
      <a:majorFont>
        <a:latin typeface="Calibri Light"/>
        <a:ea typeface="Calibri Light"/>
        <a:cs typeface="Calibri Light"/>
      </a:majorFont>
      <a:minorFont>
        <a:latin typeface="Calibri"/>
        <a:ea typeface="Calibri"/>
        <a:cs typeface="Calibri"/>
      </a:minorFont>
    </a:fontScheme>
    <a:fmtScheme name="PSD 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3c940e60684434" /><Relationship Type="http://schemas.openxmlformats.org/officeDocument/2006/relationships/notesMaster" Target="/ppt/notesMasters/notesMaster1.xml" Id="R98b4d46f7bce48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b9523bf865425b" /><Relationship Type="http://schemas.openxmlformats.org/officeDocument/2006/relationships/notesMaster" Target="/ppt/notesMasters/notesMaster1.xml" Id="R0c2841634fef49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afed54fa074d31" /><Relationship Type="http://schemas.openxmlformats.org/officeDocument/2006/relationships/notesMaster" Target="/ppt/notesMasters/notesMaster1.xml" Id="R39645400410b48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f8ace99d174ed8" /><Relationship Type="http://schemas.openxmlformats.org/officeDocument/2006/relationships/notesMaster" Target="/ppt/notesMasters/notesMaster1.xml" Id="R1829d2e0ce6540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aac0231ae3410e" /><Relationship Type="http://schemas.openxmlformats.org/officeDocument/2006/relationships/notesMaster" Target="/ppt/notesMasters/notesMaster1.xml" Id="R014fb0fe5ddf42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0aa88540f34d15" /><Relationship Type="http://schemas.openxmlformats.org/officeDocument/2006/relationships/notesMaster" Target="/ppt/notesMasters/notesMaster1.xml" Id="Rebaa88f2bd1c40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e1242cc61744d6" /><Relationship Type="http://schemas.openxmlformats.org/officeDocument/2006/relationships/notesMaster" Target="/ppt/notesMasters/notesMaster1.xml" Id="R1eed108e768e4f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b82763dfa244d5" /><Relationship Type="http://schemas.openxmlformats.org/officeDocument/2006/relationships/notesMaster" Target="/ppt/notesMasters/notesMaster1.xml" Id="Rb7a31106d80947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20de6b397e4ed1" /><Relationship Type="http://schemas.openxmlformats.org/officeDocument/2006/relationships/notesMaster" Target="/ppt/notesMasters/notesMaster1.xml" Id="R9d5a214c93ab41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253a73490c4b71" /><Relationship Type="http://schemas.openxmlformats.org/officeDocument/2006/relationships/notesMaster" Target="/ppt/notesMasters/notesMaster1.xml" Id="R00afa44dbe2f41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900d8641804175" /><Relationship Type="http://schemas.openxmlformats.org/officeDocument/2006/relationships/notesMaster" Target="/ppt/notesMasters/notesMaster1.xml" Id="Rd3e76e3b73ed47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dd47b4d81e4023" /><Relationship Type="http://schemas.openxmlformats.org/officeDocument/2006/relationships/notesMaster" Target="/ppt/notesMasters/notesMaster1.xml" Id="R4c353ddc8a5b40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a:t>
            </a:r>
          </a:p>
          <a:p xmlns:a="http://schemas.openxmlformats.org/drawingml/2006/main">
            <a:r>
              <a:t/>
            </a:r>
          </a:p>
          <a:p xmlns:a="http://schemas.openxmlformats.org/drawingml/2006/main">
            <a:r>
              <a:t>Suggested script:</a:t>
            </a:r>
          </a:p>
          <a:p xmlns:a="http://schemas.openxmlformats.org/drawingml/2006/main">
            <a:r>
              <a:t>Good afternoon. We asked a practical question: what can we learn from an anonymization competition when we observe the outcomes but almost none of the implementations? I will show how we reconstructed strategy patterns from the PWS Cup 2025 showcase, and what those patterns suggest about utility and disclosure risk.</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1–2.</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0:55</a:t>
            </a:r>
          </a:p>
          <a:p xmlns:a="http://schemas.openxmlformats.org/drawingml/2006/main">
            <a:r>
              <a:t/>
            </a:r>
          </a:p>
          <a:p xmlns:a="http://schemas.openxmlformats.org/drawingml/2006/main">
            <a:r>
              <a:t>Suggested script:</a:t>
            </a:r>
          </a:p>
          <a:p xmlns:a="http://schemas.openxmlformats.org/drawingml/2006/main">
            <a:r>
              <a:t>Practical privacy evaluation needs real attacks, and competitions are unusually valuable because teams actively try to break one another's releases. The difficulty is interpretation. PWS Cup 2025 had 24 registered teams, but only two released code. We therefore treated the missing methods as the research problem itself and asked whether the public showcase contained enough structured information for an exploratory meta-analysis.</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1–3.</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Suggested script:</a:t>
            </a:r>
          </a:p>
          <a:p xmlns:a="http://schemas.openxmlformats.org/drawingml/2006/main">
            <a:r>
              <a:t>The secretariat creates a population of one hundred thousand synthetic patients and gives each team a hidden sample of ten thousand. Each team releases anonymized data and an XGBoost stroke-risk model. In the attack phase, every other team receives the population, the anonymized data, and the model, then predicts sample membership. The competition therefore gives us both a utility outcome and an empirical disclosure outcome under active attack.</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3–5.</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a:t>
            </a:r>
          </a:p>
          <a:p xmlns:a="http://schemas.openxmlformats.org/drawingml/2006/main">
            <a:r>
              <a:t/>
            </a:r>
          </a:p>
          <a:p xmlns:a="http://schemas.openxmlformats.org/drawingml/2006/main">
            <a:r>
              <a:t>Suggested script:</a:t>
            </a:r>
          </a:p>
          <a:p xmlns:a="http://schemas.openxmlformats.org/drawingml/2006/main">
            <a:r>
              <a:t>We attended the final showcase and reconstructed the methods from posters and short presentations. Twenty teams provided enough information to code. The most important split was whether a team transformed its hidden sample directly, or generated or reconstructed a fresh dataset. On the attack side, most teams matched records by distance, while a smaller group used an attacker-trained membership-scoring model. We encoded these choices in a hierarchical categorical codebook.</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4–7.</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Suggested script:</a:t>
            </a:r>
          </a:p>
          <a:p xmlns:a="http://schemas.openxmlformats.org/drawingml/2006/main">
            <a:r>
              <a:t>The two hypotheses require different units of analysis. For H1, each team is one observation. We foreground Hedges' g because it communicates magnitude, then use sparse AICc-selected regressions only to check whether patterns survive limited adjustment. For H2, a team-level attack score would erase the matching between a defense and an attack. We therefore model all 361 ordered attacker-victim pairs with a negative binomial regression and cluster by both attacker and victim.</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5–9.</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a:t>
            </a:r>
          </a:p>
          <a:p xmlns:a="http://schemas.openxmlformats.org/drawingml/2006/main">
            <a:r>
              <a:t/>
            </a:r>
          </a:p>
          <a:p xmlns:a="http://schemas.openxmlformats.org/drawingml/2006/main">
            <a:r>
              <a:t>Suggested script:</a:t>
            </a:r>
          </a:p>
          <a:p xmlns:a="http://schemas.openxmlformats.org/drawingml/2006/main">
            <a:r>
              <a:t>H1 received support in this contest setting. Teams that did not start from the hidden sample had a very large utility advantage, with g equal to 1.55. Synthesis also showed a large utility effect of 1.26 and a large post-penalty anonymization effect of 1.01. Optimization looked helpful in the univariate comparison, but AICc did not retain it once broader design choices were considered, probably because optimization clustered with synthetic or reconstruction-based strategies. Swapping helped anonymity more than utility. The common factor across both outcomes was synthesis.</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9–11.</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a:t>
            </a:r>
          </a:p>
          <a:p xmlns:a="http://schemas.openxmlformats.org/drawingml/2006/main">
            <a:r>
              <a:t/>
            </a:r>
          </a:p>
          <a:p xmlns:a="http://schemas.openxmlformats.org/drawingml/2006/main">
            <a:r>
              <a:t>Suggested script:</a:t>
            </a:r>
          </a:p>
          <a:p xmlns:a="http://schemas.openxmlformats.org/drawingml/2006/main">
            <a:r>
              <a:t>H2 received partial support. Across the four victim-side anonymization features, expected exposed records fell by 27 to 37 percent, corresponding to IRRs from 0.63 to 0.73. Using the released model together with the anonymized data was slightly disadvantageous for attackers, and an attacker-trained model component had no clear main effect. The interaction with attack target was statistically significant, but the combined effect remained below one. In short, pairing matters, yet the victim's anonymization choice dominates the attack channel.</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11–12.</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a:t>
            </a:r>
          </a:p>
          <a:p xmlns:a="http://schemas.openxmlformats.org/drawingml/2006/main">
            <a:r>
              <a:t/>
            </a:r>
          </a:p>
          <a:p xmlns:a="http://schemas.openxmlformats.org/drawingml/2006/main">
            <a:r>
              <a:t>Suggested script:</a:t>
            </a:r>
          </a:p>
          <a:p xmlns:a="http://schemas.openxmlformats.org/drawingml/2006/main">
            <a:r>
              <a:t>These are associations in one competition, not causal estimates or universal rankings. The sample is small, strategy coding came from presentations rather than implementations, and the features overlap. The practical recommendation follows directly from the limitation: future competitions should collect a short structured strategy sheet, record the evidence source for each answer, and reuse the same codebook across years. That would turn competition outcomes into cumulative evidence rather than isolated leaderboards.</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12–13.</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Suggested script:</a:t>
            </a:r>
          </a:p>
          <a:p xmlns:a="http://schemas.openxmlformats.org/drawingml/2006/main">
            <a:r>
              <a:t>To conclude, the methodological contribution is that showcase materials can be turned into analyzable strategy data, with clear limits. Substantively, generation-based designs were associated with better utility and anonymization in this contest, and victim-side anonymization mattered more than the attack channel. The strongest next step is simple: preserve strategy metadata when the competition preserves the scores. Thank you.</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 13.</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Suggested script:</a:t>
            </a:r>
          </a:p>
          <a:p xmlns:a="http://schemas.openxmlformats.org/drawingml/2006/main">
            <a:r>
              <a:t>Use this slide if the audience asks how balanced the feature categories were. Emphasize that the minimum-frequency rule excluded rarer choices from the core analysis.</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6–7 and 17.</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Suggested script:</a:t>
            </a:r>
          </a:p>
          <a:p xmlns:a="http://schemas.openxmlformats.org/drawingml/2006/main">
            <a:r>
              <a:t>Use this slide if the audience needs the scoring definitions. The main talk avoids the formula details because the central comparison uses standardized effect sizes.</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3–4.</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Suggested script:</a:t>
            </a:r>
          </a:p>
          <a:p xmlns:a="http://schemas.openxmlformats.org/drawingml/2006/main">
            <a:r>
              <a:t>Use this slide for methodological questions. Stress that the regressions cross-check the effect-size patterns; they are not intended as predictive models. The dyadic model preserves the attacker-victim pairing and uses two-way clustering for repeated observations.</a:t>
            </a:r>
          </a:p>
          <a:p xmlns:a="http://schemas.openxmlformats.org/drawingml/2006/main">
            <a:r>
              <a:t/>
            </a:r>
          </a:p>
          <a:p xmlns:a="http://schemas.openxmlformats.org/drawingml/2006/main">
            <a:r>
              <a:t>Sources:</a:t>
            </a:r>
          </a:p>
          <a:p xmlns:a="http://schemas.openxmlformats.org/drawingml/2006/main">
            <a:r>
              <a:t>Kikuchi, Ono, and Minami, “Patterns Without Source: A Meta-Analysis of PWS Cup 2025,” PSD 2026 USB proceedings version, pp. 7–9.</a:t>
            </a:r>
          </a:p>
          <a:p xmlns:a="http://schemas.openxmlformats.org/drawingml/2006/main">
            <a:r>
              <a:t>PSD 2026 programme: https://crises-deim.urv.cat/psd2026/program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80c9a059c642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6ca42786b649af" /><Relationship Type="http://schemas.openxmlformats.org/officeDocument/2006/relationships/slideLayout" Target="/ppt/slideLayouts/slideLayout1.xml" Id="R81513108777142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513108777142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PSD Academic">
      <a:dk1>
        <a:srgbClr val="000000"/>
      </a:dk1>
      <a:lt1>
        <a:srgbClr val="FFFFFF"/>
      </a:lt1>
      <a:dk2>
        <a:srgbClr val="102A43"/>
      </a:dk2>
      <a:lt2>
        <a:srgbClr val="C8D3DA"/>
      </a:lt2>
      <a:accent1>
        <a:srgbClr val="1C8C8C"/>
      </a:accent1>
      <a:accent2>
        <a:srgbClr val="E76F51"/>
      </a:accent2>
      <a:accent3>
        <a:srgbClr val="E9B949"/>
      </a:accent3>
      <a:accent4>
        <a:srgbClr val="2A9D6F"/>
      </a:accent4>
      <a:accent5>
        <a:srgbClr val="163A5F"/>
      </a:accent5>
      <a:accent6>
        <a:srgbClr val="7A6F9B"/>
      </a:accent6>
      <a:hlink>
        <a:srgbClr val="1666B1"/>
      </a:hlink>
      <a:folHlink>
        <a:srgbClr val="6B4EA0"/>
      </a:folHlink>
    </a:clrScheme>
    <a:fontScheme name="Office">
      <a:majorFont>
        <a:latin typeface="Calibri Light"/>
        <a:ea typeface="Calibri Light"/>
        <a:cs typeface="Calibri Light"/>
      </a:majorFont>
      <a:minorFont>
        <a:latin typeface="Calibri"/>
        <a:ea typeface="Calibri"/>
        <a:cs typeface="Calibri"/>
      </a:minorFont>
    </a:fontScheme>
    <a:fmtScheme name="PSD 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ee5b56d39b4c02" /><Relationship Type="http://schemas.openxmlformats.org/officeDocument/2006/relationships/notesSlide" Target="/ppt/notesSlides/notesSlide1.xml" Id="R0bdf146fb0714e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79592b559f4347" /><Relationship Type="http://schemas.openxmlformats.org/officeDocument/2006/relationships/notesSlide" Target="/ppt/notesSlides/notesSlide2.xml" Id="Rc23d6ffe771d41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e9b3321dfb4ec0" /><Relationship Type="http://schemas.openxmlformats.org/officeDocument/2006/relationships/notesSlide" Target="/ppt/notesSlides/notesSlide3.xml" Id="Rb2f7f2da74e847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b6de7f140349ef" /><Relationship Type="http://schemas.openxmlformats.org/officeDocument/2006/relationships/notesSlide" Target="/ppt/notesSlides/notesSlide4.xml" Id="Rba7cabfced3f4e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3a4e5668f64b64" /><Relationship Type="http://schemas.openxmlformats.org/officeDocument/2006/relationships/notesSlide" Target="/ppt/notesSlides/notesSlide5.xml" Id="R998876f294f949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7a1264c5544956" /><Relationship Type="http://schemas.openxmlformats.org/officeDocument/2006/relationships/chart" Target="/ppt/slides/charts/chart1.xml" Id="R92f349b533d442d8" /><Relationship Type="http://schemas.openxmlformats.org/officeDocument/2006/relationships/notesSlide" Target="/ppt/notesSlides/notesSlide6.xml" Id="R34b20e22e8a64e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08efd2b0d6480e" /><Relationship Type="http://schemas.openxmlformats.org/officeDocument/2006/relationships/notesSlide" Target="/ppt/notesSlides/notesSlide7.xml" Id="Rb131b8e9854d4d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c7db4ef5cd4cab" /><Relationship Type="http://schemas.openxmlformats.org/officeDocument/2006/relationships/notesSlide" Target="/ppt/notesSlides/notesSlide8.xml" Id="Ra92f5856f1414c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87a55c0fea4901" /><Relationship Type="http://schemas.openxmlformats.org/officeDocument/2006/relationships/notesSlide" Target="/ppt/notesSlides/notesSlide9.xml" Id="R80f41db475b849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d9b7458907429f" /><Relationship Type="http://schemas.openxmlformats.org/officeDocument/2006/relationships/notesSlide" Target="/ppt/notesSlides/notesSlide10.xml" Id="R55b0bda0550544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338a71caeb64191" /><Relationship Type="http://schemas.openxmlformats.org/officeDocument/2006/relationships/notesSlide" Target="/ppt/notesSlides/notesSlide11.xml" Id="R68631a22f0fa4b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c7eb6792664ef5" /><Relationship Type="http://schemas.openxmlformats.org/officeDocument/2006/relationships/notesSlide" Target="/ppt/notesSlides/notesSlide12.xml" Id="Racd948d18fe24bef" /></Relationships>
</file>

<file path=ppt/slides/charts/chart1.xml><?xml version="1.0" encoding="utf-8"?>
<c:chartSpace xmlns:c="http://schemas.openxmlformats.org/drawingml/2006/chart">
  <c:lang val="en-US"/>
  <c:chart>
    <c:plotArea>
      <c:barChart>
        <c:barDir val="bar"/>
        <c:grouping val="clustered"/>
        <c:varyColors val="0"/>
        <c:ser>
          <c:idx val="0"/>
          <c:order val="0"/>
          <c:tx>
            <c:v>Hedges’ g</c:v>
          </c:tx>
          <c:spPr>
            <a:solidFill xmlns:a="http://schemas.openxmlformats.org/drawingml/2006/main">
              <a:srgbClr val="1C8C8C"/>
            </a:solidFill>
          </c:spPr>
          <c:dPt>
            <c:idx val="0"/>
            <c:invertIfNegative val="0"/>
            <c:spPr>
              <a:solidFill xmlns:a="http://schemas.openxmlformats.org/drawingml/2006/main">
                <a:srgbClr val="1C8C8C"/>
              </a:solidFill>
            </c:spPr>
          </c:dPt>
          <c:dPt>
            <c:idx val="1"/>
            <c:invertIfNegative val="0"/>
            <c:spPr>
              <a:solidFill xmlns:a="http://schemas.openxmlformats.org/drawingml/2006/main">
                <a:srgbClr val="42AAA7"/>
              </a:solidFill>
            </c:spPr>
          </c:dPt>
          <c:dPt>
            <c:idx val="2"/>
            <c:invertIfNegative val="0"/>
            <c:spPr>
              <a:solidFill xmlns:a="http://schemas.openxmlformats.org/drawingml/2006/main">
                <a:srgbClr val="E76F51"/>
              </a:solidFill>
            </c:spPr>
          </c:dPt>
          <c:cat>
            <c:strLit>
              <c:ptCount val="3"/>
              <c:pt idx="0">
                <c:v>Other base
Utility</c:v>
              </c:pt>
              <c:pt idx="1">
                <c:v>Synthesis
Utility</c:v>
              </c:pt>
              <c:pt idx="2">
                <c:v>Synthesis
Anonymization</c:v>
              </c:pt>
            </c:strLit>
          </c:cat>
          <c:val>
            <c:numLit>
              <c:formatCode>General</c:formatCode>
              <c:ptCount val="3"/>
              <c:pt idx="0">
                <c:v>1.55</c:v>
              </c:pt>
              <c:pt idx="1">
                <c:v>1.26</c:v>
              </c:pt>
              <c:pt idx="2">
                <c:v>1.01</c:v>
              </c:pt>
            </c:numLit>
          </c:val>
        </c:ser>
        <c:dLbls>
          <c:txPr>
            <a:bodyPr xmlns:a="http://schemas.openxmlformats.org/drawingml/2006/main" anchorCtr="1"/>
            <a:lstStyle xmlns:a="http://schemas.openxmlformats.org/drawingml/2006/main"/>
            <a:p xmlns:a="http://schemas.openxmlformats.org/drawingml/2006/main">
              <a:pPr>
                <a:defRPr sz="1350" b="1">
                  <a:solidFill>
                    <a:srgbClr val="102A43"/>
                  </a:solidFill>
                  <a:latin typeface="Segoe UI"/>
                  <a:ea typeface="Segoe UI"/>
                  <a:cs typeface="Segoe UI"/>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majorGridlines>
          <c:spPr>
            <a:ln xmlns:a="http://schemas.openxmlformats.org/drawingml/2006/main" w="9525">
              <a:solidFill>
                <a:srgbClr val="DFE7EB"/>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26777"/>
                    </a:solidFill>
                    <a:latin typeface="Segoe UI"/>
                    <a:ea typeface="Segoe UI"/>
                    <a:cs typeface="Segoe UI"/>
                  </a:rPr>
                  <a:t>Hedges’ g</a:t>
                </a:r>
              </a:p>
            </c:rich>
          </c:tx>
          <c:overlay val="0"/>
          <c:txPr>
            <a:bodyPr xmlns:a="http://schemas.openxmlformats.org/drawingml/2006/main" anchorCtr="1"/>
            <a:lstStyle xmlns:a="http://schemas.openxmlformats.org/drawingml/2006/main"/>
            <a:p xmlns:a="http://schemas.openxmlformats.org/drawingml/2006/main">
              <a:pPr>
                <a:defRPr sz="1125">
                  <a:solidFill>
                    <a:srgbClr val="526777"/>
                  </a:solidFill>
                  <a:latin typeface="Segoe UI"/>
                  <a:ea typeface="Segoe UI"/>
                  <a:cs typeface="Segoe UI"/>
                </a:defRPr>
              </a:pPr>
            </a:p>
          </c:txPr>
        </c:title>
        <c:numFmt formatCode="0.0"/>
        <c:majorTickMark val="none"/>
        <c:minorTickMark val="none"/>
        <c:spPr>
          <a:ln xmlns:a="http://schemas.openxmlformats.org/drawingml/2006/main" w="9525">
            <a:solidFill>
              <a:srgbClr val="C8D3DA"/>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777"/>
                </a:solidFill>
                <a:latin typeface="Segoe UI"/>
                <a:ea typeface="Segoe UI"/>
                <a:cs typeface="Segoe U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D3DA"/>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B3A"/>
                </a:solidFill>
                <a:latin typeface="Segoe UI"/>
                <a:ea typeface="Segoe UI"/>
                <a:cs typeface="Segoe UI"/>
              </a:defRPr>
            </a:pPr>
          </a:p>
        </c:txPr>
        <c:crossAx val="48650112"/>
        <c:crossBetween val="between"/>
      </c:valAx>
      <c:spPr>
        <a:noFill xmlns:a="http://schemas.openxmlformats.org/drawingml/2006/mai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gradFill xmlns:a="http://schemas.openxmlformats.org/drawingml/2006/main">
          <a:gsLst>
            <a:gs pos="0">
              <a:srgbClr val="0A2239"/>
            </a:gs>
            <a:gs pos="100000">
              <a:srgbClr val="143E5A"/>
            </a:gs>
          </a:gsLst>
          <a:lin ang="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09FF55-3050-4200-814A-54E4D8D0A7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ED0388-439C-45C8-8B1D-D2FEEF0C598B}"/>
              </a:ext>
            </a:extLst>
          </p:cNvPr>
          <p:cNvSpPr>
            <a:spLocks xmlns:a="http://schemas.openxmlformats.org/drawingml/2006/main" noGrp="1"/>
          </p:cNvSpPr>
          <p:nvPr/>
        </p:nvSpPr>
        <p:spPr>
          <a:xfrm xmlns:a="http://schemas.openxmlformats.org/drawingml/2006/main">
            <a:off x="723900" y="6096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5D2"/>
                </a:solidFill>
                <a:latin typeface="Segoe UI"/>
                <a:ea typeface="Segoe UI"/>
                <a:cs typeface="Segoe UI"/>
              </a:defRPr>
            </a:pPr>
            <a:r>
              <a:rPr sz="1350" b="1">
                <a:solidFill>
                  <a:srgbClr val="79D5D2"/>
                </a:solidFill>
                <a:latin typeface="Segoe UI"/>
                <a:ea typeface="Segoe UI"/>
                <a:cs typeface="Segoe UI"/>
              </a:rPr>
              <a:t>PSD 2026: SHORT PAPER</a:t>
            </a:r>
          </a:p>
        </p:txBody>
      </p:sp>
      <p:sp>
        <p:nvSpPr>
          <p:cNvPr id="3" name="">
            <a:extLst xmlns:a="http://schemas.openxmlformats.org/drawingml/2006/main">
              <a:ext uri="{FF2B5EF4-FFF2-40B4-BE49-F238E27FC236}">
                <a16:creationId xmlns:a16="http://schemas.microsoft.com/office/drawing/2014/main" id="{18392E59-3793-4B2A-A15A-FF30A8E4BC74}"/>
              </a:ext>
            </a:extLst>
          </p:cNvPr>
          <p:cNvSpPr>
            <a:spLocks xmlns:a="http://schemas.openxmlformats.org/drawingml/2006/main" noGrp="1"/>
          </p:cNvSpPr>
          <p:nvPr/>
        </p:nvSpPr>
        <p:spPr>
          <a:xfrm xmlns:a="http://schemas.openxmlformats.org/drawingml/2006/main">
            <a:off x="723900" y="1409700"/>
            <a:ext cx="100012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Patterns Without Source:</a:t>
            </a:r>
          </a:p>
          <a:p xmlns:a="http://schemas.openxmlformats.org/drawingml/2006/main">
            <a:pPr algn="l">
              <a:lnSpc>
                <a:spcPct val="94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A Meta-Analysis of PWS Cup 2025</a:t>
            </a:r>
          </a:p>
        </p:txBody>
      </p:sp>
      <p:sp>
        <p:nvSpPr>
          <p:cNvPr id="4" name="">
            <a:extLst xmlns:a="http://schemas.openxmlformats.org/drawingml/2006/main">
              <a:ext uri="{FF2B5EF4-FFF2-40B4-BE49-F238E27FC236}">
                <a16:creationId xmlns:a16="http://schemas.microsoft.com/office/drawing/2014/main" id="{62E9D0C3-7261-4370-9881-5A060775D335}"/>
              </a:ext>
            </a:extLst>
          </p:cNvPr>
          <p:cNvSpPr>
            <a:spLocks xmlns:a="http://schemas.openxmlformats.org/drawingml/2006/main" noGrp="1"/>
          </p:cNvSpPr>
          <p:nvPr/>
        </p:nvSpPr>
        <p:spPr>
          <a:xfrm xmlns:a="http://schemas.openxmlformats.org/drawingml/2006/main">
            <a:off x="723900" y="3524250"/>
            <a:ext cx="2952750" cy="0"/>
          </a:xfrm>
          <a:prstGeom xmlns:a="http://schemas.openxmlformats.org/drawingml/2006/main" prst="line">
            <a:avLst/>
          </a:prstGeom>
          <a:noFill xmlns:a="http://schemas.openxmlformats.org/drawingml/2006/main"/>
          <a:ln xmlns:a="http://schemas.openxmlformats.org/drawingml/2006/main" w="47625">
            <a:solidFill>
              <a:srgbClr val="E76F51"/>
            </a:solidFill>
            <a:prstDash val="solid"/>
          </a:ln>
        </p:spPr>
      </p:sp>
      <p:sp>
        <p:nvSpPr>
          <p:cNvPr id="5" name="">
            <a:extLst xmlns:a="http://schemas.openxmlformats.org/drawingml/2006/main">
              <a:ext uri="{FF2B5EF4-FFF2-40B4-BE49-F238E27FC236}">
                <a16:creationId xmlns:a16="http://schemas.microsoft.com/office/drawing/2014/main" id="{A2600DE2-F052-4294-8104-082AF27D6557}"/>
              </a:ext>
            </a:extLst>
          </p:cNvPr>
          <p:cNvSpPr>
            <a:spLocks xmlns:a="http://schemas.openxmlformats.org/drawingml/2006/main" noGrp="1"/>
          </p:cNvSpPr>
          <p:nvPr/>
        </p:nvSpPr>
        <p:spPr>
          <a:xfrm xmlns:a="http://schemas.openxmlformats.org/drawingml/2006/main">
            <a:off x="723900" y="3848100"/>
            <a:ext cx="8191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FF4"/>
                </a:solidFill>
                <a:latin typeface="Segoe UI"/>
                <a:ea typeface="Segoe UI"/>
                <a:cs typeface="Segoe UI"/>
              </a:defRPr>
            </a:pPr>
            <a:r>
              <a:rPr sz="1875" b="0">
                <a:solidFill>
                  <a:srgbClr val="E6EFF4"/>
                </a:solidFill>
                <a:latin typeface="Segoe UI"/>
                <a:ea typeface="Segoe UI"/>
                <a:cs typeface="Segoe UI"/>
              </a:rPr>
              <a:t>Hinata Kikuchi, Hajime Ono, Kazuhiro Minami</a:t>
            </a:r>
          </a:p>
        </p:txBody>
      </p:sp>
      <p:sp>
        <p:nvSpPr>
          <p:cNvPr id="6" name="">
            <a:extLst xmlns:a="http://schemas.openxmlformats.org/drawingml/2006/main">
              <a:ext uri="{FF2B5EF4-FFF2-40B4-BE49-F238E27FC236}">
                <a16:creationId xmlns:a16="http://schemas.microsoft.com/office/drawing/2014/main" id="{AC1F9298-E001-44BC-BF73-7262BD9ED1EC}"/>
              </a:ext>
            </a:extLst>
          </p:cNvPr>
          <p:cNvSpPr>
            <a:spLocks xmlns:a="http://schemas.openxmlformats.org/drawingml/2006/main" noGrp="1"/>
          </p:cNvSpPr>
          <p:nvPr/>
        </p:nvSpPr>
        <p:spPr>
          <a:xfrm xmlns:a="http://schemas.openxmlformats.org/drawingml/2006/main">
            <a:off x="723900" y="51435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0">
                <a:solidFill>
                  <a:srgbClr val="B8D6E5"/>
                </a:solidFill>
                <a:latin typeface="Segoe UI"/>
                <a:ea typeface="Segoe UI"/>
                <a:cs typeface="Segoe UI"/>
              </a:defRPr>
            </a:pPr>
            <a:r>
              <a:rPr sz="2100" b="0">
                <a:solidFill>
                  <a:srgbClr val="B8D6E5"/>
                </a:solidFill>
                <a:latin typeface="Segoe UI"/>
                <a:ea typeface="Segoe UI"/>
                <a:cs typeface="Segoe UI"/>
              </a:rPr>
              <a:t>What can a competition reveal when almost no one releases code?</a:t>
            </a:r>
          </a:p>
        </p:txBody>
      </p:sp>
      <p:sp>
        <p:nvSpPr>
          <p:cNvPr id="7" name="">
            <a:extLst xmlns:a="http://schemas.openxmlformats.org/drawingml/2006/main">
              <a:ext uri="{FF2B5EF4-FFF2-40B4-BE49-F238E27FC236}">
                <a16:creationId xmlns:a16="http://schemas.microsoft.com/office/drawing/2014/main" id="{B110C53C-1DE5-441C-B457-2554B161D249}"/>
              </a:ext>
            </a:extLst>
          </p:cNvPr>
          <p:cNvSpPr>
            <a:spLocks xmlns:a="http://schemas.openxmlformats.org/drawingml/2006/main" noGrp="1"/>
          </p:cNvSpPr>
          <p:nvPr/>
        </p:nvSpPr>
        <p:spPr>
          <a:xfrm xmlns:a="http://schemas.openxmlformats.org/drawingml/2006/main">
            <a:off x="723900" y="61912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AFC6D3"/>
                </a:solidFill>
                <a:latin typeface="Segoe UI"/>
                <a:ea typeface="Segoe UI"/>
                <a:cs typeface="Segoe UI"/>
              </a:defRPr>
            </a:pPr>
            <a:r>
              <a:rPr sz="1125" b="0">
                <a:solidFill>
                  <a:srgbClr val="AFC6D3"/>
                </a:solidFill>
                <a:latin typeface="Segoe UI"/>
                <a:ea typeface="Segoe UI"/>
                <a:cs typeface="Segoe UI"/>
              </a:rPr>
              <a:t>Privacy in Statistical Databases 2026, Cádiz, Spain</a:t>
            </a:r>
          </a:p>
        </p:txBody>
      </p:sp>
    </p:spTree>
    <p:extLst>
      <p:ext uri="{BB962C8B-B14F-4D97-AF65-F5344CB8AC3E}">
        <p14:creationId xmlns:p14="http://schemas.microsoft.com/office/powerpoint/2010/main" val="2245546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88DEF92-C053-40D9-931F-A58767A0367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DFB3A1-88FD-4209-925A-3BA62C9D0937}"/>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Evidence without source code</a:t>
            </a:r>
          </a:p>
        </p:txBody>
      </p:sp>
      <p:sp>
        <p:nvSpPr>
          <p:cNvPr id="3" name="">
            <a:extLst xmlns:a="http://schemas.openxmlformats.org/drawingml/2006/main">
              <a:ext uri="{FF2B5EF4-FFF2-40B4-BE49-F238E27FC236}">
                <a16:creationId xmlns:a16="http://schemas.microsoft.com/office/drawing/2014/main" id="{43429237-D4CB-4AA5-B404-772C4D5F520D}"/>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1C8C8C"/>
                </a:solidFill>
                <a:latin typeface="Segoe UI"/>
                <a:ea typeface="Segoe UI"/>
                <a:cs typeface="Segoe UI"/>
              </a:defRPr>
            </a:pPr>
            <a:r>
              <a:rPr sz="1275" b="1">
                <a:solidFill>
                  <a:srgbClr val="1C8C8C"/>
                </a:solidFill>
                <a:latin typeface="Segoe UI"/>
                <a:ea typeface="Segoe UI"/>
                <a:cs typeface="Segoe UI"/>
              </a:rPr>
              <a:t>02</a:t>
            </a:r>
          </a:p>
        </p:txBody>
      </p:sp>
      <p:sp>
        <p:nvSpPr>
          <p:cNvPr id="4" name="">
            <a:extLst xmlns:a="http://schemas.openxmlformats.org/drawingml/2006/main">
              <a:ext uri="{FF2B5EF4-FFF2-40B4-BE49-F238E27FC236}">
                <a16:creationId xmlns:a16="http://schemas.microsoft.com/office/drawing/2014/main" id="{DFB37778-D962-40F9-9908-D9EB5D738C6E}"/>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5" name="">
            <a:extLst xmlns:a="http://schemas.openxmlformats.org/drawingml/2006/main">
              <a:ext uri="{FF2B5EF4-FFF2-40B4-BE49-F238E27FC236}">
                <a16:creationId xmlns:a16="http://schemas.microsoft.com/office/drawing/2014/main" id="{9B41BE1F-8B69-4005-96AA-18A716E5E004}"/>
              </a:ext>
            </a:extLst>
          </p:cNvPr>
          <p:cNvSpPr>
            <a:spLocks xmlns:a="http://schemas.openxmlformats.org/drawingml/2006/main" noGrp="1"/>
          </p:cNvSpPr>
          <p:nvPr/>
        </p:nvSpPr>
        <p:spPr>
          <a:xfrm xmlns:a="http://schemas.openxmlformats.org/drawingml/2006/main">
            <a:off x="685800" y="125730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250" b="1">
                <a:solidFill>
                  <a:srgbClr val="102A43"/>
                </a:solidFill>
                <a:latin typeface="Segoe UI"/>
                <a:ea typeface="Segoe UI"/>
                <a:cs typeface="Segoe UI"/>
              </a:defRPr>
            </a:pPr>
            <a:r>
              <a:rPr sz="2250" b="1">
                <a:solidFill>
                  <a:srgbClr val="102A43"/>
                </a:solidFill>
                <a:latin typeface="Segoe UI"/>
                <a:ea typeface="Segoe UI"/>
                <a:cs typeface="Segoe UI"/>
              </a:rPr>
              <a:t>Real attacks provide evidence that formal guarantees alone cannot supply</a:t>
            </a:r>
          </a:p>
        </p:txBody>
      </p:sp>
      <p:sp>
        <p:nvSpPr>
          <p:cNvPr id="6" name="">
            <a:extLst xmlns:a="http://schemas.openxmlformats.org/drawingml/2006/main">
              <a:ext uri="{FF2B5EF4-FFF2-40B4-BE49-F238E27FC236}">
                <a16:creationId xmlns:a16="http://schemas.microsoft.com/office/drawing/2014/main" id="{5E9612A6-569D-4CE4-B0C1-31E9EFC59AC6}"/>
              </a:ext>
            </a:extLst>
          </p:cNvPr>
          <p:cNvSpPr>
            <a:spLocks xmlns:a="http://schemas.openxmlformats.org/drawingml/2006/main" noGrp="1"/>
          </p:cNvSpPr>
          <p:nvPr/>
        </p:nvSpPr>
        <p:spPr>
          <a:xfrm xmlns:a="http://schemas.openxmlformats.org/drawingml/2006/main">
            <a:off x="685800" y="228600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26777"/>
                </a:solidFill>
                <a:latin typeface="Segoe UI"/>
                <a:ea typeface="Segoe UI"/>
                <a:cs typeface="Segoe UI"/>
              </a:defRPr>
            </a:pPr>
            <a:r>
              <a:rPr sz="1725" b="0">
                <a:solidFill>
                  <a:srgbClr val="526777"/>
                </a:solidFill>
                <a:latin typeface="Segoe UI"/>
                <a:ea typeface="Segoe UI"/>
                <a:cs typeface="Segoe UI"/>
              </a:rPr>
              <a:t>Competitions expose anonymized outputs to motivated attackers. Yet methods often remain private, so published scores lose much of their explanatory value.</a:t>
            </a:r>
          </a:p>
        </p:txBody>
      </p:sp>
      <p:sp>
        <p:nvSpPr>
          <p:cNvPr id="7" name="">
            <a:extLst xmlns:a="http://schemas.openxmlformats.org/drawingml/2006/main">
              <a:ext uri="{FF2B5EF4-FFF2-40B4-BE49-F238E27FC236}">
                <a16:creationId xmlns:a16="http://schemas.microsoft.com/office/drawing/2014/main" id="{B7DCD171-5CCA-4453-A000-93A077EC0A4F}"/>
              </a:ext>
            </a:extLst>
          </p:cNvPr>
          <p:cNvSpPr>
            <a:spLocks xmlns:a="http://schemas.openxmlformats.org/drawingml/2006/main" noGrp="1"/>
          </p:cNvSpPr>
          <p:nvPr/>
        </p:nvSpPr>
        <p:spPr>
          <a:xfrm xmlns:a="http://schemas.openxmlformats.org/drawingml/2006/main">
            <a:off x="6000750" y="1295400"/>
            <a:ext cx="0" cy="400050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8" name="">
            <a:extLst xmlns:a="http://schemas.openxmlformats.org/drawingml/2006/main">
              <a:ext uri="{FF2B5EF4-FFF2-40B4-BE49-F238E27FC236}">
                <a16:creationId xmlns:a16="http://schemas.microsoft.com/office/drawing/2014/main" id="{7D4AF0E9-0778-4E46-86CB-5591EA042487}"/>
              </a:ext>
            </a:extLst>
          </p:cNvPr>
          <p:cNvSpPr>
            <a:spLocks xmlns:a="http://schemas.openxmlformats.org/drawingml/2006/main" noGrp="1"/>
          </p:cNvSpPr>
          <p:nvPr/>
        </p:nvSpPr>
        <p:spPr>
          <a:xfrm xmlns:a="http://schemas.openxmlformats.org/drawingml/2006/main">
            <a:off x="6667500" y="1428750"/>
            <a:ext cx="1809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700" b="1">
                <a:solidFill>
                  <a:srgbClr val="1C8C8C"/>
                </a:solidFill>
                <a:latin typeface="Segoe UI"/>
                <a:ea typeface="Segoe UI"/>
                <a:cs typeface="Segoe UI"/>
              </a:defRPr>
            </a:pPr>
            <a:r>
              <a:rPr sz="5700" b="1">
                <a:solidFill>
                  <a:srgbClr val="1C8C8C"/>
                </a:solidFill>
                <a:latin typeface="Segoe UI"/>
                <a:ea typeface="Segoe UI"/>
                <a:cs typeface="Segoe UI"/>
              </a:rPr>
              <a:t>24</a:t>
            </a:r>
          </a:p>
        </p:txBody>
      </p:sp>
      <p:sp>
        <p:nvSpPr>
          <p:cNvPr id="9" name="">
            <a:extLst xmlns:a="http://schemas.openxmlformats.org/drawingml/2006/main">
              <a:ext uri="{FF2B5EF4-FFF2-40B4-BE49-F238E27FC236}">
                <a16:creationId xmlns:a16="http://schemas.microsoft.com/office/drawing/2014/main" id="{9E261A29-7112-4DB3-8E9B-AADAC6ADF50E}"/>
              </a:ext>
            </a:extLst>
          </p:cNvPr>
          <p:cNvSpPr>
            <a:spLocks xmlns:a="http://schemas.openxmlformats.org/drawingml/2006/main" noGrp="1"/>
          </p:cNvSpPr>
          <p:nvPr/>
        </p:nvSpPr>
        <p:spPr>
          <a:xfrm xmlns:a="http://schemas.openxmlformats.org/drawingml/2006/main">
            <a:off x="6667500" y="23812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172B3A"/>
                </a:solidFill>
                <a:latin typeface="Segoe UI"/>
                <a:ea typeface="Segoe UI"/>
                <a:cs typeface="Segoe UI"/>
              </a:defRPr>
            </a:pPr>
            <a:r>
              <a:rPr sz="1725" b="0">
                <a:solidFill>
                  <a:srgbClr val="172B3A"/>
                </a:solidFill>
                <a:latin typeface="Segoe UI"/>
                <a:ea typeface="Segoe UI"/>
                <a:cs typeface="Segoe UI"/>
              </a:rPr>
              <a:t>registered teams</a:t>
            </a:r>
          </a:p>
        </p:txBody>
      </p:sp>
      <p:sp>
        <p:nvSpPr>
          <p:cNvPr id="10" name="">
            <a:extLst xmlns:a="http://schemas.openxmlformats.org/drawingml/2006/main">
              <a:ext uri="{FF2B5EF4-FFF2-40B4-BE49-F238E27FC236}">
                <a16:creationId xmlns:a16="http://schemas.microsoft.com/office/drawing/2014/main" id="{443A756D-D0DF-4826-B382-8DEEB108A265}"/>
              </a:ext>
            </a:extLst>
          </p:cNvPr>
          <p:cNvSpPr>
            <a:spLocks xmlns:a="http://schemas.openxmlformats.org/drawingml/2006/main" noGrp="1"/>
          </p:cNvSpPr>
          <p:nvPr/>
        </p:nvSpPr>
        <p:spPr>
          <a:xfrm xmlns:a="http://schemas.openxmlformats.org/drawingml/2006/main">
            <a:off x="9334500" y="1428750"/>
            <a:ext cx="1809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700" b="1">
                <a:solidFill>
                  <a:srgbClr val="E76F51"/>
                </a:solidFill>
                <a:latin typeface="Segoe UI"/>
                <a:ea typeface="Segoe UI"/>
                <a:cs typeface="Segoe UI"/>
              </a:defRPr>
            </a:pPr>
            <a:r>
              <a:rPr sz="5700" b="1">
                <a:solidFill>
                  <a:srgbClr val="E76F51"/>
                </a:solidFill>
                <a:latin typeface="Segoe UI"/>
                <a:ea typeface="Segoe UI"/>
                <a:cs typeface="Segoe UI"/>
              </a:rPr>
              <a:t>2</a:t>
            </a:r>
          </a:p>
        </p:txBody>
      </p:sp>
      <p:sp>
        <p:nvSpPr>
          <p:cNvPr id="11" name="">
            <a:extLst xmlns:a="http://schemas.openxmlformats.org/drawingml/2006/main">
              <a:ext uri="{FF2B5EF4-FFF2-40B4-BE49-F238E27FC236}">
                <a16:creationId xmlns:a16="http://schemas.microsoft.com/office/drawing/2014/main" id="{BD640088-8A82-4B14-A42F-00F2E0AE5D18}"/>
              </a:ext>
            </a:extLst>
          </p:cNvPr>
          <p:cNvSpPr>
            <a:spLocks xmlns:a="http://schemas.openxmlformats.org/drawingml/2006/main" noGrp="1"/>
          </p:cNvSpPr>
          <p:nvPr/>
        </p:nvSpPr>
        <p:spPr>
          <a:xfrm xmlns:a="http://schemas.openxmlformats.org/drawingml/2006/main">
            <a:off x="9334500" y="238125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172B3A"/>
                </a:solidFill>
                <a:latin typeface="Segoe UI"/>
                <a:ea typeface="Segoe UI"/>
                <a:cs typeface="Segoe UI"/>
              </a:defRPr>
            </a:pPr>
            <a:r>
              <a:rPr sz="1725" b="0">
                <a:solidFill>
                  <a:srgbClr val="172B3A"/>
                </a:solidFill>
                <a:latin typeface="Segoe UI"/>
                <a:ea typeface="Segoe UI"/>
                <a:cs typeface="Segoe UI"/>
              </a:rPr>
              <a:t>teams released</a:t>
            </a:r>
          </a:p>
          <a:p xmlns:a="http://schemas.openxmlformats.org/drawingml/2006/main">
            <a:pPr algn="l">
              <a:lnSpc>
                <a:spcPct val="100000"/>
              </a:lnSpc>
              <a:buNone/>
              <a:defRPr sz="1725" b="0">
                <a:solidFill>
                  <a:srgbClr val="172B3A"/>
                </a:solidFill>
                <a:latin typeface="Segoe UI"/>
                <a:ea typeface="Segoe UI"/>
                <a:cs typeface="Segoe UI"/>
              </a:defRPr>
            </a:pPr>
            <a:r>
              <a:rPr sz="1725" b="0">
                <a:solidFill>
                  <a:srgbClr val="172B3A"/>
                </a:solidFill>
                <a:latin typeface="Segoe UI"/>
                <a:ea typeface="Segoe UI"/>
                <a:cs typeface="Segoe UI"/>
              </a:rPr>
              <a:t>code</a:t>
            </a:r>
          </a:p>
        </p:txBody>
      </p:sp>
      <p:sp>
        <p:nvSpPr>
          <p:cNvPr id="12" name="">
            <a:extLst xmlns:a="http://schemas.openxmlformats.org/drawingml/2006/main">
              <a:ext uri="{FF2B5EF4-FFF2-40B4-BE49-F238E27FC236}">
                <a16:creationId xmlns:a16="http://schemas.microsoft.com/office/drawing/2014/main" id="{79689560-D9F8-46A5-B8B0-3A09129C7532}"/>
              </a:ext>
            </a:extLst>
          </p:cNvPr>
          <p:cNvSpPr>
            <a:spLocks xmlns:a="http://schemas.openxmlformats.org/drawingml/2006/main" noGrp="1"/>
          </p:cNvSpPr>
          <p:nvPr/>
        </p:nvSpPr>
        <p:spPr>
          <a:xfrm xmlns:a="http://schemas.openxmlformats.org/drawingml/2006/main">
            <a:off x="6610350" y="3429000"/>
            <a:ext cx="4095750" cy="1352550"/>
          </a:xfrm>
          <a:prstGeom xmlns:a="http://schemas.openxmlformats.org/drawingml/2006/main" prst="roundRect">
            <a:avLst>
              <a:gd name="adj" fmla="val 12676"/>
            </a:avLst>
          </a:prstGeom>
          <a:solidFill xmlns:a="http://schemas.openxmlformats.org/drawingml/2006/main">
            <a:srgbClr val="DDF2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24B823B-63E4-49C5-B4D8-7680BD699674}"/>
              </a:ext>
            </a:extLst>
          </p:cNvPr>
          <p:cNvSpPr>
            <a:spLocks xmlns:a="http://schemas.openxmlformats.org/drawingml/2006/main" noGrp="1"/>
          </p:cNvSpPr>
          <p:nvPr/>
        </p:nvSpPr>
        <p:spPr>
          <a:xfrm xmlns:a="http://schemas.openxmlformats.org/drawingml/2006/main">
            <a:off x="6896100" y="3657600"/>
            <a:ext cx="3524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650" b="1">
                <a:solidFill>
                  <a:srgbClr val="102A43"/>
                </a:solidFill>
                <a:latin typeface="Segoe UI"/>
                <a:ea typeface="Segoe UI"/>
                <a:cs typeface="Segoe UI"/>
              </a:defRPr>
            </a:pPr>
            <a:r>
              <a:rPr sz="1650" b="1">
                <a:solidFill>
                  <a:srgbClr val="102A43"/>
                </a:solidFill>
                <a:latin typeface="Segoe UI"/>
                <a:ea typeface="Segoe UI"/>
                <a:cs typeface="Segoe UI"/>
              </a:rPr>
              <a:t>Research question</a:t>
            </a:r>
          </a:p>
          <a:p xmlns:a="http://schemas.openxmlformats.org/drawingml/2006/main">
            <a:pPr algn="l">
              <a:lnSpc>
                <a:spcPct val="102000"/>
              </a:lnSpc>
              <a:buNone/>
              <a:defRPr sz="1650" b="1">
                <a:solidFill>
                  <a:srgbClr val="102A43"/>
                </a:solidFill>
                <a:latin typeface="Segoe UI"/>
                <a:ea typeface="Segoe UI"/>
                <a:cs typeface="Segoe UI"/>
              </a:defRPr>
            </a:pPr>
            <a:r>
              <a:rPr sz="1650" b="1">
                <a:solidFill>
                  <a:srgbClr val="102A43"/>
                </a:solidFill>
                <a:latin typeface="Segoe UI"/>
                <a:ea typeface="Segoe UI"/>
                <a:cs typeface="Segoe UI"/>
              </a:rPr>
              <a:t>Can public presentations recover enough strategy information for a responsible meta-analysis?</a:t>
            </a:r>
          </a:p>
        </p:txBody>
      </p:sp>
      <p:sp>
        <p:nvSpPr>
          <p:cNvPr id="14" name="">
            <a:extLst xmlns:a="http://schemas.openxmlformats.org/drawingml/2006/main">
              <a:ext uri="{FF2B5EF4-FFF2-40B4-BE49-F238E27FC236}">
                <a16:creationId xmlns:a16="http://schemas.microsoft.com/office/drawing/2014/main" id="{207628D4-8187-456D-B813-118FABB36EF0}"/>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Patterns Without Source, PSD 2026</a:t>
            </a:r>
          </a:p>
        </p:txBody>
      </p:sp>
    </p:spTree>
    <p:extLst>
      <p:ext uri="{BB962C8B-B14F-4D97-AF65-F5344CB8AC3E}">
        <p14:creationId xmlns:p14="http://schemas.microsoft.com/office/powerpoint/2010/main" val="10919052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8C5A659-D7DF-4EAB-922C-771C9929CB4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346EC4-5AD6-41A2-ADA8-9E995EC654AB}"/>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PWS Cup 2025 game</a:t>
            </a:r>
          </a:p>
        </p:txBody>
      </p:sp>
      <p:sp>
        <p:nvSpPr>
          <p:cNvPr id="3" name="">
            <a:extLst xmlns:a="http://schemas.openxmlformats.org/drawingml/2006/main">
              <a:ext uri="{FF2B5EF4-FFF2-40B4-BE49-F238E27FC236}">
                <a16:creationId xmlns:a16="http://schemas.microsoft.com/office/drawing/2014/main" id="{2CEB81B6-F5F7-4C93-A504-91A5D0064CE1}"/>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1C8C8C"/>
                </a:solidFill>
                <a:latin typeface="Segoe UI"/>
                <a:ea typeface="Segoe UI"/>
                <a:cs typeface="Segoe UI"/>
              </a:defRPr>
            </a:pPr>
            <a:r>
              <a:rPr sz="1275" b="1">
                <a:solidFill>
                  <a:srgbClr val="1C8C8C"/>
                </a:solidFill>
                <a:latin typeface="Segoe UI"/>
                <a:ea typeface="Segoe UI"/>
                <a:cs typeface="Segoe UI"/>
              </a:rPr>
              <a:t>03</a:t>
            </a:r>
          </a:p>
        </p:txBody>
      </p:sp>
      <p:sp>
        <p:nvSpPr>
          <p:cNvPr id="4" name="">
            <a:extLst xmlns:a="http://schemas.openxmlformats.org/drawingml/2006/main">
              <a:ext uri="{FF2B5EF4-FFF2-40B4-BE49-F238E27FC236}">
                <a16:creationId xmlns:a16="http://schemas.microsoft.com/office/drawing/2014/main" id="{D58CD85E-F15F-4B35-A49E-B8263BBED78E}"/>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5" name="">
            <a:extLst xmlns:a="http://schemas.openxmlformats.org/drawingml/2006/main">
              <a:ext uri="{FF2B5EF4-FFF2-40B4-BE49-F238E27FC236}">
                <a16:creationId xmlns:a16="http://schemas.microsoft.com/office/drawing/2014/main" id="{1050F32D-3687-48ED-9C32-B7EBCA19DE25}"/>
              </a:ext>
            </a:extLst>
          </p:cNvPr>
          <p:cNvSpPr>
            <a:spLocks xmlns:a="http://schemas.openxmlformats.org/drawingml/2006/main" noGrp="1"/>
          </p:cNvSpPr>
          <p:nvPr/>
        </p:nvSpPr>
        <p:spPr>
          <a:xfrm xmlns:a="http://schemas.openxmlformats.org/drawingml/2006/main">
            <a:off x="628650" y="1143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1C8C8C"/>
                </a:solidFill>
                <a:latin typeface="Segoe UI"/>
                <a:ea typeface="Segoe UI"/>
                <a:cs typeface="Segoe UI"/>
              </a:defRPr>
            </a:pPr>
            <a:r>
              <a:rPr sz="1200" b="1">
                <a:solidFill>
                  <a:srgbClr val="1C8C8C"/>
                </a:solidFill>
                <a:latin typeface="Segoe UI"/>
                <a:ea typeface="Segoe UI"/>
                <a:cs typeface="Segoe UI"/>
              </a:rPr>
              <a:t>ANONYMIZATION PHASE</a:t>
            </a:r>
          </a:p>
        </p:txBody>
      </p:sp>
      <p:sp>
        <p:nvSpPr>
          <p:cNvPr id="6" name="">
            <a:extLst xmlns:a="http://schemas.openxmlformats.org/drawingml/2006/main">
              <a:ext uri="{FF2B5EF4-FFF2-40B4-BE49-F238E27FC236}">
                <a16:creationId xmlns:a16="http://schemas.microsoft.com/office/drawing/2014/main" id="{2EE7C439-044C-42EB-B50A-86B71FCBC610}"/>
              </a:ext>
            </a:extLst>
          </p:cNvPr>
          <p:cNvSpPr>
            <a:spLocks xmlns:a="http://schemas.openxmlformats.org/drawingml/2006/main" noGrp="1"/>
          </p:cNvSpPr>
          <p:nvPr/>
        </p:nvSpPr>
        <p:spPr>
          <a:xfrm xmlns:a="http://schemas.openxmlformats.org/drawingml/2006/main">
            <a:off x="666750" y="1714500"/>
            <a:ext cx="1809750" cy="990600"/>
          </a:xfrm>
          <a:prstGeom xmlns:a="http://schemas.openxmlformats.org/drawingml/2006/main" prst="roundRect">
            <a:avLst>
              <a:gd name="adj" fmla="val 13462"/>
            </a:avLst>
          </a:prstGeom>
          <a:solidFill xmlns:a="http://schemas.openxmlformats.org/drawingml/2006/main">
            <a:srgbClr val="F5F7F8"/>
          </a:solidFill>
          <a:ln xmlns:a="http://schemas.openxmlformats.org/drawingml/2006/main" w="9525">
            <a:solidFill>
              <a:srgbClr val="C8D3DA"/>
            </a:solidFill>
            <a:prstDash val="solid"/>
          </a:ln>
        </p:spPr>
      </p:sp>
      <p:sp>
        <p:nvSpPr>
          <p:cNvPr id="7" name="">
            <a:extLst xmlns:a="http://schemas.openxmlformats.org/drawingml/2006/main">
              <a:ext uri="{FF2B5EF4-FFF2-40B4-BE49-F238E27FC236}">
                <a16:creationId xmlns:a16="http://schemas.microsoft.com/office/drawing/2014/main" id="{C98BB554-AB6F-4011-91FF-14E1986D3D37}"/>
              </a:ext>
            </a:extLst>
          </p:cNvPr>
          <p:cNvSpPr>
            <a:spLocks xmlns:a="http://schemas.openxmlformats.org/drawingml/2006/main" noGrp="1"/>
          </p:cNvSpPr>
          <p:nvPr/>
        </p:nvSpPr>
        <p:spPr>
          <a:xfrm xmlns:a="http://schemas.openxmlformats.org/drawingml/2006/main">
            <a:off x="838200" y="1885950"/>
            <a:ext cx="146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Population Aᵢ</a:t>
            </a:r>
          </a:p>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100,000 × 18</a:t>
            </a:r>
          </a:p>
        </p:txBody>
      </p:sp>
      <p:sp>
        <p:nvSpPr>
          <p:cNvPr id="8" name="">
            <a:extLst xmlns:a="http://schemas.openxmlformats.org/drawingml/2006/main">
              <a:ext uri="{FF2B5EF4-FFF2-40B4-BE49-F238E27FC236}">
                <a16:creationId xmlns:a16="http://schemas.microsoft.com/office/drawing/2014/main" id="{B226ED76-C1E1-4876-A16B-8813D9456556}"/>
              </a:ext>
            </a:extLst>
          </p:cNvPr>
          <p:cNvSpPr>
            <a:spLocks xmlns:a="http://schemas.openxmlformats.org/drawingml/2006/main" noGrp="1"/>
          </p:cNvSpPr>
          <p:nvPr/>
        </p:nvSpPr>
        <p:spPr>
          <a:xfrm xmlns:a="http://schemas.openxmlformats.org/drawingml/2006/main">
            <a:off x="3143250" y="1714500"/>
            <a:ext cx="1809750" cy="990600"/>
          </a:xfrm>
          <a:prstGeom xmlns:a="http://schemas.openxmlformats.org/drawingml/2006/main" prst="roundRect">
            <a:avLst>
              <a:gd name="adj" fmla="val 13462"/>
            </a:avLst>
          </a:prstGeom>
          <a:solidFill xmlns:a="http://schemas.openxmlformats.org/drawingml/2006/main">
            <a:srgbClr val="FBE6DF"/>
          </a:solidFill>
          <a:ln xmlns:a="http://schemas.openxmlformats.org/drawingml/2006/main" w="19050">
            <a:solidFill>
              <a:srgbClr val="E76F51"/>
            </a:solidFill>
            <a:prstDash val="solid"/>
          </a:ln>
        </p:spPr>
      </p:sp>
      <p:sp>
        <p:nvSpPr>
          <p:cNvPr id="9" name="">
            <a:extLst xmlns:a="http://schemas.openxmlformats.org/drawingml/2006/main">
              <a:ext uri="{FF2B5EF4-FFF2-40B4-BE49-F238E27FC236}">
                <a16:creationId xmlns:a16="http://schemas.microsoft.com/office/drawing/2014/main" id="{2B4D982C-5225-45FE-AAF6-7E60B0E6EDD4}"/>
              </a:ext>
            </a:extLst>
          </p:cNvPr>
          <p:cNvSpPr>
            <a:spLocks xmlns:a="http://schemas.openxmlformats.org/drawingml/2006/main" noGrp="1"/>
          </p:cNvSpPr>
          <p:nvPr/>
        </p:nvSpPr>
        <p:spPr>
          <a:xfrm xmlns:a="http://schemas.openxmlformats.org/drawingml/2006/main">
            <a:off x="3314700" y="1885950"/>
            <a:ext cx="146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Secret sample Bᵢ</a:t>
            </a:r>
          </a:p>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10,000 rows</a:t>
            </a:r>
          </a:p>
        </p:txBody>
      </p:sp>
      <p:sp>
        <p:nvSpPr>
          <p:cNvPr id="10" name="">
            <a:extLst xmlns:a="http://schemas.openxmlformats.org/drawingml/2006/main">
              <a:ext uri="{FF2B5EF4-FFF2-40B4-BE49-F238E27FC236}">
                <a16:creationId xmlns:a16="http://schemas.microsoft.com/office/drawing/2014/main" id="{5B315B45-B5DC-4CF5-9B79-92514A769D21}"/>
              </a:ext>
            </a:extLst>
          </p:cNvPr>
          <p:cNvSpPr>
            <a:spLocks xmlns:a="http://schemas.openxmlformats.org/drawingml/2006/main" noGrp="1"/>
          </p:cNvSpPr>
          <p:nvPr/>
        </p:nvSpPr>
        <p:spPr>
          <a:xfrm xmlns:a="http://schemas.openxmlformats.org/drawingml/2006/main">
            <a:off x="5619750" y="1714500"/>
            <a:ext cx="1809750" cy="990600"/>
          </a:xfrm>
          <a:prstGeom xmlns:a="http://schemas.openxmlformats.org/drawingml/2006/main" prst="roundRect">
            <a:avLst>
              <a:gd name="adj" fmla="val 13462"/>
            </a:avLst>
          </a:prstGeom>
          <a:solidFill xmlns:a="http://schemas.openxmlformats.org/drawingml/2006/main">
            <a:srgbClr val="DDF2F1"/>
          </a:solidFill>
          <a:ln xmlns:a="http://schemas.openxmlformats.org/drawingml/2006/main" w="19050">
            <a:solidFill>
              <a:srgbClr val="1C8C8C"/>
            </a:solidFill>
            <a:prstDash val="solid"/>
          </a:ln>
        </p:spPr>
      </p:sp>
      <p:sp>
        <p:nvSpPr>
          <p:cNvPr id="11" name="">
            <a:extLst xmlns:a="http://schemas.openxmlformats.org/drawingml/2006/main">
              <a:ext uri="{FF2B5EF4-FFF2-40B4-BE49-F238E27FC236}">
                <a16:creationId xmlns:a16="http://schemas.microsoft.com/office/drawing/2014/main" id="{AE6B9F41-432F-4D9D-B150-1DC4C7DA709B}"/>
              </a:ext>
            </a:extLst>
          </p:cNvPr>
          <p:cNvSpPr>
            <a:spLocks xmlns:a="http://schemas.openxmlformats.org/drawingml/2006/main" noGrp="1"/>
          </p:cNvSpPr>
          <p:nvPr/>
        </p:nvSpPr>
        <p:spPr>
          <a:xfrm xmlns:a="http://schemas.openxmlformats.org/drawingml/2006/main">
            <a:off x="5791200" y="1885950"/>
            <a:ext cx="146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Released Cᵢ</a:t>
            </a:r>
          </a:p>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anonymized data</a:t>
            </a:r>
          </a:p>
        </p:txBody>
      </p:sp>
      <p:sp>
        <p:nvSpPr>
          <p:cNvPr id="12" name="">
            <a:extLst xmlns:a="http://schemas.openxmlformats.org/drawingml/2006/main">
              <a:ext uri="{FF2B5EF4-FFF2-40B4-BE49-F238E27FC236}">
                <a16:creationId xmlns:a16="http://schemas.microsoft.com/office/drawing/2014/main" id="{B0CB1665-3236-4D18-BCB0-1DD04EBB0438}"/>
              </a:ext>
            </a:extLst>
          </p:cNvPr>
          <p:cNvSpPr>
            <a:spLocks xmlns:a="http://schemas.openxmlformats.org/drawingml/2006/main" noGrp="1"/>
          </p:cNvSpPr>
          <p:nvPr/>
        </p:nvSpPr>
        <p:spPr>
          <a:xfrm xmlns:a="http://schemas.openxmlformats.org/drawingml/2006/main">
            <a:off x="8096250" y="1714500"/>
            <a:ext cx="1809750" cy="990600"/>
          </a:xfrm>
          <a:prstGeom xmlns:a="http://schemas.openxmlformats.org/drawingml/2006/main" prst="roundRect">
            <a:avLst>
              <a:gd name="adj" fmla="val 13462"/>
            </a:avLst>
          </a:prstGeom>
          <a:solidFill xmlns:a="http://schemas.openxmlformats.org/drawingml/2006/main">
            <a:srgbClr val="E9EEF5"/>
          </a:solidFill>
          <a:ln xmlns:a="http://schemas.openxmlformats.org/drawingml/2006/main" w="19050">
            <a:solidFill>
              <a:srgbClr val="163A5F"/>
            </a:solidFill>
            <a:prstDash val="solid"/>
          </a:ln>
        </p:spPr>
      </p:sp>
      <p:sp>
        <p:nvSpPr>
          <p:cNvPr id="13" name="">
            <a:extLst xmlns:a="http://schemas.openxmlformats.org/drawingml/2006/main">
              <a:ext uri="{FF2B5EF4-FFF2-40B4-BE49-F238E27FC236}">
                <a16:creationId xmlns:a16="http://schemas.microsoft.com/office/drawing/2014/main" id="{B0F0D598-07C1-4014-A2FE-2C4952A5B669}"/>
              </a:ext>
            </a:extLst>
          </p:cNvPr>
          <p:cNvSpPr>
            <a:spLocks xmlns:a="http://schemas.openxmlformats.org/drawingml/2006/main" noGrp="1"/>
          </p:cNvSpPr>
          <p:nvPr/>
        </p:nvSpPr>
        <p:spPr>
          <a:xfrm xmlns:a="http://schemas.openxmlformats.org/drawingml/2006/main">
            <a:off x="8267700" y="1885950"/>
            <a:ext cx="1466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Released Dᵢ</a:t>
            </a:r>
          </a:p>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XGBoost model</a:t>
            </a:r>
          </a:p>
        </p:txBody>
      </p:sp>
      <p:cxnSp>
        <p:nvCxnSpPr>
          <p:cNvPr id="38" name=""/>
          <p:cNvCxnSpPr>
            <a:stCxn xmlns:a="http://schemas.openxmlformats.org/drawingml/2006/main" id="6" idx="3"/>
            <a:endCxn xmlns:a="http://schemas.openxmlformats.org/drawingml/2006/main" id="8" idx="1"/>
          </p:cNvCxnSpPr>
          <p:nvPr/>
        </p:nvCxnSpPr>
        <p:spPr>
          <a:xfrm xmlns:a="http://schemas.openxmlformats.org/drawingml/2006/main">
            <a:off x="2476500" y="2209800"/>
            <a:ext cx="666750" cy="0"/>
          </a:xfrm>
          <a:prstGeom xmlns:a="http://schemas.openxmlformats.org/drawingml/2006/main" prst="straightConnector1">
            <a:avLst/>
          </a:prstGeom>
          <a:ln xmlns:a="http://schemas.openxmlformats.org/drawingml/2006/main" w="19050">
            <a:solidFill>
              <a:srgbClr val="526777"/>
            </a:solidFill>
            <a:prstDash val="solid"/>
            <a:tailEnd type="triangle" w="sm" len="sm"/>
          </a:ln>
        </p:spPr>
      </p:cxnSp>
      <p:cxnSp>
        <p:nvCxnSpPr>
          <p:cNvPr id="39" name=""/>
          <p:cNvCxnSpPr>
            <a:stCxn xmlns:a="http://schemas.openxmlformats.org/drawingml/2006/main" id="8" idx="3"/>
            <a:endCxn xmlns:a="http://schemas.openxmlformats.org/drawingml/2006/main" id="10" idx="1"/>
          </p:cNvCxnSpPr>
          <p:nvPr/>
        </p:nvCxnSpPr>
        <p:spPr>
          <a:xfrm xmlns:a="http://schemas.openxmlformats.org/drawingml/2006/main">
            <a:off x="4953000" y="2209800"/>
            <a:ext cx="666750" cy="0"/>
          </a:xfrm>
          <a:prstGeom xmlns:a="http://schemas.openxmlformats.org/drawingml/2006/main" prst="straightConnector1">
            <a:avLst/>
          </a:prstGeom>
          <a:ln xmlns:a="http://schemas.openxmlformats.org/drawingml/2006/main" w="19050">
            <a:solidFill>
              <a:srgbClr val="526777"/>
            </a:solidFill>
            <a:prstDash val="solid"/>
            <a:tailEnd type="triangle" w="sm" len="sm"/>
          </a:ln>
        </p:spPr>
      </p:cxnSp>
      <p:cxnSp>
        <p:nvCxnSpPr>
          <p:cNvPr id="40" name=""/>
          <p:cNvCxnSpPr>
            <a:stCxn xmlns:a="http://schemas.openxmlformats.org/drawingml/2006/main" id="10" idx="3"/>
            <a:endCxn xmlns:a="http://schemas.openxmlformats.org/drawingml/2006/main" id="12" idx="1"/>
          </p:cNvCxnSpPr>
          <p:nvPr/>
        </p:nvCxnSpPr>
        <p:spPr>
          <a:xfrm xmlns:a="http://schemas.openxmlformats.org/drawingml/2006/main">
            <a:off x="7429500" y="2209800"/>
            <a:ext cx="666750" cy="0"/>
          </a:xfrm>
          <a:prstGeom xmlns:a="http://schemas.openxmlformats.org/drawingml/2006/main" prst="straightConnector1">
            <a:avLst/>
          </a:prstGeom>
          <a:ln xmlns:a="http://schemas.openxmlformats.org/drawingml/2006/main" w="19050">
            <a:solidFill>
              <a:srgbClr val="526777"/>
            </a:solidFill>
            <a:prstDash val="solid"/>
            <a:tailEnd type="triangle" w="sm" len="sm"/>
          </a:ln>
        </p:spPr>
      </p:cxnSp>
      <p:sp>
        <p:nvSpPr>
          <p:cNvPr id="17" name="">
            <a:extLst xmlns:a="http://schemas.openxmlformats.org/drawingml/2006/main">
              <a:ext uri="{FF2B5EF4-FFF2-40B4-BE49-F238E27FC236}">
                <a16:creationId xmlns:a16="http://schemas.microsoft.com/office/drawing/2014/main" id="{6A9AD1F7-1372-4447-B6F1-DABB24A669C4}"/>
              </a:ext>
            </a:extLst>
          </p:cNvPr>
          <p:cNvSpPr>
            <a:spLocks xmlns:a="http://schemas.openxmlformats.org/drawingml/2006/main" noGrp="1"/>
          </p:cNvSpPr>
          <p:nvPr/>
        </p:nvSpPr>
        <p:spPr>
          <a:xfrm xmlns:a="http://schemas.openxmlformats.org/drawingml/2006/main">
            <a:off x="628650" y="31813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E76F51"/>
                </a:solidFill>
                <a:latin typeface="Segoe UI"/>
                <a:ea typeface="Segoe UI"/>
                <a:cs typeface="Segoe UI"/>
              </a:defRPr>
            </a:pPr>
            <a:r>
              <a:rPr sz="1200" b="1">
                <a:solidFill>
                  <a:srgbClr val="E76F51"/>
                </a:solidFill>
                <a:latin typeface="Segoe UI"/>
                <a:ea typeface="Segoe UI"/>
                <a:cs typeface="Segoe UI"/>
              </a:rPr>
              <a:t>ATTACK PHASE</a:t>
            </a:r>
          </a:p>
        </p:txBody>
      </p:sp>
      <p:sp>
        <p:nvSpPr>
          <p:cNvPr id="18" name="">
            <a:extLst xmlns:a="http://schemas.openxmlformats.org/drawingml/2006/main">
              <a:ext uri="{FF2B5EF4-FFF2-40B4-BE49-F238E27FC236}">
                <a16:creationId xmlns:a16="http://schemas.microsoft.com/office/drawing/2014/main" id="{17E2CF3C-55CA-44B8-A5A6-F65682E6369A}"/>
              </a:ext>
            </a:extLst>
          </p:cNvPr>
          <p:cNvSpPr>
            <a:spLocks xmlns:a="http://schemas.openxmlformats.org/drawingml/2006/main" noGrp="1"/>
          </p:cNvSpPr>
          <p:nvPr/>
        </p:nvSpPr>
        <p:spPr>
          <a:xfrm xmlns:a="http://schemas.openxmlformats.org/drawingml/2006/main">
            <a:off x="685800" y="367665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875" b="1">
                <a:solidFill>
                  <a:srgbClr val="102A43"/>
                </a:solidFill>
                <a:latin typeface="Segoe UI"/>
                <a:ea typeface="Segoe UI"/>
                <a:cs typeface="Segoe UI"/>
              </a:defRPr>
            </a:pPr>
            <a:r>
              <a:rPr sz="1875" b="1">
                <a:solidFill>
                  <a:srgbClr val="102A43"/>
                </a:solidFill>
                <a:latin typeface="Segoe UI"/>
                <a:ea typeface="Segoe UI"/>
                <a:cs typeface="Segoe UI"/>
              </a:rPr>
              <a:t>Every other team receives Aⱼ, Cⱼ, and Dⱼ</a:t>
            </a:r>
          </a:p>
          <a:p xmlns:a="http://schemas.openxmlformats.org/drawingml/2006/main">
            <a:pPr algn="l">
              <a:lnSpc>
                <a:spcPct val="103000"/>
              </a:lnSpc>
              <a:buNone/>
              <a:defRPr sz="1875" b="1">
                <a:solidFill>
                  <a:srgbClr val="102A43"/>
                </a:solidFill>
                <a:latin typeface="Segoe UI"/>
                <a:ea typeface="Segoe UI"/>
                <a:cs typeface="Segoe UI"/>
              </a:defRPr>
            </a:pPr>
            <a:r>
              <a:rPr sz="1875" b="1">
                <a:solidFill>
                  <a:srgbClr val="102A43"/>
                </a:solidFill>
                <a:latin typeface="Segoe UI"/>
                <a:ea typeface="Segoe UI"/>
                <a:cs typeface="Segoe UI"/>
              </a:rPr>
              <a:t>and predicts which records in Aⱼ belong to Bⱼ</a:t>
            </a:r>
          </a:p>
        </p:txBody>
      </p:sp>
      <p:sp>
        <p:nvSpPr>
          <p:cNvPr id="19" name="">
            <a:extLst xmlns:a="http://schemas.openxmlformats.org/drawingml/2006/main">
              <a:ext uri="{FF2B5EF4-FFF2-40B4-BE49-F238E27FC236}">
                <a16:creationId xmlns:a16="http://schemas.microsoft.com/office/drawing/2014/main" id="{444FA732-442E-4BB9-8D57-89DF5156F369}"/>
              </a:ext>
            </a:extLst>
          </p:cNvPr>
          <p:cNvSpPr>
            <a:spLocks xmlns:a="http://schemas.openxmlformats.org/drawingml/2006/main" noGrp="1"/>
          </p:cNvSpPr>
          <p:nvPr/>
        </p:nvSpPr>
        <p:spPr>
          <a:xfrm xmlns:a="http://schemas.openxmlformats.org/drawingml/2006/main">
            <a:off x="5276850" y="3505200"/>
            <a:ext cx="6115050" cy="1314450"/>
          </a:xfrm>
          <a:prstGeom xmlns:a="http://schemas.openxmlformats.org/drawingml/2006/main" prst="roundRect">
            <a:avLst>
              <a:gd name="adj" fmla="val 11594"/>
            </a:avLst>
          </a:prstGeom>
          <a:solidFill xmlns:a="http://schemas.openxmlformats.org/drawingml/2006/main">
            <a:srgbClr val="F5F7F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4933F18-CD67-40DB-BEF3-18640F4FB1A9}"/>
              </a:ext>
            </a:extLst>
          </p:cNvPr>
          <p:cNvSpPr>
            <a:spLocks xmlns:a="http://schemas.openxmlformats.org/drawingml/2006/main" noGrp="1"/>
          </p:cNvSpPr>
          <p:nvPr/>
        </p:nvSpPr>
        <p:spPr>
          <a:xfrm xmlns:a="http://schemas.openxmlformats.org/drawingml/2006/main">
            <a:off x="5562600" y="3695700"/>
            <a:ext cx="266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Utility</a:t>
            </a:r>
          </a:p>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U₁ + U₂ + U₃ + U₄</a:t>
            </a:r>
          </a:p>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maximum 100</a:t>
            </a:r>
          </a:p>
        </p:txBody>
      </p:sp>
      <p:sp>
        <p:nvSpPr>
          <p:cNvPr id="21" name="">
            <a:extLst xmlns:a="http://schemas.openxmlformats.org/drawingml/2006/main">
              <a:ext uri="{FF2B5EF4-FFF2-40B4-BE49-F238E27FC236}">
                <a16:creationId xmlns:a16="http://schemas.microsoft.com/office/drawing/2014/main" id="{302809BB-2DBD-4FBF-8912-F1412CCD4247}"/>
              </a:ext>
            </a:extLst>
          </p:cNvPr>
          <p:cNvSpPr>
            <a:spLocks xmlns:a="http://schemas.openxmlformats.org/drawingml/2006/main" noGrp="1"/>
          </p:cNvSpPr>
          <p:nvPr/>
        </p:nvSpPr>
        <p:spPr>
          <a:xfrm xmlns:a="http://schemas.openxmlformats.org/drawingml/2006/main">
            <a:off x="8420100" y="3695700"/>
            <a:ext cx="0" cy="89535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22" name="">
            <a:extLst xmlns:a="http://schemas.openxmlformats.org/drawingml/2006/main">
              <a:ext uri="{FF2B5EF4-FFF2-40B4-BE49-F238E27FC236}">
                <a16:creationId xmlns:a16="http://schemas.microsoft.com/office/drawing/2014/main" id="{8DE79CC3-7076-4A38-BD80-6C3DD9049413}"/>
              </a:ext>
            </a:extLst>
          </p:cNvPr>
          <p:cNvSpPr>
            <a:spLocks xmlns:a="http://schemas.openxmlformats.org/drawingml/2006/main" noGrp="1"/>
          </p:cNvSpPr>
          <p:nvPr/>
        </p:nvSpPr>
        <p:spPr>
          <a:xfrm xmlns:a="http://schemas.openxmlformats.org/drawingml/2006/main">
            <a:off x="8705850" y="3695700"/>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E76F51"/>
                </a:solidFill>
                <a:latin typeface="Segoe UI"/>
                <a:ea typeface="Segoe UI"/>
                <a:cs typeface="Segoe UI"/>
              </a:defRPr>
            </a:pPr>
            <a:r>
              <a:rPr sz="1650" b="1">
                <a:solidFill>
                  <a:srgbClr val="E76F51"/>
                </a:solidFill>
                <a:latin typeface="Segoe UI"/>
                <a:ea typeface="Segoe UI"/>
                <a:cs typeface="Segoe UI"/>
              </a:rPr>
              <a:t>Anonymization</a:t>
            </a:r>
          </a:p>
          <a:p xmlns:a="http://schemas.openxmlformats.org/drawingml/2006/main">
            <a:pPr algn="ctr">
              <a:lnSpc>
                <a:spcPct val="100000"/>
              </a:lnSpc>
              <a:buNone/>
              <a:defRPr sz="1650" b="1">
                <a:solidFill>
                  <a:srgbClr val="E76F51"/>
                </a:solidFill>
                <a:latin typeface="Segoe UI"/>
                <a:ea typeface="Segoe UI"/>
                <a:cs typeface="Segoe UI"/>
              </a:defRPr>
            </a:pPr>
            <a:r>
              <a:rPr sz="1650" b="1">
                <a:solidFill>
                  <a:srgbClr val="E76F51"/>
                </a:solidFill>
                <a:latin typeface="Segoe UI"/>
                <a:ea typeface="Segoe UI"/>
                <a:cs typeface="Segoe UI"/>
              </a:rPr>
              <a:t>resistance to the</a:t>
            </a:r>
          </a:p>
          <a:p xmlns:a="http://schemas.openxmlformats.org/drawingml/2006/main">
            <a:pPr algn="ctr">
              <a:lnSpc>
                <a:spcPct val="100000"/>
              </a:lnSpc>
              <a:buNone/>
              <a:defRPr sz="1650" b="1">
                <a:solidFill>
                  <a:srgbClr val="E76F51"/>
                </a:solidFill>
                <a:latin typeface="Segoe UI"/>
                <a:ea typeface="Segoe UI"/>
                <a:cs typeface="Segoe UI"/>
              </a:defRPr>
            </a:pPr>
            <a:r>
              <a:rPr sz="1650" b="1">
                <a:solidFill>
                  <a:srgbClr val="E76F51"/>
                </a:solidFill>
                <a:latin typeface="Segoe UI"/>
                <a:ea typeface="Segoe UI"/>
                <a:cs typeface="Segoe UI"/>
              </a:rPr>
              <a:t>best membership attack</a:t>
            </a:r>
          </a:p>
        </p:txBody>
      </p:sp>
      <p:sp>
        <p:nvSpPr>
          <p:cNvPr id="23" name="">
            <a:extLst xmlns:a="http://schemas.openxmlformats.org/drawingml/2006/main">
              <a:ext uri="{FF2B5EF4-FFF2-40B4-BE49-F238E27FC236}">
                <a16:creationId xmlns:a16="http://schemas.microsoft.com/office/drawing/2014/main" id="{94526BCA-FDAE-4BC3-8850-1B5E9523DC22}"/>
              </a:ext>
            </a:extLst>
          </p:cNvPr>
          <p:cNvSpPr>
            <a:spLocks xmlns:a="http://schemas.openxmlformats.org/drawingml/2006/main" noGrp="1"/>
          </p:cNvSpPr>
          <p:nvPr/>
        </p:nvSpPr>
        <p:spPr>
          <a:xfrm xmlns:a="http://schemas.openxmlformats.org/drawingml/2006/main">
            <a:off x="685800" y="53340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00" b="1">
                <a:solidFill>
                  <a:srgbClr val="172B3A"/>
                </a:solidFill>
                <a:latin typeface="Segoe UI"/>
                <a:ea typeface="Segoe UI"/>
                <a:cs typeface="Segoe UI"/>
              </a:defRPr>
            </a:pPr>
            <a:r>
              <a:rPr sz="2100" b="1">
                <a:solidFill>
                  <a:srgbClr val="172B3A"/>
                </a:solidFill>
                <a:latin typeface="Segoe UI"/>
                <a:ea typeface="Segoe UI"/>
                <a:cs typeface="Segoe UI"/>
              </a:rPr>
              <a:t>The same teams defend their own release and attack everyone else</a:t>
            </a:r>
          </a:p>
        </p:txBody>
      </p:sp>
      <p:sp>
        <p:nvSpPr>
          <p:cNvPr id="24" name="">
            <a:extLst xmlns:a="http://schemas.openxmlformats.org/drawingml/2006/main">
              <a:ext uri="{FF2B5EF4-FFF2-40B4-BE49-F238E27FC236}">
                <a16:creationId xmlns:a16="http://schemas.microsoft.com/office/drawing/2014/main" id="{99FA76DE-D02A-4431-BA28-3711C2A219C8}"/>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Patterns Without Source, PSD 2026</a:t>
            </a:r>
          </a:p>
        </p:txBody>
      </p:sp>
    </p:spTree>
    <p:extLst>
      <p:ext uri="{BB962C8B-B14F-4D97-AF65-F5344CB8AC3E}">
        <p14:creationId xmlns:p14="http://schemas.microsoft.com/office/powerpoint/2010/main" val="16827175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1B87BE2-C629-43AB-A50D-9B3540B146A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935814-CA84-4ECB-80F6-0D81C1C598E4}"/>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Reconstructing the hidden strategies</a:t>
            </a:r>
          </a:p>
        </p:txBody>
      </p:sp>
      <p:sp>
        <p:nvSpPr>
          <p:cNvPr id="3" name="">
            <a:extLst xmlns:a="http://schemas.openxmlformats.org/drawingml/2006/main">
              <a:ext uri="{FF2B5EF4-FFF2-40B4-BE49-F238E27FC236}">
                <a16:creationId xmlns:a16="http://schemas.microsoft.com/office/drawing/2014/main" id="{6B78E90E-410A-4E4D-8C74-CB02A30A2916}"/>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1C8C8C"/>
                </a:solidFill>
                <a:latin typeface="Segoe UI"/>
                <a:ea typeface="Segoe UI"/>
                <a:cs typeface="Segoe UI"/>
              </a:defRPr>
            </a:pPr>
            <a:r>
              <a:rPr sz="1275" b="1">
                <a:solidFill>
                  <a:srgbClr val="1C8C8C"/>
                </a:solidFill>
                <a:latin typeface="Segoe UI"/>
                <a:ea typeface="Segoe UI"/>
                <a:cs typeface="Segoe UI"/>
              </a:rPr>
              <a:t>04</a:t>
            </a:r>
          </a:p>
        </p:txBody>
      </p:sp>
      <p:sp>
        <p:nvSpPr>
          <p:cNvPr id="4" name="">
            <a:extLst xmlns:a="http://schemas.openxmlformats.org/drawingml/2006/main">
              <a:ext uri="{FF2B5EF4-FFF2-40B4-BE49-F238E27FC236}">
                <a16:creationId xmlns:a16="http://schemas.microsoft.com/office/drawing/2014/main" id="{4758BF5D-57C5-4038-8B94-BD4E36C671D3}"/>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5" name="">
            <a:extLst xmlns:a="http://schemas.openxmlformats.org/drawingml/2006/main">
              <a:ext uri="{FF2B5EF4-FFF2-40B4-BE49-F238E27FC236}">
                <a16:creationId xmlns:a16="http://schemas.microsoft.com/office/drawing/2014/main" id="{650AF202-7016-46F9-BF77-B9E0093194D4}"/>
              </a:ext>
            </a:extLst>
          </p:cNvPr>
          <p:cNvSpPr>
            <a:spLocks xmlns:a="http://schemas.openxmlformats.org/drawingml/2006/main" noGrp="1"/>
          </p:cNvSpPr>
          <p:nvPr/>
        </p:nvSpPr>
        <p:spPr>
          <a:xfrm xmlns:a="http://schemas.openxmlformats.org/drawingml/2006/main">
            <a:off x="666750" y="121920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750" b="1">
                <a:solidFill>
                  <a:srgbClr val="1C8C8C"/>
                </a:solidFill>
                <a:latin typeface="Segoe UI"/>
                <a:ea typeface="Segoe UI"/>
                <a:cs typeface="Segoe UI"/>
              </a:defRPr>
            </a:pPr>
            <a:r>
              <a:rPr sz="3750" b="1">
                <a:solidFill>
                  <a:srgbClr val="1C8C8C"/>
                </a:solidFill>
                <a:latin typeface="Segoe UI"/>
                <a:ea typeface="Segoe UI"/>
                <a:cs typeface="Segoe UI"/>
              </a:rPr>
              <a:t>20 of 24</a:t>
            </a:r>
          </a:p>
        </p:txBody>
      </p:sp>
      <p:sp>
        <p:nvSpPr>
          <p:cNvPr id="6" name="">
            <a:extLst xmlns:a="http://schemas.openxmlformats.org/drawingml/2006/main">
              <a:ext uri="{FF2B5EF4-FFF2-40B4-BE49-F238E27FC236}">
                <a16:creationId xmlns:a16="http://schemas.microsoft.com/office/drawing/2014/main" id="{06792CC1-9774-43FA-8DE0-444D1FAE852F}"/>
              </a:ext>
            </a:extLst>
          </p:cNvPr>
          <p:cNvSpPr>
            <a:spLocks xmlns:a="http://schemas.openxmlformats.org/drawingml/2006/main" noGrp="1"/>
          </p:cNvSpPr>
          <p:nvPr/>
        </p:nvSpPr>
        <p:spPr>
          <a:xfrm xmlns:a="http://schemas.openxmlformats.org/drawingml/2006/main">
            <a:off x="666750" y="18859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777"/>
                </a:solidFill>
                <a:latin typeface="Segoe UI"/>
                <a:ea typeface="Segoe UI"/>
                <a:cs typeface="Segoe UI"/>
              </a:defRPr>
            </a:pPr>
            <a:r>
              <a:rPr sz="1575" b="0">
                <a:solidFill>
                  <a:srgbClr val="526777"/>
                </a:solidFill>
                <a:latin typeface="Segoe UI"/>
                <a:ea typeface="Segoe UI"/>
                <a:cs typeface="Segoe UI"/>
              </a:rPr>
              <a:t>teams could be coded from posters and short talks</a:t>
            </a:r>
          </a:p>
        </p:txBody>
      </p:sp>
      <p:sp>
        <p:nvSpPr>
          <p:cNvPr id="7" name="">
            <a:extLst xmlns:a="http://schemas.openxmlformats.org/drawingml/2006/main">
              <a:ext uri="{FF2B5EF4-FFF2-40B4-BE49-F238E27FC236}">
                <a16:creationId xmlns:a16="http://schemas.microsoft.com/office/drawing/2014/main" id="{E02EF613-910E-430D-A568-B4A0BA54749D}"/>
              </a:ext>
            </a:extLst>
          </p:cNvPr>
          <p:cNvSpPr>
            <a:spLocks xmlns:a="http://schemas.openxmlformats.org/drawingml/2006/main" noGrp="1"/>
          </p:cNvSpPr>
          <p:nvPr/>
        </p:nvSpPr>
        <p:spPr>
          <a:xfrm xmlns:a="http://schemas.openxmlformats.org/drawingml/2006/main">
            <a:off x="3524250" y="1257300"/>
            <a:ext cx="0" cy="394335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8" name="">
            <a:extLst xmlns:a="http://schemas.openxmlformats.org/drawingml/2006/main">
              <a:ext uri="{FF2B5EF4-FFF2-40B4-BE49-F238E27FC236}">
                <a16:creationId xmlns:a16="http://schemas.microsoft.com/office/drawing/2014/main" id="{ECA33612-9A2D-4E02-AE74-4F11E93B4BFB}"/>
              </a:ext>
            </a:extLst>
          </p:cNvPr>
          <p:cNvSpPr>
            <a:spLocks xmlns:a="http://schemas.openxmlformats.org/drawingml/2006/main" noGrp="1"/>
          </p:cNvSpPr>
          <p:nvPr/>
        </p:nvSpPr>
        <p:spPr>
          <a:xfrm xmlns:a="http://schemas.openxmlformats.org/drawingml/2006/main">
            <a:off x="4000500" y="118110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Segoe UI"/>
                <a:ea typeface="Segoe UI"/>
                <a:cs typeface="Segoe UI"/>
              </a:defRPr>
            </a:pPr>
            <a:r>
              <a:rPr sz="2025" b="1">
                <a:solidFill>
                  <a:srgbClr val="102A43"/>
                </a:solidFill>
                <a:latin typeface="Segoe UI"/>
                <a:ea typeface="Segoe UI"/>
                <a:cs typeface="Segoe UI"/>
              </a:rPr>
              <a:t>Two anonymization families</a:t>
            </a:r>
          </a:p>
        </p:txBody>
      </p:sp>
      <p:sp>
        <p:nvSpPr>
          <p:cNvPr id="9" name="">
            <a:extLst xmlns:a="http://schemas.openxmlformats.org/drawingml/2006/main">
              <a:ext uri="{FF2B5EF4-FFF2-40B4-BE49-F238E27FC236}">
                <a16:creationId xmlns:a16="http://schemas.microsoft.com/office/drawing/2014/main" id="{2D16C665-8C15-46A6-B7A4-A6852D164DC6}"/>
              </a:ext>
            </a:extLst>
          </p:cNvPr>
          <p:cNvSpPr>
            <a:spLocks xmlns:a="http://schemas.openxmlformats.org/drawingml/2006/main" noGrp="1"/>
          </p:cNvSpPr>
          <p:nvPr/>
        </p:nvSpPr>
        <p:spPr>
          <a:xfrm xmlns:a="http://schemas.openxmlformats.org/drawingml/2006/main">
            <a:off x="4000500" y="1790700"/>
            <a:ext cx="3238500" cy="1352550"/>
          </a:xfrm>
          <a:prstGeom xmlns:a="http://schemas.openxmlformats.org/drawingml/2006/main" prst="roundRect">
            <a:avLst>
              <a:gd name="adj" fmla="val 11268"/>
            </a:avLst>
          </a:prstGeom>
          <a:solidFill xmlns:a="http://schemas.openxmlformats.org/drawingml/2006/main">
            <a:srgbClr val="FBE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86C6DC8-3735-48DC-AFAF-CD48C51743F2}"/>
              </a:ext>
            </a:extLst>
          </p:cNvPr>
          <p:cNvSpPr>
            <a:spLocks xmlns:a="http://schemas.openxmlformats.org/drawingml/2006/main" noGrp="1"/>
          </p:cNvSpPr>
          <p:nvPr/>
        </p:nvSpPr>
        <p:spPr>
          <a:xfrm xmlns:a="http://schemas.openxmlformats.org/drawingml/2006/main">
            <a:off x="4248150" y="1981200"/>
            <a:ext cx="2743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00" b="1">
                <a:solidFill>
                  <a:srgbClr val="102A43"/>
                </a:solidFill>
                <a:latin typeface="Segoe UI"/>
                <a:ea typeface="Segoe UI"/>
                <a:cs typeface="Segoe UI"/>
              </a:defRPr>
            </a:pPr>
            <a:r>
              <a:rPr sz="1800" b="1">
                <a:solidFill>
                  <a:srgbClr val="102A43"/>
                </a:solidFill>
                <a:latin typeface="Segoe UI"/>
                <a:ea typeface="Segoe UI"/>
                <a:cs typeface="Segoe UI"/>
              </a:rPr>
              <a:t>Transform Bᵢ directly</a:t>
            </a:r>
          </a:p>
          <a:p xmlns:a="http://schemas.openxmlformats.org/drawingml/2006/main">
            <a:pPr algn="ctr">
              <a:lnSpc>
                <a:spcPct val="100000"/>
              </a:lnSpc>
              <a:buNone/>
              <a:defRPr sz="1800" b="1">
                <a:solidFill>
                  <a:srgbClr val="102A43"/>
                </a:solidFill>
                <a:latin typeface="Segoe UI"/>
                <a:ea typeface="Segoe UI"/>
                <a:cs typeface="Segoe UI"/>
              </a:defRPr>
            </a:pPr>
            <a:r>
              <a:rPr sz="1800" b="1">
                <a:solidFill>
                  <a:srgbClr val="102A43"/>
                </a:solidFill>
                <a:latin typeface="Segoe UI"/>
                <a:ea typeface="Segoe UI"/>
                <a:cs typeface="Segoe UI"/>
              </a:rPr>
              <a:t>noise, generalization, swapping</a:t>
            </a:r>
          </a:p>
        </p:txBody>
      </p:sp>
      <p:sp>
        <p:nvSpPr>
          <p:cNvPr id="11" name="">
            <a:extLst xmlns:a="http://schemas.openxmlformats.org/drawingml/2006/main">
              <a:ext uri="{FF2B5EF4-FFF2-40B4-BE49-F238E27FC236}">
                <a16:creationId xmlns:a16="http://schemas.microsoft.com/office/drawing/2014/main" id="{2FF06D1E-2E46-4655-B34E-853A4056879D}"/>
              </a:ext>
            </a:extLst>
          </p:cNvPr>
          <p:cNvSpPr>
            <a:spLocks xmlns:a="http://schemas.openxmlformats.org/drawingml/2006/main" noGrp="1"/>
          </p:cNvSpPr>
          <p:nvPr/>
        </p:nvSpPr>
        <p:spPr>
          <a:xfrm xmlns:a="http://schemas.openxmlformats.org/drawingml/2006/main">
            <a:off x="7810500" y="1790700"/>
            <a:ext cx="3429000" cy="1352550"/>
          </a:xfrm>
          <a:prstGeom xmlns:a="http://schemas.openxmlformats.org/drawingml/2006/main" prst="roundRect">
            <a:avLst>
              <a:gd name="adj" fmla="val 11268"/>
            </a:avLst>
          </a:prstGeom>
          <a:solidFill xmlns:a="http://schemas.openxmlformats.org/drawingml/2006/main">
            <a:srgbClr val="DDF2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13A0ED-F9AB-4CE1-BA0B-5E65EF9F8440}"/>
              </a:ext>
            </a:extLst>
          </p:cNvPr>
          <p:cNvSpPr>
            <a:spLocks xmlns:a="http://schemas.openxmlformats.org/drawingml/2006/main" noGrp="1"/>
          </p:cNvSpPr>
          <p:nvPr/>
        </p:nvSpPr>
        <p:spPr>
          <a:xfrm xmlns:a="http://schemas.openxmlformats.org/drawingml/2006/main">
            <a:off x="8058150" y="1943100"/>
            <a:ext cx="29337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102A43"/>
                </a:solidFill>
                <a:latin typeface="Segoe UI"/>
                <a:ea typeface="Segoe UI"/>
                <a:cs typeface="Segoe UI"/>
              </a:defRPr>
            </a:pPr>
            <a:r>
              <a:rPr sz="1650" b="1">
                <a:solidFill>
                  <a:srgbClr val="102A43"/>
                </a:solidFill>
                <a:latin typeface="Segoe UI"/>
                <a:ea typeface="Segoe UI"/>
                <a:cs typeface="Segoe UI"/>
              </a:rPr>
              <a:t>Generate or reconstruct anew</a:t>
            </a:r>
          </a:p>
          <a:p xmlns:a="http://schemas.openxmlformats.org/drawingml/2006/main">
            <a:pPr algn="ctr">
              <a:lnSpc>
                <a:spcPct val="100000"/>
              </a:lnSpc>
              <a:buNone/>
              <a:defRPr sz="1650" b="1">
                <a:solidFill>
                  <a:srgbClr val="102A43"/>
                </a:solidFill>
                <a:latin typeface="Segoe UI"/>
                <a:ea typeface="Segoe UI"/>
                <a:cs typeface="Segoe UI"/>
              </a:defRPr>
            </a:pPr>
            <a:r>
              <a:rPr sz="1650" b="1">
                <a:solidFill>
                  <a:srgbClr val="102A43"/>
                </a:solidFill>
                <a:latin typeface="Segoe UI"/>
                <a:ea typeface="Segoe UI"/>
                <a:cs typeface="Segoe UI"/>
              </a:rPr>
              <a:t>Synthea, Gaussian copula, CTGAN</a:t>
            </a:r>
          </a:p>
          <a:p xmlns:a="http://schemas.openxmlformats.org/drawingml/2006/main">
            <a:pPr algn="ctr">
              <a:lnSpc>
                <a:spcPct val="100000"/>
              </a:lnSpc>
              <a:buNone/>
              <a:defRPr sz="1650" b="1">
                <a:solidFill>
                  <a:srgbClr val="102A43"/>
                </a:solidFill>
                <a:latin typeface="Segoe UI"/>
                <a:ea typeface="Segoe UI"/>
                <a:cs typeface="Segoe UI"/>
              </a:defRPr>
            </a:pPr>
            <a:r>
              <a:rPr sz="1650" b="1">
                <a:solidFill>
                  <a:srgbClr val="102A43"/>
                </a:solidFill>
                <a:latin typeface="Segoe UI"/>
                <a:ea typeface="Segoe UI"/>
                <a:cs typeface="Segoe UI"/>
              </a:rPr>
              <a:t>often followed by optimization</a:t>
            </a:r>
          </a:p>
        </p:txBody>
      </p:sp>
      <p:sp>
        <p:nvSpPr>
          <p:cNvPr id="13" name="">
            <a:extLst xmlns:a="http://schemas.openxmlformats.org/drawingml/2006/main">
              <a:ext uri="{FF2B5EF4-FFF2-40B4-BE49-F238E27FC236}">
                <a16:creationId xmlns:a16="http://schemas.microsoft.com/office/drawing/2014/main" id="{AE75CDDF-62BE-4BF6-845C-335860FFA686}"/>
              </a:ext>
            </a:extLst>
          </p:cNvPr>
          <p:cNvSpPr>
            <a:spLocks xmlns:a="http://schemas.openxmlformats.org/drawingml/2006/main" noGrp="1"/>
          </p:cNvSpPr>
          <p:nvPr/>
        </p:nvSpPr>
        <p:spPr>
          <a:xfrm xmlns:a="http://schemas.openxmlformats.org/drawingml/2006/main">
            <a:off x="4000500" y="352425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Segoe UI"/>
                <a:ea typeface="Segoe UI"/>
                <a:cs typeface="Segoe UI"/>
              </a:defRPr>
            </a:pPr>
            <a:r>
              <a:rPr sz="2025" b="1">
                <a:solidFill>
                  <a:srgbClr val="102A43"/>
                </a:solidFill>
                <a:latin typeface="Segoe UI"/>
                <a:ea typeface="Segoe UI"/>
                <a:cs typeface="Segoe UI"/>
              </a:rPr>
              <a:t>Two common attack families</a:t>
            </a:r>
          </a:p>
        </p:txBody>
      </p:sp>
      <p:sp>
        <p:nvSpPr>
          <p:cNvPr id="14" name="">
            <a:extLst xmlns:a="http://schemas.openxmlformats.org/drawingml/2006/main">
              <a:ext uri="{FF2B5EF4-FFF2-40B4-BE49-F238E27FC236}">
                <a16:creationId xmlns:a16="http://schemas.microsoft.com/office/drawing/2014/main" id="{A77A4018-F0FD-4333-B3E7-4D17FB77C733}"/>
              </a:ext>
            </a:extLst>
          </p:cNvPr>
          <p:cNvSpPr>
            <a:spLocks xmlns:a="http://schemas.openxmlformats.org/drawingml/2006/main" noGrp="1"/>
          </p:cNvSpPr>
          <p:nvPr/>
        </p:nvSpPr>
        <p:spPr>
          <a:xfrm xmlns:a="http://schemas.openxmlformats.org/drawingml/2006/main">
            <a:off x="4000500" y="4114800"/>
            <a:ext cx="3352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72B3A"/>
                </a:solidFill>
                <a:latin typeface="Segoe UI"/>
                <a:ea typeface="Segoe UI"/>
                <a:cs typeface="Segoe UI"/>
              </a:defRPr>
            </a:pPr>
            <a:r>
              <a:rPr sz="1725" b="1">
                <a:solidFill>
                  <a:srgbClr val="172B3A"/>
                </a:solidFill>
                <a:latin typeface="Segoe UI"/>
                <a:ea typeface="Segoe UI"/>
                <a:cs typeface="Segoe UI"/>
              </a:rPr>
              <a:t>Record similarity</a:t>
            </a:r>
          </a:p>
          <a:p xmlns:a="http://schemas.openxmlformats.org/drawingml/2006/main">
            <a:pPr algn="l">
              <a:lnSpc>
                <a:spcPct val="100000"/>
              </a:lnSpc>
              <a:buNone/>
              <a:defRPr sz="1725" b="1">
                <a:solidFill>
                  <a:srgbClr val="172B3A"/>
                </a:solidFill>
                <a:latin typeface="Segoe UI"/>
                <a:ea typeface="Segoe UI"/>
                <a:cs typeface="Segoe UI"/>
              </a:defRPr>
            </a:pPr>
            <a:r>
              <a:rPr sz="1725" b="1">
                <a:solidFill>
                  <a:srgbClr val="172B3A"/>
                </a:solidFill>
                <a:latin typeface="Segoe UI"/>
                <a:ea typeface="Segoe UI"/>
                <a:cs typeface="Segoe UI"/>
              </a:rPr>
              <a:t>distance metrics and one-to-one matching</a:t>
            </a:r>
          </a:p>
        </p:txBody>
      </p:sp>
      <p:sp>
        <p:nvSpPr>
          <p:cNvPr id="15" name="">
            <a:extLst xmlns:a="http://schemas.openxmlformats.org/drawingml/2006/main">
              <a:ext uri="{FF2B5EF4-FFF2-40B4-BE49-F238E27FC236}">
                <a16:creationId xmlns:a16="http://schemas.microsoft.com/office/drawing/2014/main" id="{93EB86B2-70D9-4C1F-9E02-B8E4A84F3070}"/>
              </a:ext>
            </a:extLst>
          </p:cNvPr>
          <p:cNvSpPr>
            <a:spLocks xmlns:a="http://schemas.openxmlformats.org/drawingml/2006/main" noGrp="1"/>
          </p:cNvSpPr>
          <p:nvPr/>
        </p:nvSpPr>
        <p:spPr>
          <a:xfrm xmlns:a="http://schemas.openxmlformats.org/drawingml/2006/main">
            <a:off x="7543800" y="4095750"/>
            <a:ext cx="0" cy="99060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16" name="">
            <a:extLst xmlns:a="http://schemas.openxmlformats.org/drawingml/2006/main">
              <a:ext uri="{FF2B5EF4-FFF2-40B4-BE49-F238E27FC236}">
                <a16:creationId xmlns:a16="http://schemas.microsoft.com/office/drawing/2014/main" id="{ECE36993-40B3-4572-9048-DAA1974BF60F}"/>
              </a:ext>
            </a:extLst>
          </p:cNvPr>
          <p:cNvSpPr>
            <a:spLocks xmlns:a="http://schemas.openxmlformats.org/drawingml/2006/main" noGrp="1"/>
          </p:cNvSpPr>
          <p:nvPr/>
        </p:nvSpPr>
        <p:spPr>
          <a:xfrm xmlns:a="http://schemas.openxmlformats.org/drawingml/2006/main">
            <a:off x="7886700" y="4114800"/>
            <a:ext cx="3352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72B3A"/>
                </a:solidFill>
                <a:latin typeface="Segoe UI"/>
                <a:ea typeface="Segoe UI"/>
                <a:cs typeface="Segoe UI"/>
              </a:defRPr>
            </a:pPr>
            <a:r>
              <a:rPr sz="1725" b="1">
                <a:solidFill>
                  <a:srgbClr val="172B3A"/>
                </a:solidFill>
                <a:latin typeface="Segoe UI"/>
                <a:ea typeface="Segoe UI"/>
                <a:cs typeface="Segoe UI"/>
              </a:rPr>
              <a:t>Model-based scoring</a:t>
            </a:r>
          </a:p>
          <a:p xmlns:a="http://schemas.openxmlformats.org/drawingml/2006/main">
            <a:pPr algn="l">
              <a:lnSpc>
                <a:spcPct val="100000"/>
              </a:lnSpc>
              <a:buNone/>
              <a:defRPr sz="1725" b="1">
                <a:solidFill>
                  <a:srgbClr val="172B3A"/>
                </a:solidFill>
                <a:latin typeface="Segoe UI"/>
                <a:ea typeface="Segoe UI"/>
                <a:cs typeface="Segoe UI"/>
              </a:defRPr>
            </a:pPr>
            <a:r>
              <a:rPr sz="1725" b="1">
                <a:solidFill>
                  <a:srgbClr val="172B3A"/>
                </a:solidFill>
                <a:latin typeface="Segoe UI"/>
                <a:ea typeface="Segoe UI"/>
                <a:cs typeface="Segoe UI"/>
              </a:rPr>
              <a:t>RF classifiers, LiRA, RMIA, graph or SHAP scores</a:t>
            </a:r>
          </a:p>
        </p:txBody>
      </p:sp>
      <p:sp>
        <p:nvSpPr>
          <p:cNvPr id="17" name="">
            <a:extLst xmlns:a="http://schemas.openxmlformats.org/drawingml/2006/main">
              <a:ext uri="{FF2B5EF4-FFF2-40B4-BE49-F238E27FC236}">
                <a16:creationId xmlns:a16="http://schemas.microsoft.com/office/drawing/2014/main" id="{7A03C6C3-E656-4DC7-8D0E-4DCDB7854F65}"/>
              </a:ext>
            </a:extLst>
          </p:cNvPr>
          <p:cNvSpPr>
            <a:spLocks xmlns:a="http://schemas.openxmlformats.org/drawingml/2006/main" noGrp="1"/>
          </p:cNvSpPr>
          <p:nvPr/>
        </p:nvSpPr>
        <p:spPr>
          <a:xfrm xmlns:a="http://schemas.openxmlformats.org/drawingml/2006/main">
            <a:off x="4000500" y="5581650"/>
            <a:ext cx="7239000" cy="514350"/>
          </a:xfrm>
          <a:prstGeom xmlns:a="http://schemas.openxmlformats.org/drawingml/2006/main" prst="roundRect">
            <a:avLst>
              <a:gd name="adj" fmla="val 18519"/>
            </a:avLst>
          </a:prstGeom>
          <a:solidFill xmlns:a="http://schemas.openxmlformats.org/drawingml/2006/main">
            <a:srgbClr val="102A4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1D23D8D-CEAE-4636-B3C5-D8B432AA0916}"/>
              </a:ext>
            </a:extLst>
          </p:cNvPr>
          <p:cNvSpPr>
            <a:spLocks xmlns:a="http://schemas.openxmlformats.org/drawingml/2006/main" noGrp="1"/>
          </p:cNvSpPr>
          <p:nvPr/>
        </p:nvSpPr>
        <p:spPr>
          <a:xfrm xmlns:a="http://schemas.openxmlformats.org/drawingml/2006/main">
            <a:off x="4191000" y="56864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FFFFFF"/>
                </a:solidFill>
                <a:latin typeface="Segoe UI"/>
                <a:ea typeface="Segoe UI"/>
                <a:cs typeface="Segoe UI"/>
              </a:defRPr>
            </a:pPr>
            <a:r>
              <a:rPr sz="1575" b="1">
                <a:solidFill>
                  <a:srgbClr val="FFFFFF"/>
                </a:solidFill>
                <a:latin typeface="Segoe UI"/>
                <a:ea typeface="Segoe UI"/>
                <a:cs typeface="Segoe UI"/>
              </a:rPr>
              <a:t>Codebook covers anonymization, model training, and attacks</a:t>
            </a:r>
          </a:p>
        </p:txBody>
      </p:sp>
      <p:sp>
        <p:nvSpPr>
          <p:cNvPr id="19" name="">
            <a:extLst xmlns:a="http://schemas.openxmlformats.org/drawingml/2006/main">
              <a:ext uri="{FF2B5EF4-FFF2-40B4-BE49-F238E27FC236}">
                <a16:creationId xmlns:a16="http://schemas.microsoft.com/office/drawing/2014/main" id="{1BFFABD9-929F-4889-BF98-66277159A643}"/>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Patterns Without Source, PSD 2026</a:t>
            </a:r>
          </a:p>
        </p:txBody>
      </p:sp>
    </p:spTree>
    <p:extLst>
      <p:ext uri="{BB962C8B-B14F-4D97-AF65-F5344CB8AC3E}">
        <p14:creationId xmlns:p14="http://schemas.microsoft.com/office/powerpoint/2010/main" val="10367322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74D1B1-BA5B-44FB-A745-168882DB61A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8D0E47-0688-484D-AECA-EF3E6F4091B9}"/>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Analysis design for H1 and H2</a:t>
            </a:r>
          </a:p>
        </p:txBody>
      </p:sp>
      <p:sp>
        <p:nvSpPr>
          <p:cNvPr id="3" name="">
            <a:extLst xmlns:a="http://schemas.openxmlformats.org/drawingml/2006/main">
              <a:ext uri="{FF2B5EF4-FFF2-40B4-BE49-F238E27FC236}">
                <a16:creationId xmlns:a16="http://schemas.microsoft.com/office/drawing/2014/main" id="{503CD9C6-42EE-4BA5-9797-C9522DAAA86F}"/>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1C8C8C"/>
                </a:solidFill>
                <a:latin typeface="Segoe UI"/>
                <a:ea typeface="Segoe UI"/>
                <a:cs typeface="Segoe UI"/>
              </a:defRPr>
            </a:pPr>
            <a:r>
              <a:rPr sz="1275" b="1">
                <a:solidFill>
                  <a:srgbClr val="1C8C8C"/>
                </a:solidFill>
                <a:latin typeface="Segoe UI"/>
                <a:ea typeface="Segoe UI"/>
                <a:cs typeface="Segoe UI"/>
              </a:rPr>
              <a:t>05</a:t>
            </a:r>
          </a:p>
        </p:txBody>
      </p:sp>
      <p:sp>
        <p:nvSpPr>
          <p:cNvPr id="4" name="">
            <a:extLst xmlns:a="http://schemas.openxmlformats.org/drawingml/2006/main">
              <a:ext uri="{FF2B5EF4-FFF2-40B4-BE49-F238E27FC236}">
                <a16:creationId xmlns:a16="http://schemas.microsoft.com/office/drawing/2014/main" id="{968D9040-A740-478A-A530-8765F53B220A}"/>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5" name="">
            <a:extLst xmlns:a="http://schemas.openxmlformats.org/drawingml/2006/main">
              <a:ext uri="{FF2B5EF4-FFF2-40B4-BE49-F238E27FC236}">
                <a16:creationId xmlns:a16="http://schemas.microsoft.com/office/drawing/2014/main" id="{159D6BAE-707E-439D-80C9-6A5855C7290B}"/>
              </a:ext>
            </a:extLst>
          </p:cNvPr>
          <p:cNvSpPr>
            <a:spLocks xmlns:a="http://schemas.openxmlformats.org/drawingml/2006/main" noGrp="1"/>
          </p:cNvSpPr>
          <p:nvPr/>
        </p:nvSpPr>
        <p:spPr>
          <a:xfrm xmlns:a="http://schemas.openxmlformats.org/drawingml/2006/main">
            <a:off x="723900" y="1276350"/>
            <a:ext cx="480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C8C8C"/>
                </a:solidFill>
                <a:latin typeface="Segoe UI"/>
                <a:ea typeface="Segoe UI"/>
                <a:cs typeface="Segoe UI"/>
              </a:defRPr>
            </a:pPr>
            <a:r>
              <a:rPr sz="2100" b="1">
                <a:solidFill>
                  <a:srgbClr val="1C8C8C"/>
                </a:solidFill>
                <a:latin typeface="Segoe UI"/>
                <a:ea typeface="Segoe UI"/>
                <a:cs typeface="Segoe UI"/>
              </a:rPr>
              <a:t>H1: Team-level outcomes</a:t>
            </a:r>
          </a:p>
        </p:txBody>
      </p:sp>
      <p:sp>
        <p:nvSpPr>
          <p:cNvPr id="6" name="">
            <a:extLst xmlns:a="http://schemas.openxmlformats.org/drawingml/2006/main">
              <a:ext uri="{FF2B5EF4-FFF2-40B4-BE49-F238E27FC236}">
                <a16:creationId xmlns:a16="http://schemas.microsoft.com/office/drawing/2014/main" id="{4AA46E81-83B7-434F-9275-CC1EE2E3FDFD}"/>
              </a:ext>
            </a:extLst>
          </p:cNvPr>
          <p:cNvSpPr>
            <a:spLocks xmlns:a="http://schemas.openxmlformats.org/drawingml/2006/main" noGrp="1"/>
          </p:cNvSpPr>
          <p:nvPr/>
        </p:nvSpPr>
        <p:spPr>
          <a:xfrm xmlns:a="http://schemas.openxmlformats.org/drawingml/2006/main">
            <a:off x="723900" y="1809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02A43"/>
                </a:solidFill>
                <a:latin typeface="Segoe UI"/>
                <a:ea typeface="Segoe UI"/>
                <a:cs typeface="Segoe UI"/>
              </a:defRPr>
            </a:pPr>
            <a:r>
              <a:rPr sz="1875" b="1">
                <a:solidFill>
                  <a:srgbClr val="102A43"/>
                </a:solidFill>
                <a:latin typeface="Segoe UI"/>
                <a:ea typeface="Segoe UI"/>
                <a:cs typeface="Segoe UI"/>
              </a:rPr>
              <a:t>Are generation-based designs associated with better utility and anonymization?</a:t>
            </a:r>
          </a:p>
        </p:txBody>
      </p:sp>
      <p:sp>
        <p:nvSpPr>
          <p:cNvPr id="7" name="">
            <a:extLst xmlns:a="http://schemas.openxmlformats.org/drawingml/2006/main">
              <a:ext uri="{FF2B5EF4-FFF2-40B4-BE49-F238E27FC236}">
                <a16:creationId xmlns:a16="http://schemas.microsoft.com/office/drawing/2014/main" id="{F836F634-982F-4785-9898-B2342B7E320D}"/>
              </a:ext>
            </a:extLst>
          </p:cNvPr>
          <p:cNvSpPr>
            <a:spLocks xmlns:a="http://schemas.openxmlformats.org/drawingml/2006/main" noGrp="1"/>
          </p:cNvSpPr>
          <p:nvPr/>
        </p:nvSpPr>
        <p:spPr>
          <a:xfrm xmlns:a="http://schemas.openxmlformats.org/drawingml/2006/main">
            <a:off x="723900" y="278130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172B3A"/>
                </a:solidFill>
                <a:latin typeface="Segoe UI"/>
                <a:ea typeface="Segoe UI"/>
                <a:cs typeface="Segoe UI"/>
              </a:defRPr>
            </a:pPr>
            <a:r>
              <a:rPr sz="1650" b="0">
                <a:solidFill>
                  <a:srgbClr val="172B3A"/>
                </a:solidFill>
                <a:latin typeface="Segoe UI"/>
                <a:ea typeface="Segoe UI"/>
                <a:cs typeface="Segoe UI"/>
              </a:rPr>
              <a:t>n = 20 teams</a:t>
            </a:r>
          </a:p>
          <a:p xmlns:a="http://schemas.openxmlformats.org/drawingml/2006/main">
            <a:pPr algn="l">
              <a:lnSpc>
                <a:spcPct val="112000"/>
              </a:lnSpc>
              <a:buNone/>
              <a:defRPr sz="1650" b="0">
                <a:solidFill>
                  <a:srgbClr val="172B3A"/>
                </a:solidFill>
                <a:latin typeface="Segoe UI"/>
                <a:ea typeface="Segoe UI"/>
                <a:cs typeface="Segoe UI"/>
              </a:defRPr>
            </a:pPr>
            <a:r>
              <a:rPr sz="1650" b="0">
                <a:solidFill>
                  <a:srgbClr val="172B3A"/>
                </a:solidFill>
                <a:latin typeface="Segoe UI"/>
                <a:ea typeface="Segoe UI"/>
                <a:cs typeface="Segoe UI"/>
              </a:rPr>
              <a:t>Hedges’ g for every feature–score pair</a:t>
            </a:r>
          </a:p>
          <a:p xmlns:a="http://schemas.openxmlformats.org/drawingml/2006/main">
            <a:pPr algn="l">
              <a:lnSpc>
                <a:spcPct val="112000"/>
              </a:lnSpc>
              <a:buNone/>
              <a:defRPr sz="1650" b="0">
                <a:solidFill>
                  <a:srgbClr val="172B3A"/>
                </a:solidFill>
                <a:latin typeface="Segoe UI"/>
                <a:ea typeface="Segoe UI"/>
                <a:cs typeface="Segoe UI"/>
              </a:defRPr>
            </a:pPr>
            <a:r>
              <a:rPr sz="1650" b="0">
                <a:solidFill>
                  <a:srgbClr val="172B3A"/>
                </a:solidFill>
                <a:latin typeface="Segoe UI"/>
                <a:ea typeface="Segoe UI"/>
                <a:cs typeface="Segoe UI"/>
              </a:rPr>
              <a:t>Sparse OLS models selected by AICc</a:t>
            </a:r>
          </a:p>
        </p:txBody>
      </p:sp>
      <p:sp>
        <p:nvSpPr>
          <p:cNvPr id="8" name="">
            <a:extLst xmlns:a="http://schemas.openxmlformats.org/drawingml/2006/main">
              <a:ext uri="{FF2B5EF4-FFF2-40B4-BE49-F238E27FC236}">
                <a16:creationId xmlns:a16="http://schemas.microsoft.com/office/drawing/2014/main" id="{86099165-1FA1-4E8A-AC28-FB080360E5CA}"/>
              </a:ext>
            </a:extLst>
          </p:cNvPr>
          <p:cNvSpPr>
            <a:spLocks xmlns:a="http://schemas.openxmlformats.org/drawingml/2006/main" noGrp="1"/>
          </p:cNvSpPr>
          <p:nvPr/>
        </p:nvSpPr>
        <p:spPr>
          <a:xfrm xmlns:a="http://schemas.openxmlformats.org/drawingml/2006/main">
            <a:off x="723900" y="4305300"/>
            <a:ext cx="4762500" cy="876300"/>
          </a:xfrm>
          <a:prstGeom xmlns:a="http://schemas.openxmlformats.org/drawingml/2006/main" prst="roundRect">
            <a:avLst>
              <a:gd name="adj" fmla="val 15217"/>
            </a:avLst>
          </a:prstGeom>
          <a:solidFill xmlns:a="http://schemas.openxmlformats.org/drawingml/2006/main">
            <a:srgbClr val="DDF2F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D4ADFA-9671-47D9-8B65-643A4AB9EEE9}"/>
              </a:ext>
            </a:extLst>
          </p:cNvPr>
          <p:cNvSpPr>
            <a:spLocks xmlns:a="http://schemas.openxmlformats.org/drawingml/2006/main" noGrp="1"/>
          </p:cNvSpPr>
          <p:nvPr/>
        </p:nvSpPr>
        <p:spPr>
          <a:xfrm xmlns:a="http://schemas.openxmlformats.org/drawingml/2006/main">
            <a:off x="971550" y="4505325"/>
            <a:ext cx="426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102A43"/>
                </a:solidFill>
                <a:latin typeface="Segoe UI"/>
                <a:ea typeface="Segoe UI"/>
                <a:cs typeface="Segoe UI"/>
              </a:defRPr>
            </a:pPr>
            <a:r>
              <a:rPr sz="1650" b="1">
                <a:solidFill>
                  <a:srgbClr val="102A43"/>
                </a:solidFill>
                <a:latin typeface="Segoe UI"/>
                <a:ea typeface="Segoe UI"/>
                <a:cs typeface="Segoe UI"/>
              </a:rPr>
              <a:t>Role: effect size first, regression as a robustness check</a:t>
            </a:r>
          </a:p>
        </p:txBody>
      </p:sp>
      <p:sp>
        <p:nvSpPr>
          <p:cNvPr id="10" name="">
            <a:extLst xmlns:a="http://schemas.openxmlformats.org/drawingml/2006/main">
              <a:ext uri="{FF2B5EF4-FFF2-40B4-BE49-F238E27FC236}">
                <a16:creationId xmlns:a16="http://schemas.microsoft.com/office/drawing/2014/main" id="{E6CCDC38-3CEA-421A-B274-A07A350FEFB2}"/>
              </a:ext>
            </a:extLst>
          </p:cNvPr>
          <p:cNvSpPr>
            <a:spLocks xmlns:a="http://schemas.openxmlformats.org/drawingml/2006/main" noGrp="1"/>
          </p:cNvSpPr>
          <p:nvPr/>
        </p:nvSpPr>
        <p:spPr>
          <a:xfrm xmlns:a="http://schemas.openxmlformats.org/drawingml/2006/main">
            <a:off x="5981700" y="1219200"/>
            <a:ext cx="0" cy="421005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11" name="">
            <a:extLst xmlns:a="http://schemas.openxmlformats.org/drawingml/2006/main">
              <a:ext uri="{FF2B5EF4-FFF2-40B4-BE49-F238E27FC236}">
                <a16:creationId xmlns:a16="http://schemas.microsoft.com/office/drawing/2014/main" id="{4128A371-4E60-45A4-8C1C-992930ED9436}"/>
              </a:ext>
            </a:extLst>
          </p:cNvPr>
          <p:cNvSpPr>
            <a:spLocks xmlns:a="http://schemas.openxmlformats.org/drawingml/2006/main" noGrp="1"/>
          </p:cNvSpPr>
          <p:nvPr/>
        </p:nvSpPr>
        <p:spPr>
          <a:xfrm xmlns:a="http://schemas.openxmlformats.org/drawingml/2006/main">
            <a:off x="6534150" y="1276350"/>
            <a:ext cx="480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E76F51"/>
                </a:solidFill>
                <a:latin typeface="Segoe UI"/>
                <a:ea typeface="Segoe UI"/>
                <a:cs typeface="Segoe UI"/>
              </a:defRPr>
            </a:pPr>
            <a:r>
              <a:rPr sz="2100" b="1">
                <a:solidFill>
                  <a:srgbClr val="E76F51"/>
                </a:solidFill>
                <a:latin typeface="Segoe UI"/>
                <a:ea typeface="Segoe UI"/>
                <a:cs typeface="Segoe UI"/>
              </a:rPr>
              <a:t>H2: Victim–attacker pairs</a:t>
            </a:r>
          </a:p>
        </p:txBody>
      </p:sp>
      <p:sp>
        <p:nvSpPr>
          <p:cNvPr id="12" name="">
            <a:extLst xmlns:a="http://schemas.openxmlformats.org/drawingml/2006/main">
              <a:ext uri="{FF2B5EF4-FFF2-40B4-BE49-F238E27FC236}">
                <a16:creationId xmlns:a16="http://schemas.microsoft.com/office/drawing/2014/main" id="{4E95E0B2-54A5-4E95-8AD6-38A4DB6220ED}"/>
              </a:ext>
            </a:extLst>
          </p:cNvPr>
          <p:cNvSpPr>
            <a:spLocks xmlns:a="http://schemas.openxmlformats.org/drawingml/2006/main" noGrp="1"/>
          </p:cNvSpPr>
          <p:nvPr/>
        </p:nvSpPr>
        <p:spPr>
          <a:xfrm xmlns:a="http://schemas.openxmlformats.org/drawingml/2006/main">
            <a:off x="6534150" y="1809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02A43"/>
                </a:solidFill>
                <a:latin typeface="Segoe UI"/>
                <a:ea typeface="Segoe UI"/>
                <a:cs typeface="Segoe UI"/>
              </a:defRPr>
            </a:pPr>
            <a:r>
              <a:rPr sz="1875" b="1">
                <a:solidFill>
                  <a:srgbClr val="102A43"/>
                </a:solidFill>
                <a:latin typeface="Segoe UI"/>
                <a:ea typeface="Segoe UI"/>
                <a:cs typeface="Segoe UI"/>
              </a:rPr>
              <a:t>Does strategy pairing determine how many records an attacker exposes?</a:t>
            </a:r>
          </a:p>
        </p:txBody>
      </p:sp>
      <p:sp>
        <p:nvSpPr>
          <p:cNvPr id="13" name="">
            <a:extLst xmlns:a="http://schemas.openxmlformats.org/drawingml/2006/main">
              <a:ext uri="{FF2B5EF4-FFF2-40B4-BE49-F238E27FC236}">
                <a16:creationId xmlns:a16="http://schemas.microsoft.com/office/drawing/2014/main" id="{9EFDB542-2FF2-4987-A93D-7C44EC3F8591}"/>
              </a:ext>
            </a:extLst>
          </p:cNvPr>
          <p:cNvSpPr>
            <a:spLocks xmlns:a="http://schemas.openxmlformats.org/drawingml/2006/main" noGrp="1"/>
          </p:cNvSpPr>
          <p:nvPr/>
        </p:nvSpPr>
        <p:spPr>
          <a:xfrm xmlns:a="http://schemas.openxmlformats.org/drawingml/2006/main">
            <a:off x="6534150" y="278130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172B3A"/>
                </a:solidFill>
                <a:latin typeface="Segoe UI"/>
                <a:ea typeface="Segoe UI"/>
                <a:cs typeface="Segoe UI"/>
              </a:defRPr>
            </a:pPr>
            <a:r>
              <a:rPr sz="1650" b="0">
                <a:solidFill>
                  <a:srgbClr val="172B3A"/>
                </a:solidFill>
                <a:latin typeface="Segoe UI"/>
                <a:ea typeface="Segoe UI"/>
                <a:cs typeface="Segoe UI"/>
              </a:rPr>
              <a:t>n = 361 ordered pairs</a:t>
            </a:r>
          </a:p>
          <a:p xmlns:a="http://schemas.openxmlformats.org/drawingml/2006/main">
            <a:pPr algn="l">
              <a:lnSpc>
                <a:spcPct val="112000"/>
              </a:lnSpc>
              <a:buNone/>
              <a:defRPr sz="1650" b="0">
                <a:solidFill>
                  <a:srgbClr val="172B3A"/>
                </a:solidFill>
                <a:latin typeface="Segoe UI"/>
                <a:ea typeface="Segoe UI"/>
                <a:cs typeface="Segoe UI"/>
              </a:defRPr>
            </a:pPr>
            <a:r>
              <a:rPr sz="1650" b="0">
                <a:solidFill>
                  <a:srgbClr val="172B3A"/>
                </a:solidFill>
                <a:latin typeface="Segoe UI"/>
                <a:ea typeface="Segoe UI"/>
                <a:cs typeface="Segoe UI"/>
              </a:rPr>
              <a:t>Negative binomial model for overdispersed counts</a:t>
            </a:r>
          </a:p>
          <a:p xmlns:a="http://schemas.openxmlformats.org/drawingml/2006/main">
            <a:pPr algn="l">
              <a:lnSpc>
                <a:spcPct val="112000"/>
              </a:lnSpc>
              <a:buNone/>
              <a:defRPr sz="1650" b="0">
                <a:solidFill>
                  <a:srgbClr val="172B3A"/>
                </a:solidFill>
                <a:latin typeface="Segoe UI"/>
                <a:ea typeface="Segoe UI"/>
                <a:cs typeface="Segoe UI"/>
              </a:defRPr>
            </a:pPr>
            <a:r>
              <a:rPr sz="1650" b="0">
                <a:solidFill>
                  <a:srgbClr val="172B3A"/>
                </a:solidFill>
                <a:latin typeface="Segoe UI"/>
                <a:ea typeface="Segoe UI"/>
                <a:cs typeface="Segoe UI"/>
              </a:rPr>
              <a:t>SEs clustered by attacker and victim</a:t>
            </a:r>
          </a:p>
        </p:txBody>
      </p:sp>
      <p:sp>
        <p:nvSpPr>
          <p:cNvPr id="14" name="">
            <a:extLst xmlns:a="http://schemas.openxmlformats.org/drawingml/2006/main">
              <a:ext uri="{FF2B5EF4-FFF2-40B4-BE49-F238E27FC236}">
                <a16:creationId xmlns:a16="http://schemas.microsoft.com/office/drawing/2014/main" id="{70B75059-AB9D-4C3A-BAE8-D5FDD82385A2}"/>
              </a:ext>
            </a:extLst>
          </p:cNvPr>
          <p:cNvSpPr>
            <a:spLocks xmlns:a="http://schemas.openxmlformats.org/drawingml/2006/main" noGrp="1"/>
          </p:cNvSpPr>
          <p:nvPr/>
        </p:nvSpPr>
        <p:spPr>
          <a:xfrm xmlns:a="http://schemas.openxmlformats.org/drawingml/2006/main">
            <a:off x="6534150" y="4305300"/>
            <a:ext cx="4762500" cy="876300"/>
          </a:xfrm>
          <a:prstGeom xmlns:a="http://schemas.openxmlformats.org/drawingml/2006/main" prst="roundRect">
            <a:avLst>
              <a:gd name="adj" fmla="val 15217"/>
            </a:avLst>
          </a:prstGeom>
          <a:solidFill xmlns:a="http://schemas.openxmlformats.org/drawingml/2006/main">
            <a:srgbClr val="FBE6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0D72B8-51BF-49E8-B0C1-4F7E0DDD7FCE}"/>
              </a:ext>
            </a:extLst>
          </p:cNvPr>
          <p:cNvSpPr>
            <a:spLocks xmlns:a="http://schemas.openxmlformats.org/drawingml/2006/main" noGrp="1"/>
          </p:cNvSpPr>
          <p:nvPr/>
        </p:nvSpPr>
        <p:spPr>
          <a:xfrm xmlns:a="http://schemas.openxmlformats.org/drawingml/2006/main">
            <a:off x="6781800" y="4505325"/>
            <a:ext cx="426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102A43"/>
                </a:solidFill>
                <a:latin typeface="Segoe UI"/>
                <a:ea typeface="Segoe UI"/>
                <a:cs typeface="Segoe UI"/>
              </a:defRPr>
            </a:pPr>
            <a:r>
              <a:rPr sz="1650" b="1">
                <a:solidFill>
                  <a:srgbClr val="102A43"/>
                </a:solidFill>
                <a:latin typeface="Segoe UI"/>
                <a:ea typeface="Segoe UI"/>
                <a:cs typeface="Segoe UI"/>
              </a:rPr>
              <a:t>Role: preserve the compatibility between a defense and an attack</a:t>
            </a:r>
          </a:p>
        </p:txBody>
      </p:sp>
      <p:sp>
        <p:nvSpPr>
          <p:cNvPr id="16" name="">
            <a:extLst xmlns:a="http://schemas.openxmlformats.org/drawingml/2006/main">
              <a:ext uri="{FF2B5EF4-FFF2-40B4-BE49-F238E27FC236}">
                <a16:creationId xmlns:a16="http://schemas.microsoft.com/office/drawing/2014/main" id="{786537FC-6383-4ABE-BF91-2193A1009716}"/>
              </a:ext>
            </a:extLst>
          </p:cNvPr>
          <p:cNvSpPr>
            <a:spLocks xmlns:a="http://schemas.openxmlformats.org/drawingml/2006/main" noGrp="1"/>
          </p:cNvSpPr>
          <p:nvPr/>
        </p:nvSpPr>
        <p:spPr>
          <a:xfrm xmlns:a="http://schemas.openxmlformats.org/drawingml/2006/main">
            <a:off x="1428750" y="57721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526777"/>
                </a:solidFill>
                <a:latin typeface="Segoe UI"/>
                <a:ea typeface="Segoe UI"/>
                <a:cs typeface="Segoe UI"/>
              </a:defRPr>
            </a:pPr>
            <a:r>
              <a:rPr sz="1650" b="1">
                <a:solidFill>
                  <a:srgbClr val="526777"/>
                </a:solidFill>
                <a:latin typeface="Segoe UI"/>
                <a:ea typeface="Segoe UI"/>
                <a:cs typeface="Segoe UI"/>
              </a:rPr>
              <a:t>Both analyses are exploratory because strategy coding is observational and the sample is small</a:t>
            </a:r>
          </a:p>
        </p:txBody>
      </p:sp>
      <p:sp>
        <p:nvSpPr>
          <p:cNvPr id="17" name="">
            <a:extLst xmlns:a="http://schemas.openxmlformats.org/drawingml/2006/main">
              <a:ext uri="{FF2B5EF4-FFF2-40B4-BE49-F238E27FC236}">
                <a16:creationId xmlns:a16="http://schemas.microsoft.com/office/drawing/2014/main" id="{66CCB2DA-8A08-445E-AB0A-2F208299FEEF}"/>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Patterns Without Source, PSD 2026</a:t>
            </a:r>
          </a:p>
        </p:txBody>
      </p:sp>
    </p:spTree>
    <p:extLst>
      <p:ext uri="{BB962C8B-B14F-4D97-AF65-F5344CB8AC3E}">
        <p14:creationId xmlns:p14="http://schemas.microsoft.com/office/powerpoint/2010/main" val="5702243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88B83B-19B2-4B91-B597-371E746692C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E04995-3DFA-4B55-AD9C-FA8BC95B22EF}"/>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H1: Generation-based designs led on both outcomes</a:t>
            </a:r>
          </a:p>
        </p:txBody>
      </p:sp>
      <p:sp>
        <p:nvSpPr>
          <p:cNvPr id="3" name="">
            <a:extLst xmlns:a="http://schemas.openxmlformats.org/drawingml/2006/main">
              <a:ext uri="{FF2B5EF4-FFF2-40B4-BE49-F238E27FC236}">
                <a16:creationId xmlns:a16="http://schemas.microsoft.com/office/drawing/2014/main" id="{BB289816-3481-4A91-894A-688878B69FAC}"/>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1C8C8C"/>
                </a:solidFill>
                <a:latin typeface="Segoe UI"/>
                <a:ea typeface="Segoe UI"/>
                <a:cs typeface="Segoe UI"/>
              </a:defRPr>
            </a:pPr>
            <a:r>
              <a:rPr sz="1275" b="1">
                <a:solidFill>
                  <a:srgbClr val="1C8C8C"/>
                </a:solidFill>
                <a:latin typeface="Segoe UI"/>
                <a:ea typeface="Segoe UI"/>
                <a:cs typeface="Segoe UI"/>
              </a:rPr>
              <a:t>06</a:t>
            </a:r>
          </a:p>
        </p:txBody>
      </p:sp>
      <p:sp>
        <p:nvSpPr>
          <p:cNvPr id="4" name="">
            <a:extLst xmlns:a="http://schemas.openxmlformats.org/drawingml/2006/main">
              <a:ext uri="{FF2B5EF4-FFF2-40B4-BE49-F238E27FC236}">
                <a16:creationId xmlns:a16="http://schemas.microsoft.com/office/drawing/2014/main" id="{4798DD9E-CB83-44CB-9841-09EDC59B0F52}"/>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graphicFrame>
        <p:nvGraphicFramePr>
          <p:cNvPr id="17" name="Chart"/>
          <p:cNvGraphicFramePr/>
          <p:nvPr/>
        </p:nvGraphicFramePr>
        <p:xfrm>
          <a:off xmlns:a="http://schemas.openxmlformats.org/drawingml/2006/main" x="609600" y="142875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92f349b533d442d8"/>
          </a:graphicData>
        </a:graphic>
      </p:graphicFrame>
      <p:sp>
        <p:nvSpPr>
          <p:cNvPr id="6" name="">
            <a:extLst xmlns:a="http://schemas.openxmlformats.org/drawingml/2006/main">
              <a:ext uri="{FF2B5EF4-FFF2-40B4-BE49-F238E27FC236}">
                <a16:creationId xmlns:a16="http://schemas.microsoft.com/office/drawing/2014/main" id="{82CDAA2B-E7B3-49EC-99DB-D4F9494C5F60}"/>
              </a:ext>
            </a:extLst>
          </p:cNvPr>
          <p:cNvSpPr>
            <a:spLocks xmlns:a="http://schemas.openxmlformats.org/drawingml/2006/main" noGrp="1"/>
          </p:cNvSpPr>
          <p:nvPr/>
        </p:nvSpPr>
        <p:spPr>
          <a:xfrm xmlns:a="http://schemas.openxmlformats.org/drawingml/2006/main">
            <a:off x="7715250" y="15240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Segoe UI"/>
                <a:ea typeface="Segoe UI"/>
                <a:cs typeface="Segoe UI"/>
              </a:defRPr>
            </a:pPr>
            <a:r>
              <a:rPr sz="1800" b="1">
                <a:solidFill>
                  <a:srgbClr val="102A43"/>
                </a:solidFill>
                <a:latin typeface="Segoe UI"/>
                <a:ea typeface="Segoe UI"/>
                <a:cs typeface="Segoe UI"/>
              </a:rPr>
              <a:t>All three exceed the conventional large-effect threshold |g| &gt; 0.8</a:t>
            </a:r>
          </a:p>
        </p:txBody>
      </p:sp>
      <p:sp>
        <p:nvSpPr>
          <p:cNvPr id="7" name="">
            <a:extLst xmlns:a="http://schemas.openxmlformats.org/drawingml/2006/main">
              <a:ext uri="{FF2B5EF4-FFF2-40B4-BE49-F238E27FC236}">
                <a16:creationId xmlns:a16="http://schemas.microsoft.com/office/drawing/2014/main" id="{F94EF9C2-6258-42BC-AEE3-9B774051EBE4}"/>
              </a:ext>
            </a:extLst>
          </p:cNvPr>
          <p:cNvSpPr>
            <a:spLocks xmlns:a="http://schemas.openxmlformats.org/drawingml/2006/main" noGrp="1"/>
          </p:cNvSpPr>
          <p:nvPr/>
        </p:nvSpPr>
        <p:spPr>
          <a:xfrm xmlns:a="http://schemas.openxmlformats.org/drawingml/2006/main">
            <a:off x="7715250" y="2495550"/>
            <a:ext cx="371475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8" name="">
            <a:extLst xmlns:a="http://schemas.openxmlformats.org/drawingml/2006/main">
              <a:ext uri="{FF2B5EF4-FFF2-40B4-BE49-F238E27FC236}">
                <a16:creationId xmlns:a16="http://schemas.microsoft.com/office/drawing/2014/main" id="{4F33A848-CA27-4A97-A023-5B4456A30DAF}"/>
              </a:ext>
            </a:extLst>
          </p:cNvPr>
          <p:cNvSpPr>
            <a:spLocks xmlns:a="http://schemas.openxmlformats.org/drawingml/2006/main" noGrp="1"/>
          </p:cNvSpPr>
          <p:nvPr/>
        </p:nvSpPr>
        <p:spPr>
          <a:xfrm xmlns:a="http://schemas.openxmlformats.org/drawingml/2006/main">
            <a:off x="7715250" y="2762250"/>
            <a:ext cx="3714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a:solidFill>
                  <a:srgbClr val="172B3A"/>
                </a:solidFill>
                <a:latin typeface="Segoe UI"/>
                <a:ea typeface="Segoe UI"/>
                <a:cs typeface="Segoe UI"/>
              </a:defRPr>
            </a:pPr>
            <a:r>
              <a:rPr sz="1575" b="0">
                <a:solidFill>
                  <a:srgbClr val="172B3A"/>
                </a:solidFill>
                <a:latin typeface="Segoe UI"/>
                <a:ea typeface="Segoe UI"/>
                <a:cs typeface="Segoe UI"/>
              </a:rPr>
              <a:t>Optimization</a:t>
            </a:r>
          </a:p>
          <a:p xmlns:a="http://schemas.openxmlformats.org/drawingml/2006/main">
            <a:pPr algn="l">
              <a:lnSpc>
                <a:spcPct val="106000"/>
              </a:lnSpc>
              <a:buNone/>
              <a:defRPr sz="1575" b="0">
                <a:solidFill>
                  <a:srgbClr val="172B3A"/>
                </a:solidFill>
                <a:latin typeface="Segoe UI"/>
                <a:ea typeface="Segoe UI"/>
                <a:cs typeface="Segoe UI"/>
              </a:defRPr>
            </a:pPr>
            <a:r>
              <a:rPr sz="1575" b="0">
                <a:solidFill>
                  <a:srgbClr val="172B3A"/>
                </a:solidFill>
                <a:latin typeface="Segoe UI"/>
                <a:ea typeface="Segoe UI"/>
                <a:cs typeface="Segoe UI"/>
              </a:rPr>
              <a:t>g = 1.17 for utility, but AICc did not retain it after broader design choices entered the model</a:t>
            </a:r>
          </a:p>
        </p:txBody>
      </p:sp>
      <p:sp>
        <p:nvSpPr>
          <p:cNvPr id="9" name="">
            <a:extLst xmlns:a="http://schemas.openxmlformats.org/drawingml/2006/main">
              <a:ext uri="{FF2B5EF4-FFF2-40B4-BE49-F238E27FC236}">
                <a16:creationId xmlns:a16="http://schemas.microsoft.com/office/drawing/2014/main" id="{921E1A9B-D33E-4F18-9DD9-A84CFB042B4A}"/>
              </a:ext>
            </a:extLst>
          </p:cNvPr>
          <p:cNvSpPr>
            <a:spLocks xmlns:a="http://schemas.openxmlformats.org/drawingml/2006/main" noGrp="1"/>
          </p:cNvSpPr>
          <p:nvPr/>
        </p:nvSpPr>
        <p:spPr>
          <a:xfrm xmlns:a="http://schemas.openxmlformats.org/drawingml/2006/main">
            <a:off x="7715250" y="3962400"/>
            <a:ext cx="3714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a:solidFill>
                  <a:srgbClr val="172B3A"/>
                </a:solidFill>
                <a:latin typeface="Segoe UI"/>
                <a:ea typeface="Segoe UI"/>
                <a:cs typeface="Segoe UI"/>
              </a:defRPr>
            </a:pPr>
            <a:r>
              <a:rPr sz="1575" b="0">
                <a:solidFill>
                  <a:srgbClr val="172B3A"/>
                </a:solidFill>
                <a:latin typeface="Segoe UI"/>
                <a:ea typeface="Segoe UI"/>
                <a:cs typeface="Segoe UI"/>
              </a:rPr>
              <a:t>Swapping</a:t>
            </a:r>
          </a:p>
          <a:p xmlns:a="http://schemas.openxmlformats.org/drawingml/2006/main">
            <a:pPr algn="l">
              <a:lnSpc>
                <a:spcPct val="106000"/>
              </a:lnSpc>
              <a:buNone/>
              <a:defRPr sz="1575" b="0">
                <a:solidFill>
                  <a:srgbClr val="172B3A"/>
                </a:solidFill>
                <a:latin typeface="Segoe UI"/>
                <a:ea typeface="Segoe UI"/>
                <a:cs typeface="Segoe UI"/>
              </a:defRPr>
            </a:pPr>
            <a:r>
              <a:rPr sz="1575" b="0">
                <a:solidFill>
                  <a:srgbClr val="172B3A"/>
                </a:solidFill>
                <a:latin typeface="Segoe UI"/>
                <a:ea typeface="Segoe UI"/>
                <a:cs typeface="Segoe UI"/>
              </a:rPr>
              <a:t>g = 0.73 for anonymization, while its utility effect stayed below |g| = 0.25</a:t>
            </a:r>
          </a:p>
        </p:txBody>
      </p:sp>
      <p:sp>
        <p:nvSpPr>
          <p:cNvPr id="10" name="">
            <a:extLst xmlns:a="http://schemas.openxmlformats.org/drawingml/2006/main">
              <a:ext uri="{FF2B5EF4-FFF2-40B4-BE49-F238E27FC236}">
                <a16:creationId xmlns:a16="http://schemas.microsoft.com/office/drawing/2014/main" id="{AE06EEC9-6277-4BFC-94AC-B396818EDF29}"/>
              </a:ext>
            </a:extLst>
          </p:cNvPr>
          <p:cNvSpPr>
            <a:spLocks xmlns:a="http://schemas.openxmlformats.org/drawingml/2006/main" noGrp="1"/>
          </p:cNvSpPr>
          <p:nvPr/>
        </p:nvSpPr>
        <p:spPr>
          <a:xfrm xmlns:a="http://schemas.openxmlformats.org/drawingml/2006/main">
            <a:off x="666750" y="5676900"/>
            <a:ext cx="10572750" cy="4572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6A835A4-6005-4A59-B0D9-4FECF3306C27}"/>
              </a:ext>
            </a:extLst>
          </p:cNvPr>
          <p:cNvSpPr>
            <a:spLocks xmlns:a="http://schemas.openxmlformats.org/drawingml/2006/main" noGrp="1"/>
          </p:cNvSpPr>
          <p:nvPr/>
        </p:nvSpPr>
        <p:spPr>
          <a:xfrm xmlns:a="http://schemas.openxmlformats.org/drawingml/2006/main">
            <a:off x="838200" y="5781675"/>
            <a:ext cx="10229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FFFFFF"/>
                </a:solidFill>
                <a:latin typeface="Segoe UI"/>
                <a:ea typeface="Segoe UI"/>
                <a:cs typeface="Segoe UI"/>
              </a:defRPr>
            </a:pPr>
            <a:r>
              <a:rPr sz="1575" b="1">
                <a:solidFill>
                  <a:srgbClr val="FFFFFF"/>
                </a:solidFill>
                <a:latin typeface="Segoe UI"/>
                <a:ea typeface="Segoe UI"/>
                <a:cs typeface="Segoe UI"/>
              </a:rPr>
              <a:t>Utility and anonymity favored related, but not identical, design choices. Synthesis helped both.</a:t>
            </a:r>
          </a:p>
        </p:txBody>
      </p:sp>
      <p:sp>
        <p:nvSpPr>
          <p:cNvPr id="12" name="">
            <a:extLst xmlns:a="http://schemas.openxmlformats.org/drawingml/2006/main">
              <a:ext uri="{FF2B5EF4-FFF2-40B4-BE49-F238E27FC236}">
                <a16:creationId xmlns:a16="http://schemas.microsoft.com/office/drawing/2014/main" id="{204F1DD0-0DB6-4174-9570-2A4985816303}"/>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Patterns Without Source, PSD 2026</a:t>
            </a:r>
          </a:p>
        </p:txBody>
      </p:sp>
    </p:spTree>
    <p:extLst>
      <p:ext uri="{BB962C8B-B14F-4D97-AF65-F5344CB8AC3E}">
        <p14:creationId xmlns:p14="http://schemas.microsoft.com/office/powerpoint/2010/main" val="16403069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51841FA-88A5-46E1-BF1F-8084936CCD0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BC83A3-21DC-4B8B-BDD3-732D78A705C0}"/>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H2: Anonymization dominated the attack channel</a:t>
            </a:r>
          </a:p>
        </p:txBody>
      </p:sp>
      <p:sp>
        <p:nvSpPr>
          <p:cNvPr id="3" name="">
            <a:extLst xmlns:a="http://schemas.openxmlformats.org/drawingml/2006/main">
              <a:ext uri="{FF2B5EF4-FFF2-40B4-BE49-F238E27FC236}">
                <a16:creationId xmlns:a16="http://schemas.microsoft.com/office/drawing/2014/main" id="{8003C3A2-C08A-4465-A6E7-84D0C2AFDCD3}"/>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1C8C8C"/>
                </a:solidFill>
                <a:latin typeface="Segoe UI"/>
                <a:ea typeface="Segoe UI"/>
                <a:cs typeface="Segoe UI"/>
              </a:defRPr>
            </a:pPr>
            <a:r>
              <a:rPr sz="1275" b="1">
                <a:solidFill>
                  <a:srgbClr val="1C8C8C"/>
                </a:solidFill>
                <a:latin typeface="Segoe UI"/>
                <a:ea typeface="Segoe UI"/>
                <a:cs typeface="Segoe UI"/>
              </a:rPr>
              <a:t>07</a:t>
            </a:r>
          </a:p>
        </p:txBody>
      </p:sp>
      <p:sp>
        <p:nvSpPr>
          <p:cNvPr id="4" name="">
            <a:extLst xmlns:a="http://schemas.openxmlformats.org/drawingml/2006/main">
              <a:ext uri="{FF2B5EF4-FFF2-40B4-BE49-F238E27FC236}">
                <a16:creationId xmlns:a16="http://schemas.microsoft.com/office/drawing/2014/main" id="{2B10D803-E837-4F47-B64B-9B9890D6D80A}"/>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5" name="">
            <a:extLst xmlns:a="http://schemas.openxmlformats.org/drawingml/2006/main">
              <a:ext uri="{FF2B5EF4-FFF2-40B4-BE49-F238E27FC236}">
                <a16:creationId xmlns:a16="http://schemas.microsoft.com/office/drawing/2014/main" id="{64A46E9A-BE08-4DAB-9A0E-9610DCFB1DC2}"/>
              </a:ext>
            </a:extLst>
          </p:cNvPr>
          <p:cNvSpPr>
            <a:spLocks xmlns:a="http://schemas.openxmlformats.org/drawingml/2006/main" noGrp="1"/>
          </p:cNvSpPr>
          <p:nvPr/>
        </p:nvSpPr>
        <p:spPr>
          <a:xfrm xmlns:a="http://schemas.openxmlformats.org/drawingml/2006/main">
            <a:off x="704850" y="120015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0">
                <a:solidFill>
                  <a:srgbClr val="526777"/>
                </a:solidFill>
                <a:latin typeface="Segoe UI"/>
                <a:ea typeface="Segoe UI"/>
                <a:cs typeface="Segoe UI"/>
              </a:defRPr>
            </a:pPr>
            <a:r>
              <a:rPr sz="1725" b="0">
                <a:solidFill>
                  <a:srgbClr val="526777"/>
                </a:solidFill>
                <a:latin typeface="Segoe UI"/>
                <a:ea typeface="Segoe UI"/>
                <a:cs typeface="Segoe UI"/>
              </a:rPr>
              <a:t>Incidence rate ratio for expected exposed records</a:t>
            </a:r>
          </a:p>
        </p:txBody>
      </p:sp>
      <p:sp>
        <p:nvSpPr>
          <p:cNvPr id="6" name="">
            <a:extLst xmlns:a="http://schemas.openxmlformats.org/drawingml/2006/main">
              <a:ext uri="{FF2B5EF4-FFF2-40B4-BE49-F238E27FC236}">
                <a16:creationId xmlns:a16="http://schemas.microsoft.com/office/drawing/2014/main" id="{8D300CFF-8FFE-46D9-B62A-14B48E4D42B3}"/>
              </a:ext>
            </a:extLst>
          </p:cNvPr>
          <p:cNvSpPr>
            <a:spLocks xmlns:a="http://schemas.openxmlformats.org/drawingml/2006/main" noGrp="1"/>
          </p:cNvSpPr>
          <p:nvPr/>
        </p:nvSpPr>
        <p:spPr>
          <a:xfrm xmlns:a="http://schemas.openxmlformats.org/drawingml/2006/main">
            <a:off x="1123950" y="2571750"/>
            <a:ext cx="9906000" cy="0"/>
          </a:xfrm>
          <a:prstGeom xmlns:a="http://schemas.openxmlformats.org/drawingml/2006/main" prst="line">
            <a:avLst/>
          </a:prstGeom>
          <a:noFill xmlns:a="http://schemas.openxmlformats.org/drawingml/2006/main"/>
          <a:ln xmlns:a="http://schemas.openxmlformats.org/drawingml/2006/main" w="38100">
            <a:solidFill>
              <a:srgbClr val="C8D3DA"/>
            </a:solidFill>
            <a:prstDash val="solid"/>
          </a:ln>
        </p:spPr>
      </p:sp>
      <p:sp>
        <p:nvSpPr>
          <p:cNvPr id="7" name="">
            <a:extLst xmlns:a="http://schemas.openxmlformats.org/drawingml/2006/main">
              <a:ext uri="{FF2B5EF4-FFF2-40B4-BE49-F238E27FC236}">
                <a16:creationId xmlns:a16="http://schemas.microsoft.com/office/drawing/2014/main" id="{A9F427CA-4378-4FA1-ABC3-992CC107BB74}"/>
              </a:ext>
            </a:extLst>
          </p:cNvPr>
          <p:cNvSpPr>
            <a:spLocks xmlns:a="http://schemas.openxmlformats.org/drawingml/2006/main" noGrp="1"/>
          </p:cNvSpPr>
          <p:nvPr/>
        </p:nvSpPr>
        <p:spPr>
          <a:xfrm xmlns:a="http://schemas.openxmlformats.org/drawingml/2006/main">
            <a:off x="8058150" y="2266950"/>
            <a:ext cx="0" cy="609600"/>
          </a:xfrm>
          <a:prstGeom xmlns:a="http://schemas.openxmlformats.org/drawingml/2006/main" prst="line">
            <a:avLst/>
          </a:prstGeom>
          <a:noFill xmlns:a="http://schemas.openxmlformats.org/drawingml/2006/main"/>
          <a:ln xmlns:a="http://schemas.openxmlformats.org/drawingml/2006/main" w="28575">
            <a:solidFill>
              <a:srgbClr val="102A43"/>
            </a:solidFill>
            <a:prstDash val="solid"/>
          </a:ln>
        </p:spPr>
      </p:sp>
      <p:sp>
        <p:nvSpPr>
          <p:cNvPr id="8" name="">
            <a:extLst xmlns:a="http://schemas.openxmlformats.org/drawingml/2006/main">
              <a:ext uri="{FF2B5EF4-FFF2-40B4-BE49-F238E27FC236}">
                <a16:creationId xmlns:a16="http://schemas.microsoft.com/office/drawing/2014/main" id="{0964CEA0-1ED8-48A3-B670-D0D06BEFB429}"/>
              </a:ext>
            </a:extLst>
          </p:cNvPr>
          <p:cNvSpPr>
            <a:spLocks xmlns:a="http://schemas.openxmlformats.org/drawingml/2006/main" noGrp="1"/>
          </p:cNvSpPr>
          <p:nvPr/>
        </p:nvSpPr>
        <p:spPr>
          <a:xfrm xmlns:a="http://schemas.openxmlformats.org/drawingml/2006/main">
            <a:off x="7772400" y="19431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102A43"/>
                </a:solidFill>
                <a:latin typeface="Segoe UI"/>
                <a:ea typeface="Segoe UI"/>
                <a:cs typeface="Segoe UI"/>
              </a:defRPr>
            </a:pPr>
            <a:r>
              <a:rPr sz="1275" b="1">
                <a:solidFill>
                  <a:srgbClr val="102A43"/>
                </a:solidFill>
                <a:latin typeface="Segoe UI"/>
                <a:ea typeface="Segoe UI"/>
                <a:cs typeface="Segoe UI"/>
              </a:rPr>
              <a:t>1.0</a:t>
            </a:r>
          </a:p>
        </p:txBody>
      </p:sp>
      <p:sp>
        <p:nvSpPr>
          <p:cNvPr id="9" name="">
            <a:extLst xmlns:a="http://schemas.openxmlformats.org/drawingml/2006/main">
              <a:ext uri="{FF2B5EF4-FFF2-40B4-BE49-F238E27FC236}">
                <a16:creationId xmlns:a16="http://schemas.microsoft.com/office/drawing/2014/main" id="{3DB4E163-EDA8-4148-A8A8-B4513FC717DF}"/>
              </a:ext>
            </a:extLst>
          </p:cNvPr>
          <p:cNvSpPr>
            <a:spLocks xmlns:a="http://schemas.openxmlformats.org/drawingml/2006/main" noGrp="1"/>
          </p:cNvSpPr>
          <p:nvPr/>
        </p:nvSpPr>
        <p:spPr>
          <a:xfrm xmlns:a="http://schemas.openxmlformats.org/drawingml/2006/main">
            <a:off x="3619500" y="2362200"/>
            <a:ext cx="1390650" cy="419100"/>
          </a:xfrm>
          <a:prstGeom xmlns:a="http://schemas.openxmlformats.org/drawingml/2006/main" prst="roundRect">
            <a:avLst>
              <a:gd name="adj" fmla="val 22727"/>
            </a:avLst>
          </a:prstGeom>
          <a:solidFill xmlns:a="http://schemas.openxmlformats.org/drawingml/2006/main">
            <a:srgbClr val="DFF2E9"/>
          </a:solidFill>
          <a:ln xmlns:a="http://schemas.openxmlformats.org/drawingml/2006/main" w="19050">
            <a:solidFill>
              <a:srgbClr val="2A9D6F"/>
            </a:solidFill>
            <a:prstDash val="solid"/>
          </a:ln>
        </p:spPr>
      </p:sp>
      <p:sp>
        <p:nvSpPr>
          <p:cNvPr id="10" name="">
            <a:extLst xmlns:a="http://schemas.openxmlformats.org/drawingml/2006/main">
              <a:ext uri="{FF2B5EF4-FFF2-40B4-BE49-F238E27FC236}">
                <a16:creationId xmlns:a16="http://schemas.microsoft.com/office/drawing/2014/main" id="{4D6D353E-E976-4924-948B-55FA6A50C77E}"/>
              </a:ext>
            </a:extLst>
          </p:cNvPr>
          <p:cNvSpPr>
            <a:spLocks xmlns:a="http://schemas.openxmlformats.org/drawingml/2006/main" noGrp="1"/>
          </p:cNvSpPr>
          <p:nvPr/>
        </p:nvSpPr>
        <p:spPr>
          <a:xfrm xmlns:a="http://schemas.openxmlformats.org/drawingml/2006/main">
            <a:off x="3714750" y="24479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2A9D6F"/>
                </a:solidFill>
                <a:latin typeface="Segoe UI"/>
                <a:ea typeface="Segoe UI"/>
                <a:cs typeface="Segoe UI"/>
              </a:defRPr>
            </a:pPr>
            <a:r>
              <a:rPr sz="1500" b="1">
                <a:solidFill>
                  <a:srgbClr val="2A9D6F"/>
                </a:solidFill>
                <a:latin typeface="Segoe UI"/>
                <a:ea typeface="Segoe UI"/>
                <a:cs typeface="Segoe UI"/>
              </a:rPr>
              <a:t>0.63–0.73</a:t>
            </a:r>
          </a:p>
        </p:txBody>
      </p:sp>
      <p:sp>
        <p:nvSpPr>
          <p:cNvPr id="11" name="">
            <a:extLst xmlns:a="http://schemas.openxmlformats.org/drawingml/2006/main">
              <a:ext uri="{FF2B5EF4-FFF2-40B4-BE49-F238E27FC236}">
                <a16:creationId xmlns:a16="http://schemas.microsoft.com/office/drawing/2014/main" id="{38AB9672-0592-4F4D-89AF-F03C15BCA202}"/>
              </a:ext>
            </a:extLst>
          </p:cNvPr>
          <p:cNvSpPr>
            <a:spLocks xmlns:a="http://schemas.openxmlformats.org/drawingml/2006/main" noGrp="1"/>
          </p:cNvSpPr>
          <p:nvPr/>
        </p:nvSpPr>
        <p:spPr>
          <a:xfrm xmlns:a="http://schemas.openxmlformats.org/drawingml/2006/main">
            <a:off x="2324100" y="2952750"/>
            <a:ext cx="400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2A9D6F"/>
                </a:solidFill>
                <a:latin typeface="Segoe UI"/>
                <a:ea typeface="Segoe UI"/>
                <a:cs typeface="Segoe UI"/>
              </a:defRPr>
            </a:pPr>
            <a:r>
              <a:rPr sz="1875" b="1">
                <a:solidFill>
                  <a:srgbClr val="2A9D6F"/>
                </a:solidFill>
                <a:latin typeface="Segoe UI"/>
                <a:ea typeface="Segoe UI"/>
                <a:cs typeface="Segoe UI"/>
              </a:rPr>
              <a:t>Strong victim-side choices</a:t>
            </a:r>
          </a:p>
        </p:txBody>
      </p:sp>
      <p:sp>
        <p:nvSpPr>
          <p:cNvPr id="12" name="">
            <a:extLst xmlns:a="http://schemas.openxmlformats.org/drawingml/2006/main">
              <a:ext uri="{FF2B5EF4-FFF2-40B4-BE49-F238E27FC236}">
                <a16:creationId xmlns:a16="http://schemas.microsoft.com/office/drawing/2014/main" id="{16BAFF60-0FB4-41EC-944C-0EF97DB3847F}"/>
              </a:ext>
            </a:extLst>
          </p:cNvPr>
          <p:cNvSpPr>
            <a:spLocks xmlns:a="http://schemas.openxmlformats.org/drawingml/2006/main" noGrp="1"/>
          </p:cNvSpPr>
          <p:nvPr/>
        </p:nvSpPr>
        <p:spPr>
          <a:xfrm xmlns:a="http://schemas.openxmlformats.org/drawingml/2006/main">
            <a:off x="5657850" y="2362200"/>
            <a:ext cx="1219200" cy="419100"/>
          </a:xfrm>
          <a:prstGeom xmlns:a="http://schemas.openxmlformats.org/drawingml/2006/main" prst="roundRect">
            <a:avLst>
              <a:gd name="adj" fmla="val 22727"/>
            </a:avLst>
          </a:prstGeom>
          <a:solidFill xmlns:a="http://schemas.openxmlformats.org/drawingml/2006/main">
            <a:srgbClr val="FBE6DF"/>
          </a:solidFill>
          <a:ln xmlns:a="http://schemas.openxmlformats.org/drawingml/2006/main" w="19050">
            <a:solidFill>
              <a:srgbClr val="E76F51"/>
            </a:solidFill>
            <a:prstDash val="solid"/>
          </a:ln>
        </p:spPr>
      </p:sp>
      <p:sp>
        <p:nvSpPr>
          <p:cNvPr id="13" name="">
            <a:extLst xmlns:a="http://schemas.openxmlformats.org/drawingml/2006/main">
              <a:ext uri="{FF2B5EF4-FFF2-40B4-BE49-F238E27FC236}">
                <a16:creationId xmlns:a16="http://schemas.microsoft.com/office/drawing/2014/main" id="{A8384EEE-F366-43D3-8047-59A2029F3D4B}"/>
              </a:ext>
            </a:extLst>
          </p:cNvPr>
          <p:cNvSpPr>
            <a:spLocks xmlns:a="http://schemas.openxmlformats.org/drawingml/2006/main" noGrp="1"/>
          </p:cNvSpPr>
          <p:nvPr/>
        </p:nvSpPr>
        <p:spPr>
          <a:xfrm xmlns:a="http://schemas.openxmlformats.org/drawingml/2006/main">
            <a:off x="5753100" y="2447925"/>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E76F51"/>
                </a:solidFill>
                <a:latin typeface="Segoe UI"/>
                <a:ea typeface="Segoe UI"/>
                <a:cs typeface="Segoe UI"/>
              </a:defRPr>
            </a:pPr>
            <a:r>
              <a:rPr sz="1500" b="1">
                <a:solidFill>
                  <a:srgbClr val="E76F51"/>
                </a:solidFill>
                <a:latin typeface="Segoe UI"/>
                <a:ea typeface="Segoe UI"/>
                <a:cs typeface="Segoe UI"/>
              </a:rPr>
              <a:t>0.83–0.86</a:t>
            </a:r>
          </a:p>
        </p:txBody>
      </p:sp>
      <p:sp>
        <p:nvSpPr>
          <p:cNvPr id="14" name="">
            <a:extLst xmlns:a="http://schemas.openxmlformats.org/drawingml/2006/main">
              <a:ext uri="{FF2B5EF4-FFF2-40B4-BE49-F238E27FC236}">
                <a16:creationId xmlns:a16="http://schemas.microsoft.com/office/drawing/2014/main" id="{F7474529-2FB4-4625-A886-3A80484A7132}"/>
              </a:ext>
            </a:extLst>
          </p:cNvPr>
          <p:cNvSpPr>
            <a:spLocks xmlns:a="http://schemas.openxmlformats.org/drawingml/2006/main" noGrp="1"/>
          </p:cNvSpPr>
          <p:nvPr/>
        </p:nvSpPr>
        <p:spPr>
          <a:xfrm xmlns:a="http://schemas.openxmlformats.org/drawingml/2006/main">
            <a:off x="5219700" y="350520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E76F51"/>
                </a:solidFill>
                <a:latin typeface="Segoe UI"/>
                <a:ea typeface="Segoe UI"/>
                <a:cs typeface="Segoe UI"/>
              </a:defRPr>
            </a:pPr>
            <a:r>
              <a:rPr sz="1650" b="1">
                <a:solidFill>
                  <a:srgbClr val="E76F51"/>
                </a:solidFill>
                <a:latin typeface="Segoe UI"/>
                <a:ea typeface="Segoe UI"/>
                <a:cs typeface="Segoe UI"/>
              </a:rPr>
              <a:t>Attacker uses</a:t>
            </a:r>
          </a:p>
          <a:p xmlns:a="http://schemas.openxmlformats.org/drawingml/2006/main">
            <a:pPr algn="ctr">
              <a:lnSpc>
                <a:spcPct val="100000"/>
              </a:lnSpc>
              <a:buNone/>
              <a:defRPr sz="1650" b="1">
                <a:solidFill>
                  <a:srgbClr val="E76F51"/>
                </a:solidFill>
                <a:latin typeface="Segoe UI"/>
                <a:ea typeface="Segoe UI"/>
                <a:cs typeface="Segoe UI"/>
              </a:defRPr>
            </a:pPr>
            <a:r>
              <a:rPr sz="1650" b="1">
                <a:solidFill>
                  <a:srgbClr val="E76F51"/>
                </a:solidFill>
                <a:latin typeface="Segoe UI"/>
                <a:ea typeface="Segoe UI"/>
                <a:cs typeface="Segoe UI"/>
              </a:rPr>
              <a:t>C and D</a:t>
            </a:r>
          </a:p>
        </p:txBody>
      </p:sp>
      <p:sp>
        <p:nvSpPr>
          <p:cNvPr id="15" name="">
            <a:extLst xmlns:a="http://schemas.openxmlformats.org/drawingml/2006/main">
              <a:ext uri="{FF2B5EF4-FFF2-40B4-BE49-F238E27FC236}">
                <a16:creationId xmlns:a16="http://schemas.microsoft.com/office/drawing/2014/main" id="{ADF66F59-E7DF-4BC8-BD7B-C6767E5452CF}"/>
              </a:ext>
            </a:extLst>
          </p:cNvPr>
          <p:cNvSpPr>
            <a:spLocks xmlns:a="http://schemas.openxmlformats.org/drawingml/2006/main" noGrp="1"/>
          </p:cNvSpPr>
          <p:nvPr/>
        </p:nvSpPr>
        <p:spPr>
          <a:xfrm xmlns:a="http://schemas.openxmlformats.org/drawingml/2006/main">
            <a:off x="8248650" y="2362200"/>
            <a:ext cx="1143000" cy="419100"/>
          </a:xfrm>
          <a:prstGeom xmlns:a="http://schemas.openxmlformats.org/drawingml/2006/main" prst="roundRect">
            <a:avLst>
              <a:gd name="adj" fmla="val 22727"/>
            </a:avLst>
          </a:prstGeom>
          <a:solidFill xmlns:a="http://schemas.openxmlformats.org/drawingml/2006/main">
            <a:srgbClr val="F5F7F8"/>
          </a:solidFill>
          <a:ln xmlns:a="http://schemas.openxmlformats.org/drawingml/2006/main" w="19050">
            <a:solidFill>
              <a:srgbClr val="C8D3DA"/>
            </a:solidFill>
            <a:prstDash val="solid"/>
          </a:ln>
        </p:spPr>
      </p:sp>
      <p:sp>
        <p:nvSpPr>
          <p:cNvPr id="16" name="">
            <a:extLst xmlns:a="http://schemas.openxmlformats.org/drawingml/2006/main">
              <a:ext uri="{FF2B5EF4-FFF2-40B4-BE49-F238E27FC236}">
                <a16:creationId xmlns:a16="http://schemas.microsoft.com/office/drawing/2014/main" id="{73A3FC19-E1CF-47B4-8452-91AE55FD1E9A}"/>
              </a:ext>
            </a:extLst>
          </p:cNvPr>
          <p:cNvSpPr>
            <a:spLocks xmlns:a="http://schemas.openxmlformats.org/drawingml/2006/main" noGrp="1"/>
          </p:cNvSpPr>
          <p:nvPr/>
        </p:nvSpPr>
        <p:spPr>
          <a:xfrm xmlns:a="http://schemas.openxmlformats.org/drawingml/2006/main">
            <a:off x="8343900" y="24479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526777"/>
                </a:solidFill>
                <a:latin typeface="Segoe UI"/>
                <a:ea typeface="Segoe UI"/>
                <a:cs typeface="Segoe UI"/>
              </a:defRPr>
            </a:pPr>
            <a:r>
              <a:rPr sz="1500" b="1">
                <a:solidFill>
                  <a:srgbClr val="526777"/>
                </a:solidFill>
                <a:latin typeface="Segoe UI"/>
                <a:ea typeface="Segoe UI"/>
                <a:cs typeface="Segoe UI"/>
              </a:rPr>
              <a:t>≈1.04</a:t>
            </a:r>
          </a:p>
        </p:txBody>
      </p:sp>
      <p:sp>
        <p:nvSpPr>
          <p:cNvPr id="17" name="">
            <a:extLst xmlns:a="http://schemas.openxmlformats.org/drawingml/2006/main">
              <a:ext uri="{FF2B5EF4-FFF2-40B4-BE49-F238E27FC236}">
                <a16:creationId xmlns:a16="http://schemas.microsoft.com/office/drawing/2014/main" id="{1BB39B46-6559-40C2-AE29-5C9B4BA44346}"/>
              </a:ext>
            </a:extLst>
          </p:cNvPr>
          <p:cNvSpPr>
            <a:spLocks xmlns:a="http://schemas.openxmlformats.org/drawingml/2006/main" noGrp="1"/>
          </p:cNvSpPr>
          <p:nvPr/>
        </p:nvSpPr>
        <p:spPr>
          <a:xfrm xmlns:a="http://schemas.openxmlformats.org/drawingml/2006/main">
            <a:off x="7848600" y="2952750"/>
            <a:ext cx="1943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526777"/>
                </a:solidFill>
                <a:latin typeface="Segoe UI"/>
                <a:ea typeface="Segoe UI"/>
                <a:cs typeface="Segoe UI"/>
              </a:defRPr>
            </a:pPr>
            <a:r>
              <a:rPr sz="1650" b="1">
                <a:solidFill>
                  <a:srgbClr val="526777"/>
                </a:solidFill>
                <a:latin typeface="Segoe UI"/>
                <a:ea typeface="Segoe UI"/>
                <a:cs typeface="Segoe UI"/>
              </a:rPr>
              <a:t>Attacker-trained</a:t>
            </a:r>
          </a:p>
          <a:p xmlns:a="http://schemas.openxmlformats.org/drawingml/2006/main">
            <a:pPr algn="ctr">
              <a:lnSpc>
                <a:spcPct val="100000"/>
              </a:lnSpc>
              <a:buNone/>
              <a:defRPr sz="1650" b="1">
                <a:solidFill>
                  <a:srgbClr val="526777"/>
                </a:solidFill>
                <a:latin typeface="Segoe UI"/>
                <a:ea typeface="Segoe UI"/>
                <a:cs typeface="Segoe UI"/>
              </a:defRPr>
            </a:pPr>
            <a:r>
              <a:rPr sz="1650" b="1">
                <a:solidFill>
                  <a:srgbClr val="526777"/>
                </a:solidFill>
                <a:latin typeface="Segoe UI"/>
                <a:ea typeface="Segoe UI"/>
                <a:cs typeface="Segoe UI"/>
              </a:rPr>
              <a:t>model component</a:t>
            </a:r>
          </a:p>
        </p:txBody>
      </p:sp>
      <p:sp>
        <p:nvSpPr>
          <p:cNvPr id="18" name="">
            <a:extLst xmlns:a="http://schemas.openxmlformats.org/drawingml/2006/main">
              <a:ext uri="{FF2B5EF4-FFF2-40B4-BE49-F238E27FC236}">
                <a16:creationId xmlns:a16="http://schemas.microsoft.com/office/drawing/2014/main" id="{3D70FF11-FA1C-4C9F-B0A0-D3295B4DEB66}"/>
              </a:ext>
            </a:extLst>
          </p:cNvPr>
          <p:cNvSpPr>
            <a:spLocks xmlns:a="http://schemas.openxmlformats.org/drawingml/2006/main" noGrp="1"/>
          </p:cNvSpPr>
          <p:nvPr/>
        </p:nvSpPr>
        <p:spPr>
          <a:xfrm xmlns:a="http://schemas.openxmlformats.org/drawingml/2006/main">
            <a:off x="838200" y="4457700"/>
            <a:ext cx="514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00" b="1">
                <a:solidFill>
                  <a:srgbClr val="102A43"/>
                </a:solidFill>
                <a:latin typeface="Segoe UI"/>
                <a:ea typeface="Segoe UI"/>
                <a:cs typeface="Segoe UI"/>
              </a:defRPr>
            </a:pPr>
            <a:r>
              <a:rPr sz="1800" b="1">
                <a:solidFill>
                  <a:srgbClr val="102A43"/>
                </a:solidFill>
                <a:latin typeface="Segoe UI"/>
                <a:ea typeface="Segoe UI"/>
                <a:cs typeface="Segoe UI"/>
              </a:rPr>
              <a:t>Victim × attack-target interaction</a:t>
            </a:r>
          </a:p>
          <a:p xmlns:a="http://schemas.openxmlformats.org/drawingml/2006/main">
            <a:pPr algn="ctr">
              <a:lnSpc>
                <a:spcPct val="100000"/>
              </a:lnSpc>
              <a:buNone/>
              <a:defRPr sz="1800" b="1">
                <a:solidFill>
                  <a:srgbClr val="102A43"/>
                </a:solidFill>
                <a:latin typeface="Segoe UI"/>
                <a:ea typeface="Segoe UI"/>
                <a:cs typeface="Segoe UI"/>
              </a:defRPr>
            </a:pPr>
            <a:r>
              <a:rPr sz="1800" b="1">
                <a:solidFill>
                  <a:srgbClr val="102A43"/>
                </a:solidFill>
                <a:latin typeface="Segoe UI"/>
                <a:ea typeface="Segoe UI"/>
                <a:cs typeface="Segoe UI"/>
              </a:rPr>
              <a:t>IRR 1.10–1.16, significant with two-way clustering</a:t>
            </a:r>
          </a:p>
        </p:txBody>
      </p:sp>
      <p:sp>
        <p:nvSpPr>
          <p:cNvPr id="19" name="">
            <a:extLst xmlns:a="http://schemas.openxmlformats.org/drawingml/2006/main">
              <a:ext uri="{FF2B5EF4-FFF2-40B4-BE49-F238E27FC236}">
                <a16:creationId xmlns:a16="http://schemas.microsoft.com/office/drawing/2014/main" id="{288879C4-CDC8-4E2A-AEAF-A3412BB54EA7}"/>
              </a:ext>
            </a:extLst>
          </p:cNvPr>
          <p:cNvSpPr>
            <a:spLocks xmlns:a="http://schemas.openxmlformats.org/drawingml/2006/main" noGrp="1"/>
          </p:cNvSpPr>
          <p:nvPr/>
        </p:nvSpPr>
        <p:spPr>
          <a:xfrm xmlns:a="http://schemas.openxmlformats.org/drawingml/2006/main">
            <a:off x="6153150" y="4514850"/>
            <a:ext cx="0" cy="76200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20" name="">
            <a:extLst xmlns:a="http://schemas.openxmlformats.org/drawingml/2006/main">
              <a:ext uri="{FF2B5EF4-FFF2-40B4-BE49-F238E27FC236}">
                <a16:creationId xmlns:a16="http://schemas.microsoft.com/office/drawing/2014/main" id="{095CABAD-43F6-45F4-9E70-CEFF342A37C5}"/>
              </a:ext>
            </a:extLst>
          </p:cNvPr>
          <p:cNvSpPr>
            <a:spLocks xmlns:a="http://schemas.openxmlformats.org/drawingml/2006/main" noGrp="1"/>
          </p:cNvSpPr>
          <p:nvPr/>
        </p:nvSpPr>
        <p:spPr>
          <a:xfrm xmlns:a="http://schemas.openxmlformats.org/drawingml/2006/main">
            <a:off x="6419850" y="44577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00" b="1">
                <a:solidFill>
                  <a:srgbClr val="2A9D6F"/>
                </a:solidFill>
                <a:latin typeface="Segoe UI"/>
                <a:ea typeface="Segoe UI"/>
                <a:cs typeface="Segoe UI"/>
              </a:defRPr>
            </a:pPr>
            <a:r>
              <a:rPr sz="1800" b="1">
                <a:solidFill>
                  <a:srgbClr val="2A9D6F"/>
                </a:solidFill>
                <a:latin typeface="Segoe UI"/>
                <a:ea typeface="Segoe UI"/>
                <a:cs typeface="Segoe UI"/>
              </a:rPr>
              <a:t>Combined effect remains protective</a:t>
            </a:r>
          </a:p>
          <a:p xmlns:a="http://schemas.openxmlformats.org/drawingml/2006/main">
            <a:pPr algn="ctr">
              <a:lnSpc>
                <a:spcPct val="100000"/>
              </a:lnSpc>
              <a:buNone/>
              <a:defRPr sz="1800" b="1">
                <a:solidFill>
                  <a:srgbClr val="2A9D6F"/>
                </a:solidFill>
                <a:latin typeface="Segoe UI"/>
                <a:ea typeface="Segoe UI"/>
                <a:cs typeface="Segoe UI"/>
              </a:defRPr>
            </a:pPr>
            <a:r>
              <a:rPr sz="1800" b="1">
                <a:solidFill>
                  <a:srgbClr val="2A9D6F"/>
                </a:solidFill>
                <a:latin typeface="Segoe UI"/>
                <a:ea typeface="Segoe UI"/>
                <a:cs typeface="Segoe UI"/>
              </a:rPr>
              <a:t>IRR 0.63–0.69</a:t>
            </a:r>
          </a:p>
        </p:txBody>
      </p:sp>
      <p:sp>
        <p:nvSpPr>
          <p:cNvPr id="21" name="">
            <a:extLst xmlns:a="http://schemas.openxmlformats.org/drawingml/2006/main">
              <a:ext uri="{FF2B5EF4-FFF2-40B4-BE49-F238E27FC236}">
                <a16:creationId xmlns:a16="http://schemas.microsoft.com/office/drawing/2014/main" id="{7E5EC3FF-4E4C-4E7C-A23D-AFDFD865DE3B}"/>
              </a:ext>
            </a:extLst>
          </p:cNvPr>
          <p:cNvSpPr>
            <a:spLocks xmlns:a="http://schemas.openxmlformats.org/drawingml/2006/main" noGrp="1"/>
          </p:cNvSpPr>
          <p:nvPr/>
        </p:nvSpPr>
        <p:spPr>
          <a:xfrm xmlns:a="http://schemas.openxmlformats.org/drawingml/2006/main">
            <a:off x="1238250" y="5676900"/>
            <a:ext cx="9715500" cy="4572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85A28F4-2DB6-4B54-A063-89771A5B73E0}"/>
              </a:ext>
            </a:extLst>
          </p:cNvPr>
          <p:cNvSpPr>
            <a:spLocks xmlns:a="http://schemas.openxmlformats.org/drawingml/2006/main" noGrp="1"/>
          </p:cNvSpPr>
          <p:nvPr/>
        </p:nvSpPr>
        <p:spPr>
          <a:xfrm xmlns:a="http://schemas.openxmlformats.org/drawingml/2006/main">
            <a:off x="1409700" y="5781675"/>
            <a:ext cx="937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FFFFFF"/>
                </a:solidFill>
                <a:latin typeface="Segoe UI"/>
                <a:ea typeface="Segoe UI"/>
                <a:cs typeface="Segoe UI"/>
              </a:defRPr>
            </a:pPr>
            <a:r>
              <a:rPr sz="1575" b="1">
                <a:solidFill>
                  <a:srgbClr val="FFFFFF"/>
                </a:solidFill>
                <a:latin typeface="Segoe UI"/>
                <a:ea typeface="Segoe UI"/>
                <a:cs typeface="Segoe UI"/>
              </a:rPr>
              <a:t>Strategy pairing mattered, but it did not erase the victim’s anonymization advantage</a:t>
            </a:r>
          </a:p>
        </p:txBody>
      </p:sp>
      <p:sp>
        <p:nvSpPr>
          <p:cNvPr id="23" name="">
            <a:extLst xmlns:a="http://schemas.openxmlformats.org/drawingml/2006/main">
              <a:ext uri="{FF2B5EF4-FFF2-40B4-BE49-F238E27FC236}">
                <a16:creationId xmlns:a16="http://schemas.microsoft.com/office/drawing/2014/main" id="{024B5FB3-0C09-4467-B3FB-507EB8B58A3B}"/>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Patterns Without Source, PSD 2026</a:t>
            </a:r>
          </a:p>
        </p:txBody>
      </p:sp>
    </p:spTree>
    <p:extLst>
      <p:ext uri="{BB962C8B-B14F-4D97-AF65-F5344CB8AC3E}">
        <p14:creationId xmlns:p14="http://schemas.microsoft.com/office/powerpoint/2010/main" val="540732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80F7A44-8986-4C72-B8ED-8A451F81890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5E818F-918E-46C4-9C84-7506E2860CC0}"/>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What the evidence supports</a:t>
            </a:r>
          </a:p>
        </p:txBody>
      </p:sp>
      <p:sp>
        <p:nvSpPr>
          <p:cNvPr id="3" name="">
            <a:extLst xmlns:a="http://schemas.openxmlformats.org/drawingml/2006/main">
              <a:ext uri="{FF2B5EF4-FFF2-40B4-BE49-F238E27FC236}">
                <a16:creationId xmlns:a16="http://schemas.microsoft.com/office/drawing/2014/main" id="{234DEC9E-DC7E-45D0-BF4D-54F2BF3477D0}"/>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1C8C8C"/>
                </a:solidFill>
                <a:latin typeface="Segoe UI"/>
                <a:ea typeface="Segoe UI"/>
                <a:cs typeface="Segoe UI"/>
              </a:defRPr>
            </a:pPr>
            <a:r>
              <a:rPr sz="1275" b="1">
                <a:solidFill>
                  <a:srgbClr val="1C8C8C"/>
                </a:solidFill>
                <a:latin typeface="Segoe UI"/>
                <a:ea typeface="Segoe UI"/>
                <a:cs typeface="Segoe UI"/>
              </a:rPr>
              <a:t>08</a:t>
            </a:r>
          </a:p>
        </p:txBody>
      </p:sp>
      <p:sp>
        <p:nvSpPr>
          <p:cNvPr id="4" name="">
            <a:extLst xmlns:a="http://schemas.openxmlformats.org/drawingml/2006/main">
              <a:ext uri="{FF2B5EF4-FFF2-40B4-BE49-F238E27FC236}">
                <a16:creationId xmlns:a16="http://schemas.microsoft.com/office/drawing/2014/main" id="{01D94CC7-498F-4570-AFFA-CB6D48910123}"/>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5" name="">
            <a:extLst xmlns:a="http://schemas.openxmlformats.org/drawingml/2006/main">
              <a:ext uri="{FF2B5EF4-FFF2-40B4-BE49-F238E27FC236}">
                <a16:creationId xmlns:a16="http://schemas.microsoft.com/office/drawing/2014/main" id="{A93B604E-338F-4237-B2B0-9EA53FCB28F4}"/>
              </a:ext>
            </a:extLst>
          </p:cNvPr>
          <p:cNvSpPr>
            <a:spLocks xmlns:a="http://schemas.openxmlformats.org/drawingml/2006/main" noGrp="1"/>
          </p:cNvSpPr>
          <p:nvPr/>
        </p:nvSpPr>
        <p:spPr>
          <a:xfrm xmlns:a="http://schemas.openxmlformats.org/drawingml/2006/main">
            <a:off x="704850" y="12954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2A9D6F"/>
                </a:solidFill>
                <a:latin typeface="Segoe UI"/>
                <a:ea typeface="Segoe UI"/>
                <a:cs typeface="Segoe UI"/>
              </a:defRPr>
            </a:pPr>
            <a:r>
              <a:rPr sz="2100" b="1">
                <a:solidFill>
                  <a:srgbClr val="2A9D6F"/>
                </a:solidFill>
                <a:latin typeface="Segoe UI"/>
                <a:ea typeface="Segoe UI"/>
                <a:cs typeface="Segoe UI"/>
              </a:rPr>
              <a:t>Supported in this contest</a:t>
            </a:r>
          </a:p>
        </p:txBody>
      </p:sp>
      <p:sp>
        <p:nvSpPr>
          <p:cNvPr id="6" name="">
            <a:extLst xmlns:a="http://schemas.openxmlformats.org/drawingml/2006/main">
              <a:ext uri="{FF2B5EF4-FFF2-40B4-BE49-F238E27FC236}">
                <a16:creationId xmlns:a16="http://schemas.microsoft.com/office/drawing/2014/main" id="{9460CB8E-4637-48DE-B9CD-F1FE2B02C1C6}"/>
              </a:ext>
            </a:extLst>
          </p:cNvPr>
          <p:cNvSpPr>
            <a:spLocks xmlns:a="http://schemas.openxmlformats.org/drawingml/2006/main" noGrp="1"/>
          </p:cNvSpPr>
          <p:nvPr/>
        </p:nvSpPr>
        <p:spPr>
          <a:xfrm xmlns:a="http://schemas.openxmlformats.org/drawingml/2006/main">
            <a:off x="704850" y="1885950"/>
            <a:ext cx="4857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Generation or reconstruction was associated with higher utility and anonymization.</a:t>
            </a:r>
          </a:p>
          <a:p xmlns:a="http://schemas.openxmlformats.org/drawingml/2006/main">
            <a:r>
              <a:t/>
            </a:r>
          </a:p>
          <a:p xmlns:a="http://schemas.openxmlformats.org/drawingml/2006/main">
            <a:pPr algn="l">
              <a:lnSpc>
                <a:spcPct val="108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Strong victim-side anonymization reduced exposure across attack channels.</a:t>
            </a:r>
          </a:p>
        </p:txBody>
      </p:sp>
      <p:sp>
        <p:nvSpPr>
          <p:cNvPr id="7" name="">
            <a:extLst xmlns:a="http://schemas.openxmlformats.org/drawingml/2006/main">
              <a:ext uri="{FF2B5EF4-FFF2-40B4-BE49-F238E27FC236}">
                <a16:creationId xmlns:a16="http://schemas.microsoft.com/office/drawing/2014/main" id="{D087D977-79E2-400D-8B7C-AF092964EBFC}"/>
              </a:ext>
            </a:extLst>
          </p:cNvPr>
          <p:cNvSpPr>
            <a:spLocks xmlns:a="http://schemas.openxmlformats.org/drawingml/2006/main" noGrp="1"/>
          </p:cNvSpPr>
          <p:nvPr/>
        </p:nvSpPr>
        <p:spPr>
          <a:xfrm xmlns:a="http://schemas.openxmlformats.org/drawingml/2006/main">
            <a:off x="5962650" y="1257300"/>
            <a:ext cx="0" cy="238125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8" name="">
            <a:extLst xmlns:a="http://schemas.openxmlformats.org/drawingml/2006/main">
              <a:ext uri="{FF2B5EF4-FFF2-40B4-BE49-F238E27FC236}">
                <a16:creationId xmlns:a16="http://schemas.microsoft.com/office/drawing/2014/main" id="{F0CD89BC-DF9F-4300-A520-24EFDD97717E}"/>
              </a:ext>
            </a:extLst>
          </p:cNvPr>
          <p:cNvSpPr>
            <a:spLocks xmlns:a="http://schemas.openxmlformats.org/drawingml/2006/main" noGrp="1"/>
          </p:cNvSpPr>
          <p:nvPr/>
        </p:nvSpPr>
        <p:spPr>
          <a:xfrm xmlns:a="http://schemas.openxmlformats.org/drawingml/2006/main">
            <a:off x="6477000" y="12954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E76F51"/>
                </a:solidFill>
                <a:latin typeface="Segoe UI"/>
                <a:ea typeface="Segoe UI"/>
                <a:cs typeface="Segoe UI"/>
              </a:defRPr>
            </a:pPr>
            <a:r>
              <a:rPr sz="2100" b="1">
                <a:solidFill>
                  <a:srgbClr val="E76F51"/>
                </a:solidFill>
                <a:latin typeface="Segoe UI"/>
                <a:ea typeface="Segoe UI"/>
                <a:cs typeface="Segoe UI"/>
              </a:rPr>
              <a:t>Not established</a:t>
            </a:r>
          </a:p>
        </p:txBody>
      </p:sp>
      <p:sp>
        <p:nvSpPr>
          <p:cNvPr id="9" name="">
            <a:extLst xmlns:a="http://schemas.openxmlformats.org/drawingml/2006/main">
              <a:ext uri="{FF2B5EF4-FFF2-40B4-BE49-F238E27FC236}">
                <a16:creationId xmlns:a16="http://schemas.microsoft.com/office/drawing/2014/main" id="{9630749B-C509-47AE-A7A2-2D28284D86A8}"/>
              </a:ext>
            </a:extLst>
          </p:cNvPr>
          <p:cNvSpPr>
            <a:spLocks xmlns:a="http://schemas.openxmlformats.org/drawingml/2006/main" noGrp="1"/>
          </p:cNvSpPr>
          <p:nvPr/>
        </p:nvSpPr>
        <p:spPr>
          <a:xfrm xmlns:a="http://schemas.openxmlformats.org/drawingml/2006/main">
            <a:off x="6477000" y="1885950"/>
            <a:ext cx="4857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Causality, out-of-sample prediction, or a universal ranking of anonymization methods.</a:t>
            </a:r>
          </a:p>
          <a:p xmlns:a="http://schemas.openxmlformats.org/drawingml/2006/main">
            <a:r>
              <a:t/>
            </a:r>
          </a:p>
          <a:p xmlns:a="http://schemas.openxmlformats.org/drawingml/2006/main">
            <a:pPr algn="l">
              <a:lnSpc>
                <a:spcPct val="108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The features came from presentations, and only 20 teams were analyzable.</a:t>
            </a:r>
          </a:p>
        </p:txBody>
      </p:sp>
      <p:sp>
        <p:nvSpPr>
          <p:cNvPr id="10" name="">
            <a:extLst xmlns:a="http://schemas.openxmlformats.org/drawingml/2006/main">
              <a:ext uri="{FF2B5EF4-FFF2-40B4-BE49-F238E27FC236}">
                <a16:creationId xmlns:a16="http://schemas.microsoft.com/office/drawing/2014/main" id="{7B517AFB-C80A-48AD-8A98-E5043E00CC71}"/>
              </a:ext>
            </a:extLst>
          </p:cNvPr>
          <p:cNvSpPr>
            <a:spLocks xmlns:a="http://schemas.openxmlformats.org/drawingml/2006/main" noGrp="1"/>
          </p:cNvSpPr>
          <p:nvPr/>
        </p:nvSpPr>
        <p:spPr>
          <a:xfrm xmlns:a="http://schemas.openxmlformats.org/drawingml/2006/main">
            <a:off x="685800" y="4000500"/>
            <a:ext cx="10706100" cy="1600200"/>
          </a:xfrm>
          <a:prstGeom xmlns:a="http://schemas.openxmlformats.org/drawingml/2006/main" prst="roundRect">
            <a:avLst>
              <a:gd name="adj" fmla="val 10714"/>
            </a:avLst>
          </a:prstGeom>
          <a:solidFill xmlns:a="http://schemas.openxmlformats.org/drawingml/2006/main">
            <a:srgbClr val="F5F7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E959C8-34C1-45E6-B43C-FA67EA7D07C0}"/>
              </a:ext>
            </a:extLst>
          </p:cNvPr>
          <p:cNvSpPr>
            <a:spLocks xmlns:a="http://schemas.openxmlformats.org/drawingml/2006/main" noGrp="1"/>
          </p:cNvSpPr>
          <p:nvPr/>
        </p:nvSpPr>
        <p:spPr>
          <a:xfrm xmlns:a="http://schemas.openxmlformats.org/drawingml/2006/main">
            <a:off x="952500" y="42291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02A43"/>
                </a:solidFill>
                <a:latin typeface="Segoe UI"/>
                <a:ea typeface="Segoe UI"/>
                <a:cs typeface="Segoe UI"/>
              </a:defRPr>
            </a:pPr>
            <a:r>
              <a:rPr sz="1875" b="1">
                <a:solidFill>
                  <a:srgbClr val="102A43"/>
                </a:solidFill>
                <a:latin typeface="Segoe UI"/>
                <a:ea typeface="Segoe UI"/>
                <a:cs typeface="Segoe UI"/>
              </a:rPr>
              <a:t>Future competition design</a:t>
            </a:r>
          </a:p>
        </p:txBody>
      </p:sp>
      <p:sp>
        <p:nvSpPr>
          <p:cNvPr id="12" name="">
            <a:extLst xmlns:a="http://schemas.openxmlformats.org/drawingml/2006/main">
              <a:ext uri="{FF2B5EF4-FFF2-40B4-BE49-F238E27FC236}">
                <a16:creationId xmlns:a16="http://schemas.microsoft.com/office/drawing/2014/main" id="{4331D034-183A-4A4C-A562-61848C27CC51}"/>
              </a:ext>
            </a:extLst>
          </p:cNvPr>
          <p:cNvSpPr>
            <a:spLocks xmlns:a="http://schemas.openxmlformats.org/drawingml/2006/main" noGrp="1"/>
          </p:cNvSpPr>
          <p:nvPr/>
        </p:nvSpPr>
        <p:spPr>
          <a:xfrm xmlns:a="http://schemas.openxmlformats.org/drawingml/2006/main">
            <a:off x="3962400" y="4200525"/>
            <a:ext cx="21145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Structured strategy sheet</a:t>
            </a:r>
          </a:p>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submitted with results</a:t>
            </a:r>
          </a:p>
        </p:txBody>
      </p:sp>
      <p:sp>
        <p:nvSpPr>
          <p:cNvPr id="13" name="">
            <a:extLst xmlns:a="http://schemas.openxmlformats.org/drawingml/2006/main">
              <a:ext uri="{FF2B5EF4-FFF2-40B4-BE49-F238E27FC236}">
                <a16:creationId xmlns:a16="http://schemas.microsoft.com/office/drawing/2014/main" id="{02DC8890-7F19-45F3-BB43-AEC4842E9E79}"/>
              </a:ext>
            </a:extLst>
          </p:cNvPr>
          <p:cNvSpPr>
            <a:spLocks xmlns:a="http://schemas.openxmlformats.org/drawingml/2006/main" noGrp="1"/>
          </p:cNvSpPr>
          <p:nvPr/>
        </p:nvSpPr>
        <p:spPr>
          <a:xfrm xmlns:a="http://schemas.openxmlformats.org/drawingml/2006/main">
            <a:off x="6305550" y="4248150"/>
            <a:ext cx="0" cy="95250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14" name="">
            <a:extLst xmlns:a="http://schemas.openxmlformats.org/drawingml/2006/main">
              <a:ext uri="{FF2B5EF4-FFF2-40B4-BE49-F238E27FC236}">
                <a16:creationId xmlns:a16="http://schemas.microsoft.com/office/drawing/2014/main" id="{1A2B0F94-217E-41C7-83AE-9B5B8E0E83B5}"/>
              </a:ext>
            </a:extLst>
          </p:cNvPr>
          <p:cNvSpPr>
            <a:spLocks xmlns:a="http://schemas.openxmlformats.org/drawingml/2006/main" noGrp="1"/>
          </p:cNvSpPr>
          <p:nvPr/>
        </p:nvSpPr>
        <p:spPr>
          <a:xfrm xmlns:a="http://schemas.openxmlformats.org/drawingml/2006/main">
            <a:off x="6572250" y="4200525"/>
            <a:ext cx="2095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Evidence source recorded</a:t>
            </a:r>
          </a:p>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for each coded choice</a:t>
            </a:r>
          </a:p>
        </p:txBody>
      </p:sp>
      <p:sp>
        <p:nvSpPr>
          <p:cNvPr id="15" name="">
            <a:extLst xmlns:a="http://schemas.openxmlformats.org/drawingml/2006/main">
              <a:ext uri="{FF2B5EF4-FFF2-40B4-BE49-F238E27FC236}">
                <a16:creationId xmlns:a16="http://schemas.microsoft.com/office/drawing/2014/main" id="{0605B02D-88A8-47FA-96F2-796CFB6D6C7B}"/>
              </a:ext>
            </a:extLst>
          </p:cNvPr>
          <p:cNvSpPr>
            <a:spLocks xmlns:a="http://schemas.openxmlformats.org/drawingml/2006/main" noGrp="1"/>
          </p:cNvSpPr>
          <p:nvPr/>
        </p:nvSpPr>
        <p:spPr>
          <a:xfrm xmlns:a="http://schemas.openxmlformats.org/drawingml/2006/main">
            <a:off x="8896350" y="4248150"/>
            <a:ext cx="0" cy="95250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16" name="">
            <a:extLst xmlns:a="http://schemas.openxmlformats.org/drawingml/2006/main">
              <a:ext uri="{FF2B5EF4-FFF2-40B4-BE49-F238E27FC236}">
                <a16:creationId xmlns:a16="http://schemas.microsoft.com/office/drawing/2014/main" id="{20D0735D-8CCE-4D12-8519-298CF4D71E60}"/>
              </a:ext>
            </a:extLst>
          </p:cNvPr>
          <p:cNvSpPr>
            <a:spLocks xmlns:a="http://schemas.openxmlformats.org/drawingml/2006/main" noGrp="1"/>
          </p:cNvSpPr>
          <p:nvPr/>
        </p:nvSpPr>
        <p:spPr>
          <a:xfrm xmlns:a="http://schemas.openxmlformats.org/drawingml/2006/main">
            <a:off x="9144000" y="4200525"/>
            <a:ext cx="198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Accumulate the same</a:t>
            </a:r>
          </a:p>
          <a:p xmlns:a="http://schemas.openxmlformats.org/drawingml/2006/main">
            <a:pPr algn="ctr">
              <a:lnSpc>
                <a:spcPct val="100000"/>
              </a:lnSpc>
              <a:buNone/>
              <a:defRPr sz="1650" b="1">
                <a:solidFill>
                  <a:srgbClr val="1C8C8C"/>
                </a:solidFill>
                <a:latin typeface="Segoe UI"/>
                <a:ea typeface="Segoe UI"/>
                <a:cs typeface="Segoe UI"/>
              </a:defRPr>
            </a:pPr>
            <a:r>
              <a:rPr sz="1650" b="1">
                <a:solidFill>
                  <a:srgbClr val="1C8C8C"/>
                </a:solidFill>
                <a:latin typeface="Segoe UI"/>
                <a:ea typeface="Segoe UI"/>
                <a:cs typeface="Segoe UI"/>
              </a:rPr>
              <a:t>features across years</a:t>
            </a:r>
          </a:p>
        </p:txBody>
      </p:sp>
      <p:sp>
        <p:nvSpPr>
          <p:cNvPr id="17" name="">
            <a:extLst xmlns:a="http://schemas.openxmlformats.org/drawingml/2006/main">
              <a:ext uri="{FF2B5EF4-FFF2-40B4-BE49-F238E27FC236}">
                <a16:creationId xmlns:a16="http://schemas.microsoft.com/office/drawing/2014/main" id="{365763D3-E24E-4585-8518-5F51584CF1EA}"/>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Patterns Without Source, PSD 2026</a:t>
            </a:r>
          </a:p>
        </p:txBody>
      </p:sp>
    </p:spTree>
    <p:extLst>
      <p:ext uri="{BB962C8B-B14F-4D97-AF65-F5344CB8AC3E}">
        <p14:creationId xmlns:p14="http://schemas.microsoft.com/office/powerpoint/2010/main" val="767034014"/>
      </p:ext>
    </p:extLst>
  </p:cSld>
</p:sld>
</file>

<file path=ppt/slides/slide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83268F-8D8C-48B8-8C39-605B732F305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C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29E4D6-3032-4F97-90D8-11A31756E573}"/>
              </a:ext>
            </a:extLst>
          </p:cNvPr>
          <p:cNvSpPr>
            <a:spLocks xmlns:a="http://schemas.openxmlformats.org/drawingml/2006/main" noGrp="1"/>
          </p:cNvSpPr>
          <p:nvPr/>
        </p:nvSpPr>
        <p:spPr>
          <a:xfrm xmlns:a="http://schemas.openxmlformats.org/drawingml/2006/main">
            <a:off x="723900" y="53340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5D2"/>
                </a:solidFill>
                <a:latin typeface="Segoe UI"/>
                <a:ea typeface="Segoe UI"/>
                <a:cs typeface="Segoe UI"/>
              </a:defRPr>
            </a:pPr>
            <a:r>
              <a:rPr sz="1350" b="1">
                <a:solidFill>
                  <a:srgbClr val="79D5D2"/>
                </a:solidFill>
                <a:latin typeface="Segoe UI"/>
                <a:ea typeface="Segoe UI"/>
                <a:cs typeface="Segoe UI"/>
              </a:rPr>
              <a:t>TAKE-HOME</a:t>
            </a:r>
          </a:p>
        </p:txBody>
      </p:sp>
      <p:sp>
        <p:nvSpPr>
          <p:cNvPr id="3" name="">
            <a:extLst xmlns:a="http://schemas.openxmlformats.org/drawingml/2006/main">
              <a:ext uri="{FF2B5EF4-FFF2-40B4-BE49-F238E27FC236}">
                <a16:creationId xmlns:a16="http://schemas.microsoft.com/office/drawing/2014/main" id="{AFDA1556-D2DA-4D6E-B798-84A38EBE1F1F}"/>
              </a:ext>
            </a:extLst>
          </p:cNvPr>
          <p:cNvSpPr>
            <a:spLocks xmlns:a="http://schemas.openxmlformats.org/drawingml/2006/main" noGrp="1"/>
          </p:cNvSpPr>
          <p:nvPr/>
        </p:nvSpPr>
        <p:spPr>
          <a:xfrm xmlns:a="http://schemas.openxmlformats.org/drawingml/2006/main">
            <a:off x="723900" y="1200150"/>
            <a:ext cx="1038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Segoe UI"/>
                <a:ea typeface="Segoe UI"/>
                <a:cs typeface="Segoe UI"/>
              </a:defRPr>
            </a:pPr>
            <a:r>
              <a:rPr sz="3000" b="1">
                <a:solidFill>
                  <a:srgbClr val="FFFFFF"/>
                </a:solidFill>
                <a:latin typeface="Segoe UI"/>
                <a:ea typeface="Segoe UI"/>
                <a:cs typeface="Segoe UI"/>
              </a:rPr>
              <a:t>Competition outcomes can teach us more when strategies become data</a:t>
            </a:r>
          </a:p>
        </p:txBody>
      </p:sp>
      <p:sp>
        <p:nvSpPr>
          <p:cNvPr id="4" name="">
            <a:extLst xmlns:a="http://schemas.openxmlformats.org/drawingml/2006/main">
              <a:ext uri="{FF2B5EF4-FFF2-40B4-BE49-F238E27FC236}">
                <a16:creationId xmlns:a16="http://schemas.microsoft.com/office/drawing/2014/main" id="{2934C951-7CC9-406B-A082-738155375CEE}"/>
              </a:ext>
            </a:extLst>
          </p:cNvPr>
          <p:cNvSpPr>
            <a:spLocks xmlns:a="http://schemas.openxmlformats.org/drawingml/2006/main" noGrp="1"/>
          </p:cNvSpPr>
          <p:nvPr/>
        </p:nvSpPr>
        <p:spPr>
          <a:xfrm xmlns:a="http://schemas.openxmlformats.org/drawingml/2006/main">
            <a:off x="723900" y="2247900"/>
            <a:ext cx="10668000" cy="0"/>
          </a:xfrm>
          <a:prstGeom xmlns:a="http://schemas.openxmlformats.org/drawingml/2006/main" prst="line">
            <a:avLst/>
          </a:prstGeom>
          <a:noFill xmlns:a="http://schemas.openxmlformats.org/drawingml/2006/main"/>
          <a:ln xmlns:a="http://schemas.openxmlformats.org/drawingml/2006/main" w="9525">
            <a:solidFill>
              <a:srgbClr val="40627B"/>
            </a:solidFill>
            <a:prstDash val="solid"/>
          </a:ln>
        </p:spPr>
      </p:sp>
      <p:sp>
        <p:nvSpPr>
          <p:cNvPr id="5" name="">
            <a:extLst xmlns:a="http://schemas.openxmlformats.org/drawingml/2006/main">
              <a:ext uri="{FF2B5EF4-FFF2-40B4-BE49-F238E27FC236}">
                <a16:creationId xmlns:a16="http://schemas.microsoft.com/office/drawing/2014/main" id="{252CF592-3893-4D20-8DA4-4E958F2C7CB1}"/>
              </a:ext>
            </a:extLst>
          </p:cNvPr>
          <p:cNvSpPr>
            <a:spLocks xmlns:a="http://schemas.openxmlformats.org/drawingml/2006/main" noGrp="1"/>
          </p:cNvSpPr>
          <p:nvPr/>
        </p:nvSpPr>
        <p:spPr>
          <a:xfrm xmlns:a="http://schemas.openxmlformats.org/drawingml/2006/main">
            <a:off x="857250" y="2724150"/>
            <a:ext cx="1352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1C8C8C"/>
                </a:solidFill>
                <a:latin typeface="Segoe UI"/>
                <a:ea typeface="Segoe UI"/>
                <a:cs typeface="Segoe UI"/>
              </a:defRPr>
            </a:pPr>
            <a:r>
              <a:rPr sz="2850" b="1">
                <a:solidFill>
                  <a:srgbClr val="1C8C8C"/>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CBA57EE6-60EC-4E2D-BCA4-39582C5BD7C1}"/>
              </a:ext>
            </a:extLst>
          </p:cNvPr>
          <p:cNvSpPr>
            <a:spLocks xmlns:a="http://schemas.openxmlformats.org/drawingml/2006/main" noGrp="1"/>
          </p:cNvSpPr>
          <p:nvPr/>
        </p:nvSpPr>
        <p:spPr>
          <a:xfrm xmlns:a="http://schemas.openxmlformats.org/drawingml/2006/main">
            <a:off x="2209800" y="2686050"/>
            <a:ext cx="847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FFFFF"/>
                </a:solidFill>
                <a:latin typeface="Segoe UI"/>
                <a:ea typeface="Segoe UI"/>
                <a:cs typeface="Segoe UI"/>
              </a:defRPr>
            </a:pPr>
            <a:r>
              <a:rPr sz="2025" b="1">
                <a:solidFill>
                  <a:srgbClr val="FFFFFF"/>
                </a:solidFill>
                <a:latin typeface="Segoe UI"/>
                <a:ea typeface="Segoe UI"/>
                <a:cs typeface="Segoe UI"/>
              </a:rPr>
              <a:t>Reconstructed showcase evidence made 20 hidden strategies analyzable</a:t>
            </a:r>
          </a:p>
        </p:txBody>
      </p:sp>
      <p:sp>
        <p:nvSpPr>
          <p:cNvPr id="7" name="">
            <a:extLst xmlns:a="http://schemas.openxmlformats.org/drawingml/2006/main">
              <a:ext uri="{FF2B5EF4-FFF2-40B4-BE49-F238E27FC236}">
                <a16:creationId xmlns:a16="http://schemas.microsoft.com/office/drawing/2014/main" id="{FBF61552-BC12-4766-9AAE-42707E071DBB}"/>
              </a:ext>
            </a:extLst>
          </p:cNvPr>
          <p:cNvSpPr>
            <a:spLocks xmlns:a="http://schemas.openxmlformats.org/drawingml/2006/main" noGrp="1"/>
          </p:cNvSpPr>
          <p:nvPr/>
        </p:nvSpPr>
        <p:spPr>
          <a:xfrm xmlns:a="http://schemas.openxmlformats.org/drawingml/2006/main">
            <a:off x="857250" y="3771900"/>
            <a:ext cx="1352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E76F51"/>
                </a:solidFill>
                <a:latin typeface="Segoe UI"/>
                <a:ea typeface="Segoe UI"/>
                <a:cs typeface="Segoe UI"/>
              </a:defRPr>
            </a:pPr>
            <a:r>
              <a:rPr sz="2850" b="1">
                <a:solidFill>
                  <a:srgbClr val="E76F51"/>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8CBF1989-F00A-4981-9950-135EF5D55CEB}"/>
              </a:ext>
            </a:extLst>
          </p:cNvPr>
          <p:cNvSpPr>
            <a:spLocks xmlns:a="http://schemas.openxmlformats.org/drawingml/2006/main" noGrp="1"/>
          </p:cNvSpPr>
          <p:nvPr/>
        </p:nvSpPr>
        <p:spPr>
          <a:xfrm xmlns:a="http://schemas.openxmlformats.org/drawingml/2006/main">
            <a:off x="2209800" y="3733800"/>
            <a:ext cx="847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FFFFF"/>
                </a:solidFill>
                <a:latin typeface="Segoe UI"/>
                <a:ea typeface="Segoe UI"/>
                <a:cs typeface="Segoe UI"/>
              </a:defRPr>
            </a:pPr>
            <a:r>
              <a:rPr sz="2025" b="1">
                <a:solidFill>
                  <a:srgbClr val="FFFFFF"/>
                </a:solidFill>
                <a:latin typeface="Segoe UI"/>
                <a:ea typeface="Segoe UI"/>
                <a:cs typeface="Segoe UI"/>
              </a:rPr>
              <a:t>Generation-based designs were associated with better utility and anonymization</a:t>
            </a:r>
          </a:p>
        </p:txBody>
      </p:sp>
      <p:sp>
        <p:nvSpPr>
          <p:cNvPr id="9" name="">
            <a:extLst xmlns:a="http://schemas.openxmlformats.org/drawingml/2006/main">
              <a:ext uri="{FF2B5EF4-FFF2-40B4-BE49-F238E27FC236}">
                <a16:creationId xmlns:a16="http://schemas.microsoft.com/office/drawing/2014/main" id="{148E2F56-A5C1-458C-BFAB-03B1D32A6AF2}"/>
              </a:ext>
            </a:extLst>
          </p:cNvPr>
          <p:cNvSpPr>
            <a:spLocks xmlns:a="http://schemas.openxmlformats.org/drawingml/2006/main" noGrp="1"/>
          </p:cNvSpPr>
          <p:nvPr/>
        </p:nvSpPr>
        <p:spPr>
          <a:xfrm xmlns:a="http://schemas.openxmlformats.org/drawingml/2006/main">
            <a:off x="857250" y="4819650"/>
            <a:ext cx="1352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E9B949"/>
                </a:solidFill>
                <a:latin typeface="Segoe UI"/>
                <a:ea typeface="Segoe UI"/>
                <a:cs typeface="Segoe UI"/>
              </a:defRPr>
            </a:pPr>
            <a:r>
              <a:rPr sz="2850" b="1">
                <a:solidFill>
                  <a:srgbClr val="E9B949"/>
                </a:solidFill>
                <a:latin typeface="Segoe UI"/>
                <a:ea typeface="Segoe UI"/>
                <a:cs typeface="Segoe UI"/>
              </a:rPr>
              <a:t>03</a:t>
            </a:r>
          </a:p>
        </p:txBody>
      </p:sp>
      <p:sp>
        <p:nvSpPr>
          <p:cNvPr id="10" name="">
            <a:extLst xmlns:a="http://schemas.openxmlformats.org/drawingml/2006/main">
              <a:ext uri="{FF2B5EF4-FFF2-40B4-BE49-F238E27FC236}">
                <a16:creationId xmlns:a16="http://schemas.microsoft.com/office/drawing/2014/main" id="{EA33E34C-37AA-4AD8-AF52-7CB709CBC07F}"/>
              </a:ext>
            </a:extLst>
          </p:cNvPr>
          <p:cNvSpPr>
            <a:spLocks xmlns:a="http://schemas.openxmlformats.org/drawingml/2006/main" noGrp="1"/>
          </p:cNvSpPr>
          <p:nvPr/>
        </p:nvSpPr>
        <p:spPr>
          <a:xfrm xmlns:a="http://schemas.openxmlformats.org/drawingml/2006/main">
            <a:off x="2209800" y="4781550"/>
            <a:ext cx="847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FFFFF"/>
                </a:solidFill>
                <a:latin typeface="Segoe UI"/>
                <a:ea typeface="Segoe UI"/>
                <a:cs typeface="Segoe UI"/>
              </a:defRPr>
            </a:pPr>
            <a:r>
              <a:rPr sz="2025" b="1">
                <a:solidFill>
                  <a:srgbClr val="FFFFFF"/>
                </a:solidFill>
                <a:latin typeface="Segoe UI"/>
                <a:ea typeface="Segoe UI"/>
                <a:cs typeface="Segoe UI"/>
              </a:rPr>
              <a:t>Strong anonymization mattered more than the choice of attack channel</a:t>
            </a:r>
          </a:p>
        </p:txBody>
      </p:sp>
      <p:sp>
        <p:nvSpPr>
          <p:cNvPr id="11" name="">
            <a:extLst xmlns:a="http://schemas.openxmlformats.org/drawingml/2006/main">
              <a:ext uri="{FF2B5EF4-FFF2-40B4-BE49-F238E27FC236}">
                <a16:creationId xmlns:a16="http://schemas.microsoft.com/office/drawing/2014/main" id="{1C3ED452-746A-4B82-A6B5-51983095740D}"/>
              </a:ext>
            </a:extLst>
          </p:cNvPr>
          <p:cNvSpPr>
            <a:spLocks xmlns:a="http://schemas.openxmlformats.org/drawingml/2006/main" noGrp="1"/>
          </p:cNvSpPr>
          <p:nvPr/>
        </p:nvSpPr>
        <p:spPr>
          <a:xfrm xmlns:a="http://schemas.openxmlformats.org/drawingml/2006/main">
            <a:off x="723900" y="61912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B8D6E5"/>
                </a:solidFill>
                <a:latin typeface="Segoe UI"/>
                <a:ea typeface="Segoe UI"/>
                <a:cs typeface="Segoe UI"/>
              </a:defRPr>
            </a:pPr>
            <a:r>
              <a:rPr sz="1425" b="0">
                <a:solidFill>
                  <a:srgbClr val="B8D6E5"/>
                </a:solidFill>
                <a:latin typeface="Segoe UI"/>
                <a:ea typeface="Segoe UI"/>
                <a:cs typeface="Segoe UI"/>
              </a:rPr>
              <a:t>Thank you. Questions?</a:t>
            </a:r>
          </a:p>
        </p:txBody>
      </p:sp>
      <p:sp>
        <p:nvSpPr>
          <p:cNvPr id="12" name="">
            <a:extLst xmlns:a="http://schemas.openxmlformats.org/drawingml/2006/main">
              <a:ext uri="{FF2B5EF4-FFF2-40B4-BE49-F238E27FC236}">
                <a16:creationId xmlns:a16="http://schemas.microsoft.com/office/drawing/2014/main" id="{DC873E04-5C51-41D6-BD19-4B8CB08393E8}"/>
              </a:ext>
            </a:extLst>
          </p:cNvPr>
          <p:cNvSpPr>
            <a:spLocks xmlns:a="http://schemas.openxmlformats.org/drawingml/2006/main" noGrp="1"/>
          </p:cNvSpPr>
          <p:nvPr/>
        </p:nvSpPr>
        <p:spPr>
          <a:xfrm xmlns:a="http://schemas.openxmlformats.org/drawingml/2006/main">
            <a:off x="8572500" y="619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B8D6E5"/>
                </a:solidFill>
                <a:latin typeface="Segoe UI"/>
                <a:ea typeface="Segoe UI"/>
                <a:cs typeface="Segoe UI"/>
              </a:defRPr>
            </a:pPr>
            <a:r>
              <a:rPr sz="1050" b="0">
                <a:solidFill>
                  <a:srgbClr val="B8D6E5"/>
                </a:solidFill>
                <a:latin typeface="Segoe UI"/>
                <a:ea typeface="Segoe UI"/>
                <a:cs typeface="Segoe UI"/>
              </a:rPr>
              <a:t>github.com/kiti1924/PWSCUP2025_REVIEW_PUB</a:t>
            </a:r>
          </a:p>
        </p:txBody>
      </p:sp>
    </p:spTree>
    <p:extLst>
      <p:ext uri="{BB962C8B-B14F-4D97-AF65-F5344CB8AC3E}">
        <p14:creationId xmlns:p14="http://schemas.microsoft.com/office/powerpoint/2010/main" val="12096992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E49E07-89F7-43B1-B7F7-5F2BD91BD7C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9B94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A36F8A-201E-4EDF-BD03-1BD853B2674A}"/>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Appendix: Feature codebook and team counts</a:t>
            </a:r>
          </a:p>
        </p:txBody>
      </p:sp>
      <p:sp>
        <p:nvSpPr>
          <p:cNvPr id="3" name="">
            <a:extLst xmlns:a="http://schemas.openxmlformats.org/drawingml/2006/main">
              <a:ext uri="{FF2B5EF4-FFF2-40B4-BE49-F238E27FC236}">
                <a16:creationId xmlns:a16="http://schemas.microsoft.com/office/drawing/2014/main" id="{5E74E444-3A75-4002-8C48-10AC65213716}"/>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E9B949"/>
                </a:solidFill>
                <a:latin typeface="Segoe UI"/>
                <a:ea typeface="Segoe UI"/>
                <a:cs typeface="Segoe UI"/>
              </a:defRPr>
            </a:pPr>
            <a:r>
              <a:rPr sz="1275" b="1">
                <a:solidFill>
                  <a:srgbClr val="E9B949"/>
                </a:solidFill>
                <a:latin typeface="Segoe UI"/>
                <a:ea typeface="Segoe UI"/>
                <a:cs typeface="Segoe UI"/>
              </a:rPr>
              <a:t>10</a:t>
            </a:r>
          </a:p>
        </p:txBody>
      </p:sp>
      <p:sp>
        <p:nvSpPr>
          <p:cNvPr id="4" name="">
            <a:extLst xmlns:a="http://schemas.openxmlformats.org/drawingml/2006/main">
              <a:ext uri="{FF2B5EF4-FFF2-40B4-BE49-F238E27FC236}">
                <a16:creationId xmlns:a16="http://schemas.microsoft.com/office/drawing/2014/main" id="{58A97C97-425D-4958-B601-BACB749BC0A5}"/>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graphicFrame>
        <p:nvGraphicFramePr>
          <p:cNvPr id="11" name=""/>
          <p:cNvGraphicFramePr/>
          <p:nvPr/>
        </p:nvGraphicFramePr>
        <p:xfrm>
          <a:off xmlns:a="http://schemas.openxmlformats.org/drawingml/2006/main" x="857250" y="1352550"/>
          <a:ext xmlns:a="http://schemas.openxmlformats.org/drawingml/2006/main" cx="10477500" cy="4572000"/>
        </p:xfrm>
        <a:graphic xmlns:a="http://schemas.openxmlformats.org/drawingml/2006/main">
          <a:graphicData uri="http://schemas.openxmlformats.org/drawingml/2006/table">
            <a:tbl>
              <a:tblPr/>
              <a:tblGrid>
                <a:gridCol w="2190750"/>
                <a:gridCol w="3143250"/>
                <a:gridCol w="5143500"/>
              </a:tblGrid>
              <a:tr h="457200">
                <a:tc>
                  <a:txBody>
                    <a:bodyPr/>
                    <a:lstStyle/>
                    <a:p>
                      <a:r>
                        <a:rPr sz="1350" b="1">
                          <a:solidFill>
                            <a:srgbClr val="FFFFFF"/>
                          </a:solidFill>
                          <a:latin typeface="Segoe UI"/>
                          <a:ea typeface="Segoe UI"/>
                          <a:cs typeface="Segoe UI"/>
                        </a:rPr>
                        <a:t>Domain</a:t>
                      </a:r>
                    </a:p>
                  </a:txBody>
                  <a:tcPr marL="95250" marR="95250" marT="57150" marB="57150">
                    <a:solidFill>
                      <a:srgbClr val="102A43"/>
                    </a:solidFill>
                  </a:tcPr>
                </a:tc>
                <a:tc>
                  <a:txBody>
                    <a:bodyPr/>
                    <a:lstStyle/>
                    <a:p>
                      <a:r>
                        <a:rPr sz="1350" b="1">
                          <a:solidFill>
                            <a:srgbClr val="FFFFFF"/>
                          </a:solidFill>
                          <a:latin typeface="Segoe UI"/>
                          <a:ea typeface="Segoe UI"/>
                          <a:cs typeface="Segoe UI"/>
                        </a:rPr>
                        <a:t>Feature</a:t>
                      </a:r>
                    </a:p>
                  </a:txBody>
                  <a:tcPr marL="95250" marR="95250" marT="57150" marB="57150">
                    <a:solidFill>
                      <a:srgbClr val="102A43"/>
                    </a:solidFill>
                  </a:tcPr>
                </a:tc>
                <a:tc>
                  <a:txBody>
                    <a:bodyPr/>
                    <a:lstStyle/>
                    <a:p>
                      <a:r>
                        <a:rPr sz="1350" b="1">
                          <a:solidFill>
                            <a:srgbClr val="FFFFFF"/>
                          </a:solidFill>
                          <a:latin typeface="Segoe UI"/>
                          <a:ea typeface="Segoe UI"/>
                          <a:cs typeface="Segoe UI"/>
                        </a:rPr>
                        <a:t>Values and team counts</a:t>
                      </a:r>
                    </a:p>
                  </a:txBody>
                  <a:tcPr marL="95250" marR="95250" marT="57150" marB="57150">
                    <a:solidFill>
                      <a:srgbClr val="102A43"/>
                    </a:solidFill>
                  </a:tcPr>
                </a:tc>
              </a:tr>
              <a:tr h="457200">
                <a:tc>
                  <a:txBody>
                    <a:bodyPr/>
                    <a:lstStyle/>
                    <a:p>
                      <a:r>
                        <a:rPr sz="1275">
                          <a:solidFill>
                            <a:srgbClr val="172B3A"/>
                          </a:solidFill>
                          <a:latin typeface="Segoe UI"/>
                          <a:ea typeface="Segoe UI"/>
                          <a:cs typeface="Segoe UI"/>
                        </a:rPr>
                        <a:t>Anonymization</a:t>
                      </a:r>
                    </a:p>
                  </a:txBody>
                  <a:tcPr marL="95250" marR="95250" marT="47625" marB="47625">
                    <a:solidFill>
                      <a:srgbClr val="F5F7F8"/>
                    </a:solidFill>
                  </a:tcPr>
                </a:tc>
                <a:tc>
                  <a:txBody>
                    <a:bodyPr/>
                    <a:lstStyle/>
                    <a:p>
                      <a:r>
                        <a:rPr sz="1275">
                          <a:solidFill>
                            <a:srgbClr val="172B3A"/>
                          </a:solidFill>
                          <a:latin typeface="Segoe UI"/>
                          <a:ea typeface="Segoe UI"/>
                          <a:cs typeface="Segoe UI"/>
                        </a:rPr>
                        <a:t>Base</a:t>
                      </a:r>
                    </a:p>
                  </a:txBody>
                  <a:tcPr marL="95250" marR="95250" marT="47625" marB="47625">
                    <a:solidFill>
                      <a:srgbClr val="F5F7F8"/>
                    </a:solidFill>
                  </a:tcPr>
                </a:tc>
                <a:tc>
                  <a:txBody>
                    <a:bodyPr/>
                    <a:lstStyle/>
                    <a:p>
                      <a:r>
                        <a:rPr sz="1275">
                          <a:solidFill>
                            <a:srgbClr val="172B3A"/>
                          </a:solidFill>
                          <a:latin typeface="Segoe UI"/>
                          <a:ea typeface="Segoe UI"/>
                          <a:cs typeface="Segoe UI"/>
                        </a:rPr>
                        <a:t>B: 13, others: 7</a:t>
                      </a:r>
                    </a:p>
                  </a:txBody>
                  <a:tcPr marL="95250" marR="95250" marT="47625" marB="47625">
                    <a:solidFill>
                      <a:srgbClr val="F5F7F8"/>
                    </a:solidFill>
                  </a:tcPr>
                </a:tc>
              </a:tr>
              <a:tr h="457200">
                <a:tc>
                  <a:txBody>
                    <a:bodyPr/>
                    <a:lstStyle/>
                    <a:p>
                      <a:r>
                        <a:rPr sz="1275">
                          <a:solidFill>
                            <a:srgbClr val="172B3A"/>
                          </a:solidFill>
                          <a:latin typeface="Segoe UI"/>
                          <a:ea typeface="Segoe UI"/>
                          <a:cs typeface="Segoe UI"/>
                        </a:rPr>
                        <a:t/>
                      </a:r>
                    </a:p>
                  </a:txBody>
                  <a:tcPr marL="95250" marR="95250" marT="47625" marB="47625"/>
                </a:tc>
                <a:tc>
                  <a:txBody>
                    <a:bodyPr/>
                    <a:lstStyle/>
                    <a:p>
                      <a:r>
                        <a:rPr sz="1275">
                          <a:solidFill>
                            <a:srgbClr val="172B3A"/>
                          </a:solidFill>
                          <a:latin typeface="Segoe UI"/>
                          <a:ea typeface="Segoe UI"/>
                          <a:cs typeface="Segoe UI"/>
                        </a:rPr>
                        <a:t>Synthesis</a:t>
                      </a:r>
                    </a:p>
                  </a:txBody>
                  <a:tcPr marL="95250" marR="95250" marT="47625" marB="47625"/>
                </a:tc>
                <a:tc>
                  <a:txBody>
                    <a:bodyPr/>
                    <a:lstStyle/>
                    <a:p>
                      <a:r>
                        <a:rPr sz="1275">
                          <a:solidFill>
                            <a:srgbClr val="172B3A"/>
                          </a:solidFill>
                          <a:latin typeface="Segoe UI"/>
                          <a:ea typeface="Segoe UI"/>
                          <a:cs typeface="Segoe UI"/>
                        </a:rPr>
                        <a:t>yes: 10, no: 10</a:t>
                      </a:r>
                    </a:p>
                  </a:txBody>
                  <a:tcPr marL="95250" marR="95250" marT="47625" marB="47625"/>
                </a:tc>
              </a:tr>
              <a:tr h="457200">
                <a:tc>
                  <a:txBody>
                    <a:bodyPr/>
                    <a:lstStyle/>
                    <a:p>
                      <a:r>
                        <a:rPr sz="1275">
                          <a:solidFill>
                            <a:srgbClr val="172B3A"/>
                          </a:solidFill>
                          <a:latin typeface="Segoe UI"/>
                          <a:ea typeface="Segoe UI"/>
                          <a:cs typeface="Segoe UI"/>
                        </a:rPr>
                        <a:t/>
                      </a:r>
                    </a:p>
                  </a:txBody>
                  <a:tcPr marL="95250" marR="95250" marT="47625" marB="47625"/>
                </a:tc>
                <a:tc>
                  <a:txBody>
                    <a:bodyPr/>
                    <a:lstStyle/>
                    <a:p>
                      <a:r>
                        <a:rPr sz="1275">
                          <a:solidFill>
                            <a:srgbClr val="172B3A"/>
                          </a:solidFill>
                          <a:latin typeface="Segoe UI"/>
                          <a:ea typeface="Segoe UI"/>
                          <a:cs typeface="Segoe UI"/>
                        </a:rPr>
                        <a:t>Noise</a:t>
                      </a:r>
                    </a:p>
                  </a:txBody>
                  <a:tcPr marL="95250" marR="95250" marT="47625" marB="47625"/>
                </a:tc>
                <a:tc>
                  <a:txBody>
                    <a:bodyPr/>
                    <a:lstStyle/>
                    <a:p>
                      <a:r>
                        <a:rPr sz="1275">
                          <a:solidFill>
                            <a:srgbClr val="172B3A"/>
                          </a:solidFill>
                          <a:latin typeface="Segoe UI"/>
                          <a:ea typeface="Segoe UI"/>
                          <a:cs typeface="Segoe UI"/>
                        </a:rPr>
                        <a:t>yes: 6, no: 14</a:t>
                      </a:r>
                    </a:p>
                  </a:txBody>
                  <a:tcPr marL="95250" marR="95250" marT="47625" marB="47625"/>
                </a:tc>
              </a:tr>
              <a:tr h="457200">
                <a:tc>
                  <a:txBody>
                    <a:bodyPr/>
                    <a:lstStyle/>
                    <a:p>
                      <a:r>
                        <a:rPr sz="1275">
                          <a:solidFill>
                            <a:srgbClr val="172B3A"/>
                          </a:solidFill>
                          <a:latin typeface="Segoe UI"/>
                          <a:ea typeface="Segoe UI"/>
                          <a:cs typeface="Segoe UI"/>
                        </a:rPr>
                        <a:t/>
                      </a:r>
                    </a:p>
                  </a:txBody>
                  <a:tcPr marL="95250" marR="95250" marT="47625" marB="47625"/>
                </a:tc>
                <a:tc>
                  <a:txBody>
                    <a:bodyPr/>
                    <a:lstStyle/>
                    <a:p>
                      <a:r>
                        <a:rPr sz="1275">
                          <a:solidFill>
                            <a:srgbClr val="172B3A"/>
                          </a:solidFill>
                          <a:latin typeface="Segoe UI"/>
                          <a:ea typeface="Segoe UI"/>
                          <a:cs typeface="Segoe UI"/>
                        </a:rPr>
                        <a:t>Optimization</a:t>
                      </a:r>
                    </a:p>
                  </a:txBody>
                  <a:tcPr marL="95250" marR="95250" marT="47625" marB="47625"/>
                </a:tc>
                <a:tc>
                  <a:txBody>
                    <a:bodyPr/>
                    <a:lstStyle/>
                    <a:p>
                      <a:r>
                        <a:rPr sz="1275">
                          <a:solidFill>
                            <a:srgbClr val="172B3A"/>
                          </a:solidFill>
                          <a:latin typeface="Segoe UI"/>
                          <a:ea typeface="Segoe UI"/>
                          <a:cs typeface="Segoe UI"/>
                        </a:rPr>
                        <a:t>yes: 6, no: 14</a:t>
                      </a:r>
                    </a:p>
                  </a:txBody>
                  <a:tcPr marL="95250" marR="95250" marT="47625" marB="47625"/>
                </a:tc>
              </a:tr>
              <a:tr h="457200">
                <a:tc>
                  <a:txBody>
                    <a:bodyPr/>
                    <a:lstStyle/>
                    <a:p>
                      <a:r>
                        <a:rPr sz="1275">
                          <a:solidFill>
                            <a:srgbClr val="172B3A"/>
                          </a:solidFill>
                          <a:latin typeface="Segoe UI"/>
                          <a:ea typeface="Segoe UI"/>
                          <a:cs typeface="Segoe UI"/>
                        </a:rPr>
                        <a:t/>
                      </a:r>
                    </a:p>
                  </a:txBody>
                  <a:tcPr marL="95250" marR="95250" marT="47625" marB="47625"/>
                </a:tc>
                <a:tc>
                  <a:txBody>
                    <a:bodyPr/>
                    <a:lstStyle/>
                    <a:p>
                      <a:r>
                        <a:rPr sz="1275">
                          <a:solidFill>
                            <a:srgbClr val="172B3A"/>
                          </a:solidFill>
                          <a:latin typeface="Segoe UI"/>
                          <a:ea typeface="Segoe UI"/>
                          <a:cs typeface="Segoe UI"/>
                        </a:rPr>
                        <a:t>Post-processing</a:t>
                      </a:r>
                    </a:p>
                  </a:txBody>
                  <a:tcPr marL="95250" marR="95250" marT="47625" marB="47625"/>
                </a:tc>
                <a:tc>
                  <a:txBody>
                    <a:bodyPr/>
                    <a:lstStyle/>
                    <a:p>
                      <a:r>
                        <a:rPr sz="1275">
                          <a:solidFill>
                            <a:srgbClr val="172B3A"/>
                          </a:solidFill>
                          <a:latin typeface="Segoe UI"/>
                          <a:ea typeface="Segoe UI"/>
                          <a:cs typeface="Segoe UI"/>
                        </a:rPr>
                        <a:t>swap: 10, none: 10</a:t>
                      </a:r>
                    </a:p>
                  </a:txBody>
                  <a:tcPr marL="95250" marR="95250" marT="47625" marB="47625"/>
                </a:tc>
              </a:tr>
              <a:tr h="457200">
                <a:tc>
                  <a:txBody>
                    <a:bodyPr/>
                    <a:lstStyle/>
                    <a:p>
                      <a:r>
                        <a:rPr sz="1275">
                          <a:solidFill>
                            <a:srgbClr val="172B3A"/>
                          </a:solidFill>
                          <a:latin typeface="Segoe UI"/>
                          <a:ea typeface="Segoe UI"/>
                          <a:cs typeface="Segoe UI"/>
                        </a:rPr>
                        <a:t>Training</a:t>
                      </a:r>
                    </a:p>
                  </a:txBody>
                  <a:tcPr marL="95250" marR="95250" marT="47625" marB="47625">
                    <a:solidFill>
                      <a:srgbClr val="F5F7F8"/>
                    </a:solidFill>
                  </a:tcPr>
                </a:tc>
                <a:tc>
                  <a:txBody>
                    <a:bodyPr/>
                    <a:lstStyle/>
                    <a:p>
                      <a:r>
                        <a:rPr sz="1275">
                          <a:solidFill>
                            <a:srgbClr val="172B3A"/>
                          </a:solidFill>
                          <a:latin typeface="Segoe UI"/>
                          <a:ea typeface="Segoe UI"/>
                          <a:cs typeface="Segoe UI"/>
                        </a:rPr>
                        <a:t>B-base use</a:t>
                      </a:r>
                    </a:p>
                  </a:txBody>
                  <a:tcPr marL="95250" marR="95250" marT="47625" marB="47625">
                    <a:solidFill>
                      <a:srgbClr val="F5F7F8"/>
                    </a:solidFill>
                  </a:tcPr>
                </a:tc>
                <a:tc>
                  <a:txBody>
                    <a:bodyPr/>
                    <a:lstStyle/>
                    <a:p>
                      <a:r>
                        <a:rPr sz="1275">
                          <a:solidFill>
                            <a:srgbClr val="172B3A"/>
                          </a:solidFill>
                          <a:latin typeface="Segoe UI"/>
                          <a:ea typeface="Segoe UI"/>
                          <a:cs typeface="Segoe UI"/>
                        </a:rPr>
                        <a:t>yes: 18, no: 2</a:t>
                      </a:r>
                    </a:p>
                  </a:txBody>
                  <a:tcPr marL="95250" marR="95250" marT="47625" marB="47625">
                    <a:solidFill>
                      <a:srgbClr val="F5F7F8"/>
                    </a:solidFill>
                  </a:tcPr>
                </a:tc>
              </a:tr>
              <a:tr h="457200">
                <a:tc>
                  <a:txBody>
                    <a:bodyPr/>
                    <a:lstStyle/>
                    <a:p>
                      <a:r>
                        <a:rPr sz="1275">
                          <a:solidFill>
                            <a:srgbClr val="172B3A"/>
                          </a:solidFill>
                          <a:latin typeface="Segoe UI"/>
                          <a:ea typeface="Segoe UI"/>
                          <a:cs typeface="Segoe UI"/>
                        </a:rPr>
                        <a:t/>
                      </a:r>
                    </a:p>
                  </a:txBody>
                  <a:tcPr marL="95250" marR="95250" marT="47625" marB="47625"/>
                </a:tc>
                <a:tc>
                  <a:txBody>
                    <a:bodyPr/>
                    <a:lstStyle/>
                    <a:p>
                      <a:r>
                        <a:rPr sz="1275">
                          <a:solidFill>
                            <a:srgbClr val="172B3A"/>
                          </a:solidFill>
                          <a:latin typeface="Segoe UI"/>
                          <a:ea typeface="Segoe UI"/>
                          <a:cs typeface="Segoe UI"/>
                        </a:rPr>
                        <a:t>Non-B use</a:t>
                      </a:r>
                    </a:p>
                  </a:txBody>
                  <a:tcPr marL="95250" marR="95250" marT="47625" marB="47625"/>
                </a:tc>
                <a:tc>
                  <a:txBody>
                    <a:bodyPr/>
                    <a:lstStyle/>
                    <a:p>
                      <a:r>
                        <a:rPr sz="1275">
                          <a:solidFill>
                            <a:srgbClr val="172B3A"/>
                          </a:solidFill>
                          <a:latin typeface="Segoe UI"/>
                          <a:ea typeface="Segoe UI"/>
                          <a:cs typeface="Segoe UI"/>
                        </a:rPr>
                        <a:t>yes: 4, no: 16</a:t>
                      </a:r>
                    </a:p>
                  </a:txBody>
                  <a:tcPr marL="95250" marR="95250" marT="47625" marB="47625"/>
                </a:tc>
              </a:tr>
              <a:tr h="457200">
                <a:tc>
                  <a:txBody>
                    <a:bodyPr/>
                    <a:lstStyle/>
                    <a:p>
                      <a:r>
                        <a:rPr sz="1275">
                          <a:solidFill>
                            <a:srgbClr val="172B3A"/>
                          </a:solidFill>
                          <a:latin typeface="Segoe UI"/>
                          <a:ea typeface="Segoe UI"/>
                          <a:cs typeface="Segoe UI"/>
                        </a:rPr>
                        <a:t>Attack</a:t>
                      </a:r>
                    </a:p>
                  </a:txBody>
                  <a:tcPr marL="95250" marR="95250" marT="47625" marB="47625">
                    <a:solidFill>
                      <a:srgbClr val="F5F7F8"/>
                    </a:solidFill>
                  </a:tcPr>
                </a:tc>
                <a:tc>
                  <a:txBody>
                    <a:bodyPr/>
                    <a:lstStyle/>
                    <a:p>
                      <a:r>
                        <a:rPr sz="1275">
                          <a:solidFill>
                            <a:srgbClr val="172B3A"/>
                          </a:solidFill>
                          <a:latin typeface="Segoe UI"/>
                          <a:ea typeface="Segoe UI"/>
                          <a:cs typeface="Segoe UI"/>
                        </a:rPr>
                        <a:t>Attack target</a:t>
                      </a:r>
                    </a:p>
                  </a:txBody>
                  <a:tcPr marL="95250" marR="95250" marT="47625" marB="47625">
                    <a:solidFill>
                      <a:srgbClr val="F5F7F8"/>
                    </a:solidFill>
                  </a:tcPr>
                </a:tc>
                <a:tc>
                  <a:txBody>
                    <a:bodyPr/>
                    <a:lstStyle/>
                    <a:p>
                      <a:r>
                        <a:rPr sz="1275">
                          <a:solidFill>
                            <a:srgbClr val="172B3A"/>
                          </a:solidFill>
                          <a:latin typeface="Segoe UI"/>
                          <a:ea typeface="Segoe UI"/>
                          <a:cs typeface="Segoe UI"/>
                        </a:rPr>
                        <a:t>anon: 15, both: 4</a:t>
                      </a:r>
                    </a:p>
                  </a:txBody>
                  <a:tcPr marL="95250" marR="95250" marT="47625" marB="47625">
                    <a:solidFill>
                      <a:srgbClr val="F5F7F8"/>
                    </a:solidFill>
                  </a:tcPr>
                </a:tc>
              </a:tr>
              <a:tr h="457200">
                <a:tc>
                  <a:txBody>
                    <a:bodyPr/>
                    <a:lstStyle/>
                    <a:p>
                      <a:r>
                        <a:rPr sz="1275">
                          <a:solidFill>
                            <a:srgbClr val="172B3A"/>
                          </a:solidFill>
                          <a:latin typeface="Segoe UI"/>
                          <a:ea typeface="Segoe UI"/>
                          <a:cs typeface="Segoe UI"/>
                        </a:rPr>
                        <a:t/>
                      </a:r>
                    </a:p>
                  </a:txBody>
                  <a:tcPr marL="95250" marR="95250" marT="47625" marB="47625"/>
                </a:tc>
                <a:tc>
                  <a:txBody>
                    <a:bodyPr/>
                    <a:lstStyle/>
                    <a:p>
                      <a:r>
                        <a:rPr sz="1275">
                          <a:solidFill>
                            <a:srgbClr val="172B3A"/>
                          </a:solidFill>
                          <a:latin typeface="Segoe UI"/>
                          <a:ea typeface="Segoe UI"/>
                          <a:cs typeface="Segoe UI"/>
                        </a:rPr>
                        <a:t>Model-based attack</a:t>
                      </a:r>
                    </a:p>
                  </a:txBody>
                  <a:tcPr marL="95250" marR="95250" marT="47625" marB="47625"/>
                </a:tc>
                <a:tc>
                  <a:txBody>
                    <a:bodyPr/>
                    <a:lstStyle/>
                    <a:p>
                      <a:r>
                        <a:rPr sz="1275">
                          <a:solidFill>
                            <a:srgbClr val="172B3A"/>
                          </a:solidFill>
                          <a:latin typeface="Segoe UI"/>
                          <a:ea typeface="Segoe UI"/>
                          <a:cs typeface="Segoe UI"/>
                        </a:rPr>
                        <a:t>yes: 6, no: 13</a:t>
                      </a:r>
                    </a:p>
                  </a:txBody>
                  <a:tcPr marL="95250" marR="95250" marT="47625" marB="47625"/>
                </a:tc>
              </a:tr>
            </a:tbl>
          </a:graphicData>
        </a:graphic>
      </p:graphicFrame>
      <p:sp>
        <p:nvSpPr>
          <p:cNvPr id="6" name="">
            <a:extLst xmlns:a="http://schemas.openxmlformats.org/drawingml/2006/main">
              <a:ext uri="{FF2B5EF4-FFF2-40B4-BE49-F238E27FC236}">
                <a16:creationId xmlns:a16="http://schemas.microsoft.com/office/drawing/2014/main" id="{138E87CE-F6E5-4E46-AE59-A9D73228D3D0}"/>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Appendix, source: paper Table 2</a:t>
            </a:r>
          </a:p>
        </p:txBody>
      </p:sp>
    </p:spTree>
    <p:extLst>
      <p:ext uri="{BB962C8B-B14F-4D97-AF65-F5344CB8AC3E}">
        <p14:creationId xmlns:p14="http://schemas.microsoft.com/office/powerpoint/2010/main" val="2090505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6A7361-A34D-4BC5-A2F9-115EAA0887E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9B94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FC5CBA-40F9-457A-B015-17CC626FC816}"/>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Appendix: Score anatomy</a:t>
            </a:r>
          </a:p>
        </p:txBody>
      </p:sp>
      <p:sp>
        <p:nvSpPr>
          <p:cNvPr id="3" name="">
            <a:extLst xmlns:a="http://schemas.openxmlformats.org/drawingml/2006/main">
              <a:ext uri="{FF2B5EF4-FFF2-40B4-BE49-F238E27FC236}">
                <a16:creationId xmlns:a16="http://schemas.microsoft.com/office/drawing/2014/main" id="{2574600F-FE57-4649-8698-AE5DAA4B8C41}"/>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E9B949"/>
                </a:solidFill>
                <a:latin typeface="Segoe UI"/>
                <a:ea typeface="Segoe UI"/>
                <a:cs typeface="Segoe UI"/>
              </a:defRPr>
            </a:pPr>
            <a:r>
              <a:rPr sz="1275" b="1">
                <a:solidFill>
                  <a:srgbClr val="E9B949"/>
                </a:solidFill>
                <a:latin typeface="Segoe UI"/>
                <a:ea typeface="Segoe UI"/>
                <a:cs typeface="Segoe UI"/>
              </a:rPr>
              <a:t>11</a:t>
            </a:r>
          </a:p>
        </p:txBody>
      </p:sp>
      <p:sp>
        <p:nvSpPr>
          <p:cNvPr id="4" name="">
            <a:extLst xmlns:a="http://schemas.openxmlformats.org/drawingml/2006/main">
              <a:ext uri="{FF2B5EF4-FFF2-40B4-BE49-F238E27FC236}">
                <a16:creationId xmlns:a16="http://schemas.microsoft.com/office/drawing/2014/main" id="{04633E2B-5B51-45CA-8BA7-072A98DE065F}"/>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graphicFrame>
        <p:nvGraphicFramePr>
          <p:cNvPr id="12" name=""/>
          <p:cNvGraphicFramePr/>
          <p:nvPr/>
        </p:nvGraphicFramePr>
        <p:xfrm>
          <a:off xmlns:a="http://schemas.openxmlformats.org/drawingml/2006/main" x="723900" y="1428750"/>
          <a:ext xmlns:a="http://schemas.openxmlformats.org/drawingml/2006/main" cx="10744200" cy="3657600"/>
        </p:xfrm>
        <a:graphic xmlns:a="http://schemas.openxmlformats.org/drawingml/2006/main">
          <a:graphicData uri="http://schemas.openxmlformats.org/drawingml/2006/table">
            <a:tbl>
              <a:tblPr/>
              <a:tblGrid>
                <a:gridCol w="1809750"/>
                <a:gridCol w="6762750"/>
                <a:gridCol w="2171700"/>
              </a:tblGrid>
              <a:tr h="522514">
                <a:tc>
                  <a:txBody>
                    <a:bodyPr/>
                    <a:lstStyle/>
                    <a:p>
                      <a:r>
                        <a:rPr sz="1350" b="1">
                          <a:solidFill>
                            <a:srgbClr val="FFFFFF"/>
                          </a:solidFill>
                          <a:latin typeface="Segoe UI"/>
                          <a:ea typeface="Segoe UI"/>
                          <a:cs typeface="Segoe UI"/>
                        </a:rPr>
                        <a:t>Outcome</a:t>
                      </a:r>
                    </a:p>
                  </a:txBody>
                  <a:tcPr marL="95250" marR="95250" marT="57150" marB="57150">
                    <a:solidFill>
                      <a:srgbClr val="102A43"/>
                    </a:solidFill>
                  </a:tcPr>
                </a:tc>
                <a:tc>
                  <a:txBody>
                    <a:bodyPr/>
                    <a:lstStyle/>
                    <a:p>
                      <a:r>
                        <a:rPr sz="1350" b="1">
                          <a:solidFill>
                            <a:srgbClr val="FFFFFF"/>
                          </a:solidFill>
                          <a:latin typeface="Segoe UI"/>
                          <a:ea typeface="Segoe UI"/>
                          <a:cs typeface="Segoe UI"/>
                        </a:rPr>
                        <a:t>What it measures</a:t>
                      </a:r>
                    </a:p>
                  </a:txBody>
                  <a:tcPr marL="95250" marR="95250" marT="57150" marB="57150">
                    <a:solidFill>
                      <a:srgbClr val="102A43"/>
                    </a:solidFill>
                  </a:tcPr>
                </a:tc>
                <a:tc>
                  <a:txBody>
                    <a:bodyPr/>
                    <a:lstStyle/>
                    <a:p>
                      <a:r>
                        <a:rPr sz="1350" b="1">
                          <a:solidFill>
                            <a:srgbClr val="FFFFFF"/>
                          </a:solidFill>
                          <a:latin typeface="Segoe UI"/>
                          <a:ea typeface="Segoe UI"/>
                          <a:cs typeface="Segoe UI"/>
                        </a:rPr>
                        <a:t>Scale</a:t>
                      </a:r>
                    </a:p>
                  </a:txBody>
                  <a:tcPr marL="95250" marR="95250" marT="57150" marB="57150">
                    <a:solidFill>
                      <a:srgbClr val="102A43"/>
                    </a:solidFill>
                  </a:tcPr>
                </a:tc>
              </a:tr>
              <a:tr h="522514">
                <a:tc>
                  <a:txBody>
                    <a:bodyPr/>
                    <a:lstStyle/>
                    <a:p>
                      <a:r>
                        <a:rPr sz="1275">
                          <a:solidFill>
                            <a:srgbClr val="172B3A"/>
                          </a:solidFill>
                          <a:latin typeface="Segoe UI"/>
                          <a:ea typeface="Segoe UI"/>
                          <a:cs typeface="Segoe UI"/>
                        </a:rPr>
                        <a:t>U₁</a:t>
                      </a:r>
                    </a:p>
                  </a:txBody>
                  <a:tcPr marL="95250" marR="95250" marT="47625" marB="47625"/>
                </a:tc>
                <a:tc>
                  <a:txBody>
                    <a:bodyPr/>
                    <a:lstStyle/>
                    <a:p>
                      <a:r>
                        <a:rPr sz="1275">
                          <a:solidFill>
                            <a:srgbClr val="172B3A"/>
                          </a:solidFill>
                          <a:latin typeface="Segoe UI"/>
                          <a:ea typeface="Segoe UI"/>
                          <a:cs typeface="Segoe UI"/>
                        </a:rPr>
                        <a:t>Basic statistics preserved between Bᵢ and Cᵢ</a:t>
                      </a:r>
                    </a:p>
                  </a:txBody>
                  <a:tcPr marL="95250" marR="95250" marT="47625" marB="47625"/>
                </a:tc>
                <a:tc>
                  <a:txBody>
                    <a:bodyPr/>
                    <a:lstStyle/>
                    <a:p>
                      <a:r>
                        <a:rPr sz="1275">
                          <a:solidFill>
                            <a:srgbClr val="172B3A"/>
                          </a:solidFill>
                          <a:latin typeface="Segoe UI"/>
                          <a:ea typeface="Segoe UI"/>
                          <a:cs typeface="Segoe UI"/>
                        </a:rPr>
                        <a:t>0–40</a:t>
                      </a:r>
                    </a:p>
                  </a:txBody>
                  <a:tcPr marL="95250" marR="95250" marT="47625" marB="47625"/>
                </a:tc>
              </a:tr>
              <a:tr h="522514">
                <a:tc>
                  <a:txBody>
                    <a:bodyPr/>
                    <a:lstStyle/>
                    <a:p>
                      <a:r>
                        <a:rPr sz="1275">
                          <a:solidFill>
                            <a:srgbClr val="172B3A"/>
                          </a:solidFill>
                          <a:latin typeface="Segoe UI"/>
                          <a:ea typeface="Segoe UI"/>
                          <a:cs typeface="Segoe UI"/>
                        </a:rPr>
                        <a:t>U₂</a:t>
                      </a:r>
                    </a:p>
                  </a:txBody>
                  <a:tcPr marL="95250" marR="95250" marT="47625" marB="47625"/>
                </a:tc>
                <a:tc>
                  <a:txBody>
                    <a:bodyPr/>
                    <a:lstStyle/>
                    <a:p>
                      <a:r>
                        <a:rPr sz="1275">
                          <a:solidFill>
                            <a:srgbClr val="172B3A"/>
                          </a:solidFill>
                          <a:latin typeface="Segoe UI"/>
                          <a:ea typeface="Segoe UI"/>
                          <a:cs typeface="Segoe UI"/>
                        </a:rPr>
                        <a:t>Logistic-regression results preserved</a:t>
                      </a:r>
                    </a:p>
                  </a:txBody>
                  <a:tcPr marL="95250" marR="95250" marT="47625" marB="47625"/>
                </a:tc>
                <a:tc>
                  <a:txBody>
                    <a:bodyPr/>
                    <a:lstStyle/>
                    <a:p>
                      <a:r>
                        <a:rPr sz="1275">
                          <a:solidFill>
                            <a:srgbClr val="172B3A"/>
                          </a:solidFill>
                          <a:latin typeface="Segoe UI"/>
                          <a:ea typeface="Segoe UI"/>
                          <a:cs typeface="Segoe UI"/>
                        </a:rPr>
                        <a:t>0–20</a:t>
                      </a:r>
                    </a:p>
                  </a:txBody>
                  <a:tcPr marL="95250" marR="95250" marT="47625" marB="47625"/>
                </a:tc>
              </a:tr>
              <a:tr h="522514">
                <a:tc>
                  <a:txBody>
                    <a:bodyPr/>
                    <a:lstStyle/>
                    <a:p>
                      <a:r>
                        <a:rPr sz="1275">
                          <a:solidFill>
                            <a:srgbClr val="172B3A"/>
                          </a:solidFill>
                          <a:latin typeface="Segoe UI"/>
                          <a:ea typeface="Segoe UI"/>
                          <a:cs typeface="Segoe UI"/>
                        </a:rPr>
                        <a:t>U₃</a:t>
                      </a:r>
                    </a:p>
                  </a:txBody>
                  <a:tcPr marL="95250" marR="95250" marT="47625" marB="47625"/>
                </a:tc>
                <a:tc>
                  <a:txBody>
                    <a:bodyPr/>
                    <a:lstStyle/>
                    <a:p>
                      <a:r>
                        <a:rPr sz="1275">
                          <a:solidFill>
                            <a:srgbClr val="172B3A"/>
                          </a:solidFill>
                          <a:latin typeface="Segoe UI"/>
                          <a:ea typeface="Segoe UI"/>
                          <a:cs typeface="Segoe UI"/>
                        </a:rPr>
                        <a:t>Kruskal–Wallis group comparisons preserved</a:t>
                      </a:r>
                    </a:p>
                  </a:txBody>
                  <a:tcPr marL="95250" marR="95250" marT="47625" marB="47625"/>
                </a:tc>
                <a:tc>
                  <a:txBody>
                    <a:bodyPr/>
                    <a:lstStyle/>
                    <a:p>
                      <a:r>
                        <a:rPr sz="1275">
                          <a:solidFill>
                            <a:srgbClr val="172B3A"/>
                          </a:solidFill>
                          <a:latin typeface="Segoe UI"/>
                          <a:ea typeface="Segoe UI"/>
                          <a:cs typeface="Segoe UI"/>
                        </a:rPr>
                        <a:t>0–20</a:t>
                      </a:r>
                    </a:p>
                  </a:txBody>
                  <a:tcPr marL="95250" marR="95250" marT="47625" marB="47625"/>
                </a:tc>
              </a:tr>
              <a:tr h="522514">
                <a:tc>
                  <a:txBody>
                    <a:bodyPr/>
                    <a:lstStyle/>
                    <a:p>
                      <a:r>
                        <a:rPr sz="1275">
                          <a:solidFill>
                            <a:srgbClr val="172B3A"/>
                          </a:solidFill>
                          <a:latin typeface="Segoe UI"/>
                          <a:ea typeface="Segoe UI"/>
                          <a:cs typeface="Segoe UI"/>
                        </a:rPr>
                        <a:t>U₄</a:t>
                      </a:r>
                    </a:p>
                  </a:txBody>
                  <a:tcPr marL="95250" marR="95250" marT="47625" marB="47625"/>
                </a:tc>
                <a:tc>
                  <a:txBody>
                    <a:bodyPr/>
                    <a:lstStyle/>
                    <a:p>
                      <a:r>
                        <a:rPr sz="1275">
                          <a:solidFill>
                            <a:srgbClr val="172B3A"/>
                          </a:solidFill>
                          <a:latin typeface="Segoe UI"/>
                          <a:ea typeface="Segoe UI"/>
                          <a:cs typeface="Segoe UI"/>
                        </a:rPr>
                        <a:t>Submitted XGBoost model accuracy</a:t>
                      </a:r>
                    </a:p>
                  </a:txBody>
                  <a:tcPr marL="95250" marR="95250" marT="47625" marB="47625"/>
                </a:tc>
                <a:tc>
                  <a:txBody>
                    <a:bodyPr/>
                    <a:lstStyle/>
                    <a:p>
                      <a:r>
                        <a:rPr sz="1275">
                          <a:solidFill>
                            <a:srgbClr val="172B3A"/>
                          </a:solidFill>
                          <a:latin typeface="Segoe UI"/>
                          <a:ea typeface="Segoe UI"/>
                          <a:cs typeface="Segoe UI"/>
                        </a:rPr>
                        <a:t>0–20</a:t>
                      </a:r>
                    </a:p>
                  </a:txBody>
                  <a:tcPr marL="95250" marR="95250" marT="47625" marB="47625"/>
                </a:tc>
              </a:tr>
              <a:tr h="522514">
                <a:tc>
                  <a:txBody>
                    <a:bodyPr/>
                    <a:lstStyle/>
                    <a:p>
                      <a:r>
                        <a:rPr sz="1275">
                          <a:solidFill>
                            <a:srgbClr val="172B3A"/>
                          </a:solidFill>
                          <a:latin typeface="Segoe UI"/>
                          <a:ea typeface="Segoe UI"/>
                          <a:cs typeface="Segoe UI"/>
                        </a:rPr>
                        <a:t>Anon_all</a:t>
                      </a:r>
                    </a:p>
                  </a:txBody>
                  <a:tcPr marL="95250" marR="95250" marT="47625" marB="47625">
                    <a:solidFill>
                      <a:srgbClr val="FBE6DF"/>
                    </a:solidFill>
                  </a:tcPr>
                </a:tc>
                <a:tc>
                  <a:txBody>
                    <a:bodyPr/>
                    <a:lstStyle/>
                    <a:p>
                      <a:r>
                        <a:rPr sz="1275">
                          <a:solidFill>
                            <a:srgbClr val="172B3A"/>
                          </a:solidFill>
                          <a:latin typeface="Segoe UI"/>
                          <a:ea typeface="Segoe UI"/>
                          <a:cs typeface="Segoe UI"/>
                        </a:rPr>
                        <a:t>Resistance to the strongest membership attack, less a repeated-exposure penalty</a:t>
                      </a:r>
                    </a:p>
                  </a:txBody>
                  <a:tcPr marL="95250" marR="95250" marT="47625" marB="47625">
                    <a:solidFill>
                      <a:srgbClr val="FBE6DF"/>
                    </a:solidFill>
                  </a:tcPr>
                </a:tc>
                <a:tc>
                  <a:txBody>
                    <a:bodyPr/>
                    <a:lstStyle/>
                    <a:p>
                      <a:r>
                        <a:rPr sz="1275">
                          <a:solidFill>
                            <a:srgbClr val="172B3A"/>
                          </a:solidFill>
                          <a:latin typeface="Segoe UI"/>
                          <a:ea typeface="Segoe UI"/>
                          <a:cs typeface="Segoe UI"/>
                        </a:rPr>
                        <a:t>0–100</a:t>
                      </a:r>
                    </a:p>
                  </a:txBody>
                  <a:tcPr marL="95250" marR="95250" marT="47625" marB="47625">
                    <a:solidFill>
                      <a:srgbClr val="FBE6DF"/>
                    </a:solidFill>
                  </a:tcPr>
                </a:tc>
              </a:tr>
              <a:tr h="522514">
                <a:tc>
                  <a:txBody>
                    <a:bodyPr/>
                    <a:lstStyle/>
                    <a:p>
                      <a:r>
                        <a:rPr sz="1275">
                          <a:solidFill>
                            <a:srgbClr val="172B3A"/>
                          </a:solidFill>
                          <a:latin typeface="Segoe UI"/>
                          <a:ea typeface="Segoe UI"/>
                          <a:cs typeface="Segoe UI"/>
                        </a:rPr>
                        <a:t>Final score</a:t>
                      </a:r>
                    </a:p>
                  </a:txBody>
                  <a:tcPr marL="95250" marR="95250" marT="47625" marB="47625"/>
                </a:tc>
                <a:tc>
                  <a:txBody>
                    <a:bodyPr/>
                    <a:lstStyle/>
                    <a:p>
                      <a:r>
                        <a:rPr sz="1275">
                          <a:solidFill>
                            <a:srgbClr val="172B3A"/>
                          </a:solidFill>
                          <a:latin typeface="Segoe UI"/>
                          <a:ea typeface="Segoe UI"/>
                          <a:cs typeface="Segoe UI"/>
                        </a:rPr>
                        <a:t>Preliminary round 10% + main round 90%</a:t>
                      </a:r>
                    </a:p>
                  </a:txBody>
                  <a:tcPr marL="95250" marR="95250" marT="47625" marB="47625"/>
                </a:tc>
                <a:tc>
                  <a:txBody>
                    <a:bodyPr/>
                    <a:lstStyle/>
                    <a:p>
                      <a:r>
                        <a:rPr sz="1275">
                          <a:solidFill>
                            <a:srgbClr val="172B3A"/>
                          </a:solidFill>
                          <a:latin typeface="Segoe UI"/>
                          <a:ea typeface="Segoe UI"/>
                          <a:cs typeface="Segoe UI"/>
                        </a:rPr>
                        <a:t>Utility + anonymity</a:t>
                      </a:r>
                    </a:p>
                  </a:txBody>
                  <a:tcPr marL="95250" marR="95250" marT="47625" marB="47625"/>
                </a:tc>
              </a:tr>
            </a:tbl>
          </a:graphicData>
        </a:graphic>
      </p:graphicFrame>
      <p:sp>
        <p:nvSpPr>
          <p:cNvPr id="6" name="">
            <a:extLst xmlns:a="http://schemas.openxmlformats.org/drawingml/2006/main">
              <a:ext uri="{FF2B5EF4-FFF2-40B4-BE49-F238E27FC236}">
                <a16:creationId xmlns:a16="http://schemas.microsoft.com/office/drawing/2014/main" id="{F7E13E63-5454-434D-B6F3-2201B3621BB7}"/>
              </a:ext>
            </a:extLst>
          </p:cNvPr>
          <p:cNvSpPr>
            <a:spLocks xmlns:a="http://schemas.openxmlformats.org/drawingml/2006/main" noGrp="1"/>
          </p:cNvSpPr>
          <p:nvPr/>
        </p:nvSpPr>
        <p:spPr>
          <a:xfrm xmlns:a="http://schemas.openxmlformats.org/drawingml/2006/main">
            <a:off x="1123950" y="5448300"/>
            <a:ext cx="994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02A43"/>
                </a:solidFill>
                <a:latin typeface="Segoe UI"/>
                <a:ea typeface="Segoe UI"/>
                <a:cs typeface="Segoe UI"/>
              </a:defRPr>
            </a:pPr>
            <a:r>
              <a:rPr sz="1575" b="1">
                <a:solidFill>
                  <a:srgbClr val="102A43"/>
                </a:solidFill>
                <a:latin typeface="Segoe UI"/>
                <a:ea typeface="Segoe UI"/>
                <a:cs typeface="Segoe UI"/>
              </a:rPr>
              <a:t>Attack_t10_score counts correct inferences against the ten highest-ranked targets, divided by 100</a:t>
            </a:r>
          </a:p>
        </p:txBody>
      </p:sp>
      <p:sp>
        <p:nvSpPr>
          <p:cNvPr id="7" name="">
            <a:extLst xmlns:a="http://schemas.openxmlformats.org/drawingml/2006/main">
              <a:ext uri="{FF2B5EF4-FFF2-40B4-BE49-F238E27FC236}">
                <a16:creationId xmlns:a16="http://schemas.microsoft.com/office/drawing/2014/main" id="{4B9FE391-2C01-4E30-BA3B-5F947C0C4D17}"/>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Appendix, source: paper Section 2.1</a:t>
            </a:r>
          </a:p>
        </p:txBody>
      </p:sp>
    </p:spTree>
    <p:extLst>
      <p:ext uri="{BB962C8B-B14F-4D97-AF65-F5344CB8AC3E}">
        <p14:creationId xmlns:p14="http://schemas.microsoft.com/office/powerpoint/2010/main" val="11650196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610206-6165-4A25-B828-49F458E4656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9B94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B0A330-6500-4676-8B4E-3A74980448A6}"/>
              </a:ext>
            </a:extLst>
          </p:cNvPr>
          <p:cNvSpPr>
            <a:spLocks xmlns:a="http://schemas.openxmlformats.org/drawingml/2006/main" noGrp="1"/>
          </p:cNvSpPr>
          <p:nvPr/>
        </p:nvSpPr>
        <p:spPr>
          <a:xfrm xmlns:a="http://schemas.openxmlformats.org/drawingml/2006/main">
            <a:off x="609600" y="3238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102A43"/>
                </a:solidFill>
                <a:latin typeface="Segoe UI"/>
                <a:ea typeface="Segoe UI"/>
                <a:cs typeface="Segoe UI"/>
              </a:defRPr>
            </a:pPr>
            <a:r>
              <a:rPr sz="2550" b="1">
                <a:solidFill>
                  <a:srgbClr val="102A43"/>
                </a:solidFill>
                <a:latin typeface="Segoe UI"/>
                <a:ea typeface="Segoe UI"/>
                <a:cs typeface="Segoe UI"/>
              </a:rPr>
              <a:t>Appendix: Why these statistical models</a:t>
            </a:r>
          </a:p>
        </p:txBody>
      </p:sp>
      <p:sp>
        <p:nvSpPr>
          <p:cNvPr id="3" name="">
            <a:extLst xmlns:a="http://schemas.openxmlformats.org/drawingml/2006/main">
              <a:ext uri="{FF2B5EF4-FFF2-40B4-BE49-F238E27FC236}">
                <a16:creationId xmlns:a16="http://schemas.microsoft.com/office/drawing/2014/main" id="{D35BCA20-7462-4B76-BE9A-C5B15C593926}"/>
              </a:ext>
            </a:extLst>
          </p:cNvPr>
          <p:cNvSpPr>
            <a:spLocks xmlns:a="http://schemas.openxmlformats.org/drawingml/2006/main" noGrp="1"/>
          </p:cNvSpPr>
          <p:nvPr/>
        </p:nvSpPr>
        <p:spPr>
          <a:xfrm xmlns:a="http://schemas.openxmlformats.org/drawingml/2006/main">
            <a:off x="11144250" y="38100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E9B949"/>
                </a:solidFill>
                <a:latin typeface="Segoe UI"/>
                <a:ea typeface="Segoe UI"/>
                <a:cs typeface="Segoe UI"/>
              </a:defRPr>
            </a:pPr>
            <a:r>
              <a:rPr sz="1275" b="1">
                <a:solidFill>
                  <a:srgbClr val="E9B949"/>
                </a:solidFill>
                <a:latin typeface="Segoe UI"/>
                <a:ea typeface="Segoe UI"/>
                <a:cs typeface="Segoe UI"/>
              </a:rPr>
              <a:t>12</a:t>
            </a:r>
          </a:p>
        </p:txBody>
      </p:sp>
      <p:sp>
        <p:nvSpPr>
          <p:cNvPr id="4" name="">
            <a:extLst xmlns:a="http://schemas.openxmlformats.org/drawingml/2006/main">
              <a:ext uri="{FF2B5EF4-FFF2-40B4-BE49-F238E27FC236}">
                <a16:creationId xmlns:a16="http://schemas.microsoft.com/office/drawing/2014/main" id="{9D5E634E-13E4-4603-A504-51344A5A4CDD}"/>
              </a:ext>
            </a:extLst>
          </p:cNvPr>
          <p:cNvSpPr>
            <a:spLocks xmlns:a="http://schemas.openxmlformats.org/drawingml/2006/main" noGrp="1"/>
          </p:cNvSpPr>
          <p:nvPr/>
        </p:nvSpPr>
        <p:spPr>
          <a:xfrm xmlns:a="http://schemas.openxmlformats.org/drawingml/2006/main">
            <a:off x="609600" y="971550"/>
            <a:ext cx="10972800" cy="0"/>
          </a:xfrm>
          <a:prstGeom xmlns:a="http://schemas.openxmlformats.org/drawingml/2006/main" prst="line">
            <a:avLst/>
          </a:prstGeom>
          <a:noFill xmlns:a="http://schemas.openxmlformats.org/drawingml/2006/main"/>
          <a:ln xmlns:a="http://schemas.openxmlformats.org/drawingml/2006/main" w="9525">
            <a:solidFill>
              <a:srgbClr val="C8D3DA"/>
            </a:solidFill>
            <a:prstDash val="solid"/>
          </a:ln>
        </p:spPr>
      </p:sp>
      <p:sp>
        <p:nvSpPr>
          <p:cNvPr id="5" name="">
            <a:extLst xmlns:a="http://schemas.openxmlformats.org/drawingml/2006/main">
              <a:ext uri="{FF2B5EF4-FFF2-40B4-BE49-F238E27FC236}">
                <a16:creationId xmlns:a16="http://schemas.microsoft.com/office/drawing/2014/main" id="{FC24F66E-9FA0-4BE5-84E8-6E0B0238D184}"/>
              </a:ext>
            </a:extLst>
          </p:cNvPr>
          <p:cNvSpPr>
            <a:spLocks xmlns:a="http://schemas.openxmlformats.org/drawingml/2006/main" noGrp="1"/>
          </p:cNvSpPr>
          <p:nvPr/>
        </p:nvSpPr>
        <p:spPr>
          <a:xfrm xmlns:a="http://schemas.openxmlformats.org/drawingml/2006/main">
            <a:off x="781050" y="1390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C8C8C"/>
                </a:solidFill>
                <a:latin typeface="Segoe UI"/>
                <a:ea typeface="Segoe UI"/>
                <a:cs typeface="Segoe UI"/>
              </a:defRPr>
            </a:pPr>
            <a:r>
              <a:rPr sz="2100" b="1">
                <a:solidFill>
                  <a:srgbClr val="1C8C8C"/>
                </a:solidFill>
                <a:latin typeface="Segoe UI"/>
                <a:ea typeface="Segoe UI"/>
                <a:cs typeface="Segoe UI"/>
              </a:rPr>
              <a:t>H1: Small team sample</a:t>
            </a:r>
          </a:p>
        </p:txBody>
      </p:sp>
      <p:sp>
        <p:nvSpPr>
          <p:cNvPr id="6" name="">
            <a:extLst xmlns:a="http://schemas.openxmlformats.org/drawingml/2006/main">
              <a:ext uri="{FF2B5EF4-FFF2-40B4-BE49-F238E27FC236}">
                <a16:creationId xmlns:a16="http://schemas.microsoft.com/office/drawing/2014/main" id="{1E8FB1D2-5F92-4285-8017-53124257A113}"/>
              </a:ext>
            </a:extLst>
          </p:cNvPr>
          <p:cNvSpPr>
            <a:spLocks xmlns:a="http://schemas.openxmlformats.org/drawingml/2006/main" noGrp="1"/>
          </p:cNvSpPr>
          <p:nvPr/>
        </p:nvSpPr>
        <p:spPr>
          <a:xfrm xmlns:a="http://schemas.openxmlformats.org/drawingml/2006/main">
            <a:off x="781050" y="2038350"/>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Hedges’ g corrects standardized mean differences for small samples.</a:t>
            </a:r>
          </a:p>
          <a:p xmlns:a="http://schemas.openxmlformats.org/drawingml/2006/main">
            <a:r>
              <a:t/>
            </a:r>
          </a:p>
          <a:p xmlns:a="http://schemas.openxmlformats.org/drawingml/2006/main">
            <a:pPr algn="l">
              <a:lnSpc>
                <a:spcPct val="110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OLS models were limited to three main effects and one interaction. AICc penalized complexity more strongly than AIC.</a:t>
            </a:r>
          </a:p>
        </p:txBody>
      </p:sp>
      <p:sp>
        <p:nvSpPr>
          <p:cNvPr id="7" name="">
            <a:extLst xmlns:a="http://schemas.openxmlformats.org/drawingml/2006/main">
              <a:ext uri="{FF2B5EF4-FFF2-40B4-BE49-F238E27FC236}">
                <a16:creationId xmlns:a16="http://schemas.microsoft.com/office/drawing/2014/main" id="{1F6372BC-B950-4AFE-883D-0FC20CCFDFFB}"/>
              </a:ext>
            </a:extLst>
          </p:cNvPr>
          <p:cNvSpPr>
            <a:spLocks xmlns:a="http://schemas.openxmlformats.org/drawingml/2006/main" noGrp="1"/>
          </p:cNvSpPr>
          <p:nvPr/>
        </p:nvSpPr>
        <p:spPr>
          <a:xfrm xmlns:a="http://schemas.openxmlformats.org/drawingml/2006/main">
            <a:off x="6000750" y="1390650"/>
            <a:ext cx="0" cy="3162300"/>
          </a:xfrm>
          <a:prstGeom xmlns:a="http://schemas.openxmlformats.org/drawingml/2006/main" prst="line">
            <a:avLst/>
          </a:prstGeom>
          <a:noFill xmlns:a="http://schemas.openxmlformats.org/drawingml/2006/main"/>
          <a:ln xmlns:a="http://schemas.openxmlformats.org/drawingml/2006/main" w="19050">
            <a:solidFill>
              <a:srgbClr val="C8D3DA"/>
            </a:solidFill>
            <a:prstDash val="solid"/>
          </a:ln>
        </p:spPr>
      </p:sp>
      <p:sp>
        <p:nvSpPr>
          <p:cNvPr id="8" name="">
            <a:extLst xmlns:a="http://schemas.openxmlformats.org/drawingml/2006/main">
              <a:ext uri="{FF2B5EF4-FFF2-40B4-BE49-F238E27FC236}">
                <a16:creationId xmlns:a16="http://schemas.microsoft.com/office/drawing/2014/main" id="{ED2FCB01-CCEB-4B19-A9A0-52BA7E7A5131}"/>
              </a:ext>
            </a:extLst>
          </p:cNvPr>
          <p:cNvSpPr>
            <a:spLocks xmlns:a="http://schemas.openxmlformats.org/drawingml/2006/main" noGrp="1"/>
          </p:cNvSpPr>
          <p:nvPr/>
        </p:nvSpPr>
        <p:spPr>
          <a:xfrm xmlns:a="http://schemas.openxmlformats.org/drawingml/2006/main">
            <a:off x="6515100" y="1390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E76F51"/>
                </a:solidFill>
                <a:latin typeface="Segoe UI"/>
                <a:ea typeface="Segoe UI"/>
                <a:cs typeface="Segoe UI"/>
              </a:defRPr>
            </a:pPr>
            <a:r>
              <a:rPr sz="2100" b="1">
                <a:solidFill>
                  <a:srgbClr val="E76F51"/>
                </a:solidFill>
                <a:latin typeface="Segoe UI"/>
                <a:ea typeface="Segoe UI"/>
                <a:cs typeface="Segoe UI"/>
              </a:rPr>
              <a:t>H2: Repeated dyadic counts</a:t>
            </a:r>
          </a:p>
        </p:txBody>
      </p:sp>
      <p:sp>
        <p:nvSpPr>
          <p:cNvPr id="9" name="">
            <a:extLst xmlns:a="http://schemas.openxmlformats.org/drawingml/2006/main">
              <a:ext uri="{FF2B5EF4-FFF2-40B4-BE49-F238E27FC236}">
                <a16:creationId xmlns:a16="http://schemas.microsoft.com/office/drawing/2014/main" id="{B368F62A-3048-402D-A2CE-4DC0F9ADC3F4}"/>
              </a:ext>
            </a:extLst>
          </p:cNvPr>
          <p:cNvSpPr>
            <a:spLocks xmlns:a="http://schemas.openxmlformats.org/drawingml/2006/main" noGrp="1"/>
          </p:cNvSpPr>
          <p:nvPr/>
        </p:nvSpPr>
        <p:spPr>
          <a:xfrm xmlns:a="http://schemas.openxmlformats.org/drawingml/2006/main">
            <a:off x="6515100" y="2038350"/>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Negative binomial regression handled overdispersion in exposed-record counts.</a:t>
            </a:r>
          </a:p>
          <a:p xmlns:a="http://schemas.openxmlformats.org/drawingml/2006/main">
            <a:r>
              <a:t/>
            </a:r>
          </a:p>
          <a:p xmlns:a="http://schemas.openxmlformats.org/drawingml/2006/main">
            <a:pPr algn="l">
              <a:lnSpc>
                <a:spcPct val="110000"/>
              </a:lnSpc>
              <a:buNone/>
              <a:defRPr sz="1800" b="0">
                <a:solidFill>
                  <a:srgbClr val="172B3A"/>
                </a:solidFill>
                <a:latin typeface="Segoe UI"/>
                <a:ea typeface="Segoe UI"/>
                <a:cs typeface="Segoe UI"/>
              </a:defRPr>
            </a:pPr>
            <a:r>
              <a:rPr sz="1800" b="0">
                <a:solidFill>
                  <a:srgbClr val="172B3A"/>
                </a:solidFill>
                <a:latin typeface="Segoe UI"/>
                <a:ea typeface="Segoe UI"/>
                <a:cs typeface="Segoe UI"/>
              </a:rPr>
              <a:t>Two-way clustered standard errors accounted for repeated attacks by the same team and repeated attacks against the same victim.</a:t>
            </a:r>
          </a:p>
        </p:txBody>
      </p:sp>
      <p:sp>
        <p:nvSpPr>
          <p:cNvPr id="10" name="">
            <a:extLst xmlns:a="http://schemas.openxmlformats.org/drawingml/2006/main">
              <a:ext uri="{FF2B5EF4-FFF2-40B4-BE49-F238E27FC236}">
                <a16:creationId xmlns:a16="http://schemas.microsoft.com/office/drawing/2014/main" id="{B03719C5-0F8D-4FE2-9F07-ACFF89556528}"/>
              </a:ext>
            </a:extLst>
          </p:cNvPr>
          <p:cNvSpPr>
            <a:spLocks xmlns:a="http://schemas.openxmlformats.org/drawingml/2006/main" noGrp="1"/>
          </p:cNvSpPr>
          <p:nvPr/>
        </p:nvSpPr>
        <p:spPr>
          <a:xfrm xmlns:a="http://schemas.openxmlformats.org/drawingml/2006/main">
            <a:off x="1409700" y="5048250"/>
            <a:ext cx="9372600" cy="781050"/>
          </a:xfrm>
          <a:prstGeom xmlns:a="http://schemas.openxmlformats.org/drawingml/2006/main" prst="roundRect">
            <a:avLst>
              <a:gd name="adj" fmla="val 17073"/>
            </a:avLst>
          </a:prstGeom>
          <a:solidFill xmlns:a="http://schemas.openxmlformats.org/drawingml/2006/main">
            <a:srgbClr val="F5F7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E7CA3A1-2201-40F7-82F5-9AE95E9500C6}"/>
              </a:ext>
            </a:extLst>
          </p:cNvPr>
          <p:cNvSpPr>
            <a:spLocks xmlns:a="http://schemas.openxmlformats.org/drawingml/2006/main" noGrp="1"/>
          </p:cNvSpPr>
          <p:nvPr/>
        </p:nvSpPr>
        <p:spPr>
          <a:xfrm xmlns:a="http://schemas.openxmlformats.org/drawingml/2006/main">
            <a:off x="1676400" y="5238750"/>
            <a:ext cx="8839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725" b="1">
                <a:solidFill>
                  <a:srgbClr val="102A43"/>
                </a:solidFill>
                <a:latin typeface="Segoe UI"/>
                <a:ea typeface="Segoe UI"/>
                <a:cs typeface="Segoe UI"/>
              </a:defRPr>
            </a:pPr>
            <a:r>
              <a:rPr sz="1725" b="1">
                <a:solidFill>
                  <a:srgbClr val="102A43"/>
                </a:solidFill>
                <a:latin typeface="Segoe UI"/>
                <a:ea typeface="Segoe UI"/>
                <a:cs typeface="Segoe UI"/>
              </a:rPr>
              <a:t>Interpretation remains diagnostic: neither model establishes causality or out-of-sample validity</a:t>
            </a:r>
          </a:p>
        </p:txBody>
      </p:sp>
      <p:sp>
        <p:nvSpPr>
          <p:cNvPr id="12" name="">
            <a:extLst xmlns:a="http://schemas.openxmlformats.org/drawingml/2006/main">
              <a:ext uri="{FF2B5EF4-FFF2-40B4-BE49-F238E27FC236}">
                <a16:creationId xmlns:a16="http://schemas.microsoft.com/office/drawing/2014/main" id="{8C67C8ED-7676-4403-8F3F-5C9D648E047A}"/>
              </a:ext>
            </a:extLst>
          </p:cNvPr>
          <p:cNvSpPr>
            <a:spLocks xmlns:a="http://schemas.openxmlformats.org/drawingml/2006/main" noGrp="1"/>
          </p:cNvSpPr>
          <p:nvPr/>
        </p:nvSpPr>
        <p:spPr>
          <a:xfrm xmlns:a="http://schemas.openxmlformats.org/drawingml/2006/main">
            <a:off x="609600" y="65055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708390"/>
                </a:solidFill>
                <a:latin typeface="Segoe UI"/>
                <a:ea typeface="Segoe UI"/>
                <a:cs typeface="Segoe UI"/>
              </a:defRPr>
            </a:pPr>
            <a:r>
              <a:rPr sz="900" b="0">
                <a:solidFill>
                  <a:srgbClr val="708390"/>
                </a:solidFill>
                <a:latin typeface="Segoe UI"/>
                <a:ea typeface="Segoe UI"/>
                <a:cs typeface="Segoe UI"/>
              </a:rPr>
              <a:t>Appendix, source: paper Sections 3.3–3.4</a:t>
            </a:r>
          </a:p>
        </p:txBody>
      </p:sp>
    </p:spTree>
    <p:extLst>
      <p:ext uri="{BB962C8B-B14F-4D97-AF65-F5344CB8AC3E}">
        <p14:creationId xmlns:p14="http://schemas.microsoft.com/office/powerpoint/2010/main" val="927802620"/>
      </p:ext>
    </p:extLst>
  </p:cSld>
</p:sld>
</file>

<file path=ppt/theme/theme1.xml><?xml version="1.0" encoding="utf-8"?>
<a:theme xmlns:a="http://schemas.openxmlformats.org/drawingml/2006/main" name="ChatGPT">
  <a:themeElements>
    <a:clrScheme name="PSD Academic">
      <a:dk1>
        <a:srgbClr val="000000"/>
      </a:dk1>
      <a:lt1>
        <a:srgbClr val="FFFFFF"/>
      </a:lt1>
      <a:dk2>
        <a:srgbClr val="102A43"/>
      </a:dk2>
      <a:lt2>
        <a:srgbClr val="C8D3DA"/>
      </a:lt2>
      <a:accent1>
        <a:srgbClr val="1C8C8C"/>
      </a:accent1>
      <a:accent2>
        <a:srgbClr val="E76F51"/>
      </a:accent2>
      <a:accent3>
        <a:srgbClr val="E9B949"/>
      </a:accent3>
      <a:accent4>
        <a:srgbClr val="2A9D6F"/>
      </a:accent4>
      <a:accent5>
        <a:srgbClr val="163A5F"/>
      </a:accent5>
      <a:accent6>
        <a:srgbClr val="7A6F9B"/>
      </a:accent6>
      <a:hlink>
        <a:srgbClr val="1666B1"/>
      </a:hlink>
      <a:folHlink>
        <a:srgbClr val="6B4EA0"/>
      </a:folHlink>
    </a:clrScheme>
    <a:fontScheme name="Office">
      <a:majorFont>
        <a:latin typeface="Calibri Light"/>
        <a:ea typeface="Calibri Light"/>
        <a:cs typeface="Calibri Light"/>
      </a:majorFont>
      <a:minorFont>
        <a:latin typeface="Calibri"/>
        <a:ea typeface="Calibri"/>
        <a:cs typeface="Calibri"/>
      </a:minorFont>
    </a:fontScheme>
    <a:fmtScheme name="PSD 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2026-09-04T08:51:35.7110000Z</dcterms:created>
  <dcterms:modified xsi:type="dcterms:W3CDTF">2026-09-04T08:51:35.7110000Z</dcterms:modified>
</coreProperties>
</file>