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d1b4d036214b4d3d" /><Relationship Type="http://schemas.openxmlformats.org/officeDocument/2006/relationships/extended-properties" Target="/docProps/app.xml" Id="R03ea5a7421264ffe" /><Relationship Type="http://schemas.openxmlformats.org/officeDocument/2006/relationships/officeDocument" Target="/ppt/presentation.xml" Id="R339ce8a25985430d" /></Relationships>
</file>

<file path=ppt/presentation.xml><?xml version="1.0" encoding="utf-8"?>
<p:presentation xmlns:p="http://schemas.openxmlformats.org/presentationml/2006/main">
  <p:sldMasterIdLst>
    <p:sldMasterId xmlns:r="http://schemas.openxmlformats.org/officeDocument/2006/relationships" id="2147483648" r:id="R7b460dff773e4299"/>
  </p:sldMasterIdLst>
  <p:notesMasterIdLst>
    <p:notesMasterId xmlns:r="http://schemas.openxmlformats.org/officeDocument/2006/relationships" r:id="R3db2dde6a7284f43"/>
  </p:notesMasterIdLst>
  <p:sldIdLst>
    <p:sldId xmlns:r="http://schemas.openxmlformats.org/officeDocument/2006/relationships" id="256" r:id="Rf3774789272f421f"/>
    <p:sldId xmlns:r="http://schemas.openxmlformats.org/officeDocument/2006/relationships" id="257" r:id="Rb266262eb57b48cd"/>
    <p:sldId xmlns:r="http://schemas.openxmlformats.org/officeDocument/2006/relationships" id="258" r:id="R8dd68b9b74ea4cf2"/>
    <p:sldId xmlns:r="http://schemas.openxmlformats.org/officeDocument/2006/relationships" id="259" r:id="R8758b83f4d9c4181"/>
    <p:sldId xmlns:r="http://schemas.openxmlformats.org/officeDocument/2006/relationships" id="260" r:id="Red375c1c520d42c0"/>
    <p:sldId xmlns:r="http://schemas.openxmlformats.org/officeDocument/2006/relationships" id="261" r:id="R8bef057ade4d43a6"/>
    <p:sldId xmlns:r="http://schemas.openxmlformats.org/officeDocument/2006/relationships" id="262" r:id="R9928eaa6082245b5"/>
    <p:sldId xmlns:r="http://schemas.openxmlformats.org/officeDocument/2006/relationships" id="263" r:id="R7ae35b57a66a4b92"/>
    <p:sldId xmlns:r="http://schemas.openxmlformats.org/officeDocument/2006/relationships" id="264" r:id="R4b001d8248814694"/>
    <p:sldId xmlns:r="http://schemas.openxmlformats.org/officeDocument/2006/relationships" id="265" r:id="Ra120fe8f35e34b5d"/>
    <p:sldId xmlns:r="http://schemas.openxmlformats.org/officeDocument/2006/relationships" id="266" r:id="Rd2df1ecfac374581"/>
    <p:sldId xmlns:r="http://schemas.openxmlformats.org/officeDocument/2006/relationships" id="267" r:id="Rae1890c73efe46b9"/>
    <p:sldId xmlns:r="http://schemas.openxmlformats.org/officeDocument/2006/relationships" id="268" r:id="R7eeacd49dff24559"/>
    <p:sldId xmlns:r="http://schemas.openxmlformats.org/officeDocument/2006/relationships" id="269" r:id="R43a3204bf5724019"/>
    <p:sldId xmlns:r="http://schemas.openxmlformats.org/officeDocument/2006/relationships" id="270" r:id="R066a8bce0867426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499d1f7b01d4522" /><Relationship Type="http://schemas.openxmlformats.org/officeDocument/2006/relationships/slideMaster" Target="/ppt/slideMasters/slideMaster1.xml" Id="R7b460dff773e4299" /><Relationship Type="http://schemas.openxmlformats.org/officeDocument/2006/relationships/notesMaster" Target="/ppt/notesMasters/notesMaster1.xml" Id="R3db2dde6a7284f43" /><Relationship Type="http://schemas.openxmlformats.org/officeDocument/2006/relationships/presProps" Target="/ppt/presProps.xml" Id="R726f9df97c2c4038" /><Relationship Type="http://schemas.openxmlformats.org/officeDocument/2006/relationships/tableStyles" Target="/ppt/tableStyles.xml" Id="Ra052d9465ff5416a" /><Relationship Type="http://schemas.openxmlformats.org/officeDocument/2006/relationships/slide" Target="/ppt/slides/slide1.xml" Id="Rf3774789272f421f" /><Relationship Type="http://schemas.openxmlformats.org/officeDocument/2006/relationships/slide" Target="/ppt/slides/slide2.xml" Id="Rb266262eb57b48cd" /><Relationship Type="http://schemas.openxmlformats.org/officeDocument/2006/relationships/slide" Target="/ppt/slides/slide3.xml" Id="R8dd68b9b74ea4cf2" /><Relationship Type="http://schemas.openxmlformats.org/officeDocument/2006/relationships/slide" Target="/ppt/slides/slide4.xml" Id="R8758b83f4d9c4181" /><Relationship Type="http://schemas.openxmlformats.org/officeDocument/2006/relationships/slide" Target="/ppt/slides/slide5.xml" Id="Red375c1c520d42c0" /><Relationship Type="http://schemas.openxmlformats.org/officeDocument/2006/relationships/slide" Target="/ppt/slides/slide6.xml" Id="R8bef057ade4d43a6" /><Relationship Type="http://schemas.openxmlformats.org/officeDocument/2006/relationships/slide" Target="/ppt/slides/slide7.xml" Id="R9928eaa6082245b5" /><Relationship Type="http://schemas.openxmlformats.org/officeDocument/2006/relationships/slide" Target="/ppt/slides/slide8.xml" Id="R7ae35b57a66a4b92" /><Relationship Type="http://schemas.openxmlformats.org/officeDocument/2006/relationships/slide" Target="/ppt/slides/slide9.xml" Id="R4b001d8248814694" /><Relationship Type="http://schemas.openxmlformats.org/officeDocument/2006/relationships/slide" Target="/ppt/slides/slide10.xml" Id="Ra120fe8f35e34b5d" /><Relationship Type="http://schemas.openxmlformats.org/officeDocument/2006/relationships/slide" Target="/ppt/slides/slide11.xml" Id="Rd2df1ecfac374581" /><Relationship Type="http://schemas.openxmlformats.org/officeDocument/2006/relationships/slide" Target="/ppt/slides/slide12.xml" Id="Rae1890c73efe46b9" /><Relationship Type="http://schemas.openxmlformats.org/officeDocument/2006/relationships/slide" Target="/ppt/slides/slide13.xml" Id="R7eeacd49dff24559" /><Relationship Type="http://schemas.openxmlformats.org/officeDocument/2006/relationships/slide" Target="/ppt/slides/slide14.xml" Id="R43a3204bf5724019" /><Relationship Type="http://schemas.openxmlformats.org/officeDocument/2006/relationships/slide" Target="/ppt/slides/slide15.xml" Id="R066a8bce0867426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fb039cab9de427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c49b2c7e3bd4a24" /><Relationship Type="http://schemas.openxmlformats.org/officeDocument/2006/relationships/notesMaster" Target="/ppt/notesMasters/notesMaster1.xml" Id="R35818d8275214497" /></Relationships>
</file>

<file path=ppt/notesSlides/_rels/notesSlide2.xml.rels>&#65279;<?xml version="1.0" encoding="utf-8"?><Relationships xmlns="http://schemas.openxmlformats.org/package/2006/relationships"><Relationship Type="http://schemas.openxmlformats.org/officeDocument/2006/relationships/slide" Target="/ppt/slides/slide2.xml" Id="R5fddd6ad965d47e1" /><Relationship Type="http://schemas.openxmlformats.org/officeDocument/2006/relationships/notesMaster" Target="/ppt/notesMasters/notesMaster1.xml" Id="R9ade3f54f9a34753" /></Relationships>
</file>

<file path=ppt/notesSlides/_rels/notesSlide3.xml.rels>&#65279;<?xml version="1.0" encoding="utf-8"?><Relationships xmlns="http://schemas.openxmlformats.org/package/2006/relationships"><Relationship Type="http://schemas.openxmlformats.org/officeDocument/2006/relationships/slide" Target="/ppt/slides/slide3.xml" Id="R68b1c14b3a5f4b8f" /><Relationship Type="http://schemas.openxmlformats.org/officeDocument/2006/relationships/notesMaster" Target="/ppt/notesMasters/notesMaster1.xml" Id="R0b12036320034a8f" /></Relationships>
</file>

<file path=ppt/notesSlides/_rels/notesSlide4.xml.rels>&#65279;<?xml version="1.0" encoding="utf-8"?><Relationships xmlns="http://schemas.openxmlformats.org/package/2006/relationships"><Relationship Type="http://schemas.openxmlformats.org/officeDocument/2006/relationships/slide" Target="/ppt/slides/slide4.xml" Id="R4321446ed69b402c" /><Relationship Type="http://schemas.openxmlformats.org/officeDocument/2006/relationships/notesMaster" Target="/ppt/notesMasters/notesMaster1.xml" Id="R8813369793cd43af" /></Relationships>
</file>

<file path=ppt/notesSlides/_rels/notesSlide5.xml.rels>&#65279;<?xml version="1.0" encoding="utf-8"?><Relationships xmlns="http://schemas.openxmlformats.org/package/2006/relationships"><Relationship Type="http://schemas.openxmlformats.org/officeDocument/2006/relationships/slide" Target="/ppt/slides/slide5.xml" Id="R0a25403630ce47cb" /><Relationship Type="http://schemas.openxmlformats.org/officeDocument/2006/relationships/notesMaster" Target="/ppt/notesMasters/notesMaster1.xml" Id="R9d9217dcfffa4d61" /></Relationships>
</file>

<file path=ppt/notesSlides/_rels/notesSlide6.xml.rels>&#65279;<?xml version="1.0" encoding="utf-8"?><Relationships xmlns="http://schemas.openxmlformats.org/package/2006/relationships"><Relationship Type="http://schemas.openxmlformats.org/officeDocument/2006/relationships/slide" Target="/ppt/slides/slide6.xml" Id="Rec159fcf4c6a4a29" /><Relationship Type="http://schemas.openxmlformats.org/officeDocument/2006/relationships/notesMaster" Target="/ppt/notesMasters/notesMaster1.xml" Id="R2fe03481d724441a" /></Relationships>
</file>

<file path=ppt/notesSlides/_rels/notesSlide7.xml.rels>&#65279;<?xml version="1.0" encoding="utf-8"?><Relationships xmlns="http://schemas.openxmlformats.org/package/2006/relationships"><Relationship Type="http://schemas.openxmlformats.org/officeDocument/2006/relationships/slide" Target="/ppt/slides/slide7.xml" Id="R54821ced83ee4f51" /><Relationship Type="http://schemas.openxmlformats.org/officeDocument/2006/relationships/notesMaster" Target="/ppt/notesMasters/notesMaster1.xml" Id="R5017e9cd77d74871" /></Relationships>
</file>

<file path=ppt/notesSlides/_rels/notesSlide8.xml.rels>&#65279;<?xml version="1.0" encoding="utf-8"?><Relationships xmlns="http://schemas.openxmlformats.org/package/2006/relationships"><Relationship Type="http://schemas.openxmlformats.org/officeDocument/2006/relationships/slide" Target="/ppt/slides/slide8.xml" Id="R0ebaed06a17b4d49" /><Relationship Type="http://schemas.openxmlformats.org/officeDocument/2006/relationships/notesMaster" Target="/ppt/notesMasters/notesMaster1.xml" Id="Re79e01f01a414ce7" /></Relationships>
</file>

<file path=ppt/notesSlides/_rels/notesSlide9.xml.rels>&#65279;<?xml version="1.0" encoding="utf-8"?><Relationships xmlns="http://schemas.openxmlformats.org/package/2006/relationships"><Relationship Type="http://schemas.openxmlformats.org/officeDocument/2006/relationships/slide" Target="/ppt/slides/slide9.xml" Id="R2234fc4baa874906" /><Relationship Type="http://schemas.openxmlformats.org/officeDocument/2006/relationships/notesMaster" Target="/ppt/notesMasters/notesMaster1.xml" Id="Ra16cdda8db1e42c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f611ce09962436d" /><Relationship Type="http://schemas.openxmlformats.org/officeDocument/2006/relationships/notesMaster" Target="/ppt/notesMasters/notesMaster1.xml" Id="Rdaee1469d8c3410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72241c4cd154290" /><Relationship Type="http://schemas.openxmlformats.org/officeDocument/2006/relationships/notesMaster" Target="/ppt/notesMasters/notesMaster1.xml" Id="Rd032def81a5c475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d56aced83344604" /><Relationship Type="http://schemas.openxmlformats.org/officeDocument/2006/relationships/notesMaster" Target="/ppt/notesMasters/notesMaster1.xml" Id="R38e6b102ffd040a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f36dbbedc114cf9" /><Relationship Type="http://schemas.openxmlformats.org/officeDocument/2006/relationships/notesMaster" Target="/ppt/notesMasters/notesMaster1.xml" Id="Rc4ecb01ea92342a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bfb78f77803431d" /><Relationship Type="http://schemas.openxmlformats.org/officeDocument/2006/relationships/notesMaster" Target="/ppt/notesMasters/notesMaster1.xml" Id="R7ccbe88f503f42b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492b44dc55d4e07" /><Relationship Type="http://schemas.openxmlformats.org/officeDocument/2006/relationships/notesMaster" Target="/ppt/notesMasters/notesMaster1.xml" Id="R19fafe56ee13432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目安：30秒</a:t>
            </a:r>
          </a:p>
          <a:p xmlns:a="http://schemas.openxmlformats.org/drawingml/2006/main">
            <a:r>
              <a:t/>
            </a:r>
          </a:p>
          <a:p xmlns:a="http://schemas.openxmlformats.org/drawingml/2006/main">
            <a:r>
              <a:t>問いを置いたら一拍おき、実話へ進む。所属・共著者は画面を読み切らず簡潔に。</a:t>
            </a:r>
          </a:p>
          <a:p xmlns:a="http://schemas.openxmlformats.org/drawingml/2006/main">
            <a:r>
              <a:t/>
            </a:r>
          </a:p>
          <a:p xmlns:a="http://schemas.openxmlformats.org/drawingml/2006/main">
            <a:r>
              <a:t>English speaking cue</a:t>
            </a:r>
          </a:p>
          <a:p xmlns:a="http://schemas.openxmlformats.org/drawingml/2006/main">
            <a:r>
              <a:t>Good afternoon. I am Hinata Kikuchi from the Institute of Statistical Mathematics. This is joint work with Hajime Ono and Kazuhiro Minami. Today, I want to ask one question: how much can we learn when we can see the outcome, but not exactly how the method worked? Let me start with a real story.</a:t>
            </a:r>
          </a:p>
          <a:p xmlns:a="http://schemas.openxmlformats.org/drawingml/2006/main">
            <a:r>
              <a:t/>
            </a:r>
          </a:p>
          <a:p xmlns:a="http://schemas.openxmlformats.org/drawingml/2006/main">
            <a:r>
              <a:t>Sources</a:t>
            </a:r>
          </a:p>
          <a:p xmlns:a="http://schemas.openxmlformats.org/drawingml/2006/main">
            <a:r>
              <a:t>PWSCUP2025_REVIEW_PUB/paper/main.tex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目安：60秒</a:t>
            </a:r>
          </a:p>
          <a:p xmlns:a="http://schemas.openxmlformats.org/drawingml/2006/main">
            <a:r>
              <a:t/>
            </a:r>
          </a:p>
          <a:p xmlns:a="http://schemas.openxmlformats.org/drawingml/2006/main">
            <a:r>
              <a:t>時系列を左から右へ。Netflixはデータ公開の事例であり、コード非公開の原因を実証する例ではない。</a:t>
            </a:r>
          </a:p>
          <a:p xmlns:a="http://schemas.openxmlformats.org/drawingml/2006/main">
            <a:r>
              <a:t/>
            </a:r>
          </a:p>
          <a:p xmlns:a="http://schemas.openxmlformats.org/drawingml/2006/main">
            <a:r>
              <a:t>English speaking cue</a:t>
            </a:r>
          </a:p>
          <a:p xmlns:a="http://schemas.openxmlformats.org/drawingml/2006/main">
            <a:r>
              <a:t>In 2006, Netflix launched the Netflix Prize. To improve recommendations, it released movie ratings from about half a million subscribers, with direct identifiers removed. Narayanan and Shmatikov showed that some records could be linked to individuals using public information, such as ratings on IMDb. Netflix later planned a second competition with richer data. The Federal Trade Commission raised concerns about re-identification, and Netflix subsequently suspended those plans. This illustrates a tension: data disclosure helps research, but can also create privacy risks. Our study concerns a different information gap: limited access to implementation details. What can researchers learn when those details are unavailable?</a:t>
            </a:r>
          </a:p>
          <a:p xmlns:a="http://schemas.openxmlformats.org/drawingml/2006/main">
            <a:r>
              <a:t/>
            </a:r>
          </a:p>
          <a:p xmlns:a="http://schemas.openxmlformats.org/drawingml/2006/main">
            <a:r>
              <a:t>Sources</a:t>
            </a:r>
          </a:p>
          <a:p xmlns:a="http://schemas.openxmlformats.org/drawingml/2006/main">
            <a:r>
              <a:t>https://arxiv.org/abs/cs/0610105</a:t>
            </a:r>
          </a:p>
          <a:p xmlns:a="http://schemas.openxmlformats.org/drawingml/2006/main">
            <a:r>
              <a:t>https://www.ftc.gov/sites/default/files/documents/closing_letters/netflix-inc./100312netflixletter.pdf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目安：45秒</a:t>
            </a:r>
          </a:p>
          <a:p xmlns:a="http://schemas.openxmlformats.org/drawingml/2006/main">
            <a:r>
              <a:t/>
            </a:r>
          </a:p>
          <a:p xmlns:a="http://schemas.openxmlformats.org/drawingml/2006/main">
            <a:r>
              <a:t>観測できるものと欠けているものを対比し、因果ではなく仮説形成へ目的を限定する。</a:t>
            </a:r>
          </a:p>
          <a:p xmlns:a="http://schemas.openxmlformats.org/drawingml/2006/main">
            <a:r>
              <a:t/>
            </a:r>
          </a:p>
          <a:p xmlns:a="http://schemas.openxmlformats.org/drawingml/2006/main">
            <a:r>
              <a:t>English speaking cue</a:t>
            </a:r>
          </a:p>
          <a:p xmlns:a="http://schemas.openxmlformats.org/drawingml/2006/main">
            <a:r>
              <a:t>We can observe what happened. We may also know the broad family of anonymization or attack that was used. But we may not know the parameters, see the full implementation, or have the source code. Can we still extract meaningful knowledge from outcomes and type-level descriptions? This information alone cannot establish causal effects. But it may reveal patterns and help formulate useful hypotheses. To explore that possibility, we studied PWS Cup 2025.</a:t>
            </a:r>
          </a:p>
          <a:p xmlns:a="http://schemas.openxmlformats.org/drawingml/2006/main">
            <a:r>
              <a:t/>
            </a:r>
          </a:p>
          <a:p xmlns:a="http://schemas.openxmlformats.org/drawingml/2006/main">
            <a:r>
              <a:t>Sources</a:t>
            </a:r>
          </a:p>
          <a:p xmlns:a="http://schemas.openxmlformats.org/drawingml/2006/main">
            <a:r>
              <a:t>PWSCUP2025_REVIEW_PUB/paper/main.tex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目安：75秒</a:t>
            </a:r>
          </a:p>
          <a:p xmlns:a="http://schemas.openxmlformats.org/drawingml/2006/main">
            <a:r>
              <a:t/>
            </a:r>
          </a:p>
          <a:p xmlns:a="http://schemas.openxmlformats.org/drawingml/2006/main">
            <a:r>
              <a:t>ルール説明を約半分、共通評価とコード公開2チームという研究上の利点を残り半分に配分。</a:t>
            </a:r>
          </a:p>
          <a:p xmlns:a="http://schemas.openxmlformats.org/drawingml/2006/main">
            <a:r>
              <a:t/>
            </a:r>
          </a:p>
          <a:p xmlns:a="http://schemas.openxmlformats.org/drawingml/2006/main">
            <a:r>
              <a:t>English speaking cue</a:t>
            </a:r>
          </a:p>
          <a:p xmlns:a="http://schemas.openxmlformats.org/drawingml/2006/main">
            <a:r>
              <a:t>PWS Cup is an anonymization and attack competition held in Japan since 2015. The 2025 challenge used synthetic health records. As defenders, teams received a hidden sample and released an anonymized dataset and an XGBoost model for stroke-risk prediction. As attackers, they tried to infer which population records belonged to another team's hidden sample. This gives us utility scores, anonymization scores, and pairwise attack outcomes under a common evaluation framework. There is also a useful information gap. Posters and short talks described the strategies, but code release was optional. Only two of the twenty-four teams released code. So the implementations were mostly unavailable, while the outcomes were comparable. That combination makes this competition a useful case for our question.</a:t>
            </a:r>
          </a:p>
          <a:p xmlns:a="http://schemas.openxmlformats.org/drawingml/2006/main">
            <a:r>
              <a:t/>
            </a:r>
          </a:p>
          <a:p xmlns:a="http://schemas.openxmlformats.org/drawingml/2006/main">
            <a:r>
              <a:t>Sources</a:t>
            </a:r>
          </a:p>
          <a:p xmlns:a="http://schemas.openxmlformats.org/drawingml/2006/main">
            <a:r>
              <a:t>PWSCUP2025_REVIEW_PUB/paper/main.tex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目安：65秒</a:t>
            </a:r>
          </a:p>
          <a:p xmlns:a="http://schemas.openxmlformats.org/drawingml/2006/main">
            <a:r>
              <a:t/>
            </a:r>
          </a:p>
          <a:p xmlns:a="http://schemas.openxmlformats.org/drawingml/2006/main">
            <a:r>
              <a:t>24から20への絞り込みと、H1はチーム単位、H2は対戦ペア単位という違いを説明。</a:t>
            </a:r>
          </a:p>
          <a:p xmlns:a="http://schemas.openxmlformats.org/drawingml/2006/main">
            <a:r>
              <a:t/>
            </a:r>
          </a:p>
          <a:p xmlns:a="http://schemas.openxmlformats.org/drawingml/2006/main">
            <a:r>
              <a:t>English speaking cue</a:t>
            </a:r>
          </a:p>
          <a:p xmlns:a="http://schemas.openxmlformats.org/drawingml/2006/main">
            <a:r>
              <a:t>We reconstructed strategy descriptions from posters and short presentations. Twenty teams provided enough information to code categorical features. These included whether a team used the supplied sample as its base, used synthesis, added noise, or applied optimization. Attack features included use of the released model and training an attacker's own scoring model. We retained features present in at least four teams. We then asked two questions. H1: were generation- and reconstruction-based designs associated with better utility and anonymization? H2: did disclosure depend on the combination of defender and attacker strategies? For H1, we used effect sizes and sparse regressions across twenty teams. For H2, we analyzed 361 ordered attacker–victim pairs.</a:t>
            </a:r>
          </a:p>
          <a:p xmlns:a="http://schemas.openxmlformats.org/drawingml/2006/main">
            <a:r>
              <a:t/>
            </a:r>
          </a:p>
          <a:p xmlns:a="http://schemas.openxmlformats.org/drawingml/2006/main">
            <a:r>
              <a:t>Sources</a:t>
            </a:r>
          </a:p>
          <a:p xmlns:a="http://schemas.openxmlformats.org/drawingml/2006/main">
            <a:r>
              <a:t>PWSCUP2025_REVIEW_PUB/paper/main.tex</a:t>
            </a:r>
          </a:p>
          <a:p xmlns:a="http://schemas.openxmlformats.org/drawingml/2006/main">
            <a:r>
              <a:t>PWSCUP2025_REVIEW_PUB/Final_0521.csv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目安：85秒</a:t>
            </a:r>
          </a:p>
          <a:p xmlns:a="http://schemas.openxmlformats.org/drawingml/2006/main">
            <a:r>
              <a:t/>
            </a:r>
          </a:p>
          <a:p xmlns:a="http://schemas.openxmlformats.org/drawingml/2006/main">
            <a:r>
              <a:t>橙＝有用性、青＝匿名化。BaseとSynthesisを主図とし、他3特徴の数値は質疑用へ。</a:t>
            </a:r>
          </a:p>
          <a:p xmlns:a="http://schemas.openxmlformats.org/drawingml/2006/main">
            <a:r>
              <a:t/>
            </a:r>
          </a:p>
          <a:p xmlns:a="http://schemas.openxmlformats.org/drawingml/2006/main">
            <a:r>
              <a:t>English speaking cue</a:t>
            </a:r>
          </a:p>
          <a:p xmlns:a="http://schemas.openxmlformats.org/drawingml/2006/main">
            <a:r>
              <a:t>Here is the first result. Orange is utility, and blue is anonymization. The effect size is Hedges' g. Positive values favor the second category in each comparison. Start with the base: teams using an alternative to directly transforming the provided sample had higher utility, with an effect size of 1.55. Now look at synthesis. It was associated with higher utility, at 1.26, and higher anonymization, at 1.01. In the remaining comparisons, explicit noise was negatively associated with both outcomes. Swapping had almost no utility difference, but a positive anonymization association. Sparse regressions selected by AICc retained parts of the same pattern. These models are an exploratory check, not independent confirmation. With only twenty teams and correlated design choices, we interpret these as associations within this contest. The next question is whether those patterns depend on the attack strategy.</a:t>
            </a:r>
          </a:p>
          <a:p xmlns:a="http://schemas.openxmlformats.org/drawingml/2006/main">
            <a:r>
              <a:t/>
            </a:r>
          </a:p>
          <a:p xmlns:a="http://schemas.openxmlformats.org/drawingml/2006/main">
            <a:r>
              <a:t>Sources</a:t>
            </a:r>
          </a:p>
          <a:p xmlns:a="http://schemas.openxmlformats.org/drawingml/2006/main">
            <a:r>
              <a:t>PWSCUP2025_REVIEW_PUB/paper/main.tex</a:t>
            </a:r>
          </a:p>
          <a:p xmlns:a="http://schemas.openxmlformats.org/drawingml/2006/main">
            <a:r>
              <a:t>PWSCUP2025_REVIEW_PUB/Final_0521.csv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目安：90秒</a:t>
            </a:r>
          </a:p>
          <a:p xmlns:a="http://schemas.openxmlformats.org/drawingml/2006/main">
            <a:r>
              <a:t/>
            </a:r>
          </a:p>
          <a:p xmlns:a="http://schemas.openxmlformats.org/drawingml/2006/main">
            <a:r>
              <a:t>IRRの分母は各モデル固有の基準。全特徴がない共通集団ではない。攻撃者学習モデルとの交互作用は推論不能。</a:t>
            </a:r>
          </a:p>
          <a:p xmlns:a="http://schemas.openxmlformats.org/drawingml/2006/main">
            <a:r>
              <a:t/>
            </a:r>
          </a:p>
          <a:p xmlns:a="http://schemas.openxmlformats.org/drawingml/2006/main">
            <a:r>
              <a:t>English speaking cue</a:t>
            </a:r>
          </a:p>
          <a:p xmlns:a="http://schemas.openxmlformats.org/drawingml/2006/main">
            <a:r>
              <a:t>For H2, we analyzed the number of records exposed in each of 361 ordered attacker–victim pairs. An incidence rate ratio, or IRR, below one means fewer expected exposed records relative to that model's reference. Across the models, the four victim-side features had IRRs from 0.63 to 0.75: about 25 to 37 percent lower expected exposure. The table focuses on attackers that also used the released model. Their interactions with victim features were above one. But the combined effects, including both main effects and the interaction, remained below one, from 0.61 to 0.70. So the pairing mattered, while the estimated victim-side advantage persisted. Each row has its own model-specific reference; these are not comparisons with one common group lacking all four features. For attacker-trained scoring models, the clustered standard errors of the interactions could not be estimated. We therefore cannot conclude that those interactions are absent. Overall, H2 receives partial support.</a:t>
            </a:r>
          </a:p>
          <a:p xmlns:a="http://schemas.openxmlformats.org/drawingml/2006/main">
            <a:r>
              <a:t/>
            </a:r>
          </a:p>
          <a:p xmlns:a="http://schemas.openxmlformats.org/drawingml/2006/main">
            <a:r>
              <a:t>Sources</a:t>
            </a:r>
          </a:p>
          <a:p xmlns:a="http://schemas.openxmlformats.org/drawingml/2006/main">
            <a:r>
              <a:t>PWSCUP2025_REVIEW_PUB/paper/main.tex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目安：50秒</a:t>
            </a:r>
          </a:p>
          <a:p xmlns:a="http://schemas.openxmlformats.org/drawingml/2006/main">
            <a:r>
              <a:t/>
            </a:r>
          </a:p>
          <a:p xmlns:a="http://schemas.openxmlformats.org/drawingml/2006/main">
            <a:r>
              <a:t>一つのsynthetic populationとは言わず、一つの競技・データ生成・評価設定とする。</a:t>
            </a:r>
          </a:p>
          <a:p xmlns:a="http://schemas.openxmlformats.org/drawingml/2006/main">
            <a:r>
              <a:t/>
            </a:r>
          </a:p>
          <a:p xmlns:a="http://schemas.openxmlformats.org/drawingml/2006/main">
            <a:r>
              <a:t>English speaking cue</a:t>
            </a:r>
          </a:p>
          <a:p xmlns:a="http://schemas.openxmlformats.org/drawingml/2006/main">
            <a:r>
              <a:t>These results have clear limits. We observed twenty teams; their strategies were not randomly assigned. Our categories describe method families, rather than exact parameters or implementations. And all results come from one competition, with its particular data-generation and scoring framework. We therefore cannot claim that synthetic data is universally better, or that these defenses are safe against every attack. What we have are exploratory patterns from PWS Cup 2025. But remember our starting question. Even with incomplete information, we moved from broad descriptions to specific, quantitative hypotheses that future studies can test.</a:t>
            </a:r>
          </a:p>
          <a:p xmlns:a="http://schemas.openxmlformats.org/drawingml/2006/main">
            <a:r>
              <a:t/>
            </a:r>
          </a:p>
          <a:p xmlns:a="http://schemas.openxmlformats.org/drawingml/2006/main">
            <a:r>
              <a:t>Sources</a:t>
            </a:r>
          </a:p>
          <a:p xmlns:a="http://schemas.openxmlformats.org/drawingml/2006/main">
            <a:r>
              <a:t>PWSCUP2025_REVIEW_PUB/paper/main.tex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目安：55秒</a:t>
            </a:r>
          </a:p>
          <a:p xmlns:a="http://schemas.openxmlformats.org/drawingml/2006/main">
            <a:r>
              <a:t/>
            </a:r>
          </a:p>
          <a:p xmlns:a="http://schemas.openxmlformats.org/drawingml/2006/main">
            <a:r>
              <a:t>Netflixの公開データの問題と、本研究の実装情報の不足を区別したまま回収。共通質問票は今後の提案。</a:t>
            </a:r>
          </a:p>
          <a:p xmlns:a="http://schemas.openxmlformats.org/drawingml/2006/main">
            <a:r>
              <a:t/>
            </a:r>
          </a:p>
          <a:p xmlns:a="http://schemas.openxmlformats.org/drawingml/2006/main">
            <a:r>
              <a:t>English speaking cue</a:t>
            </a:r>
          </a:p>
          <a:p xmlns:a="http://schemas.openxmlformats.org/drawingml/2006/main">
            <a:r>
              <a:t>Let me return to the opening story. The Netflix case illustrates why data disclosure needs care. Our PWS Cup study addresses a different practical problem: learning when implementation details are limited. Type-level descriptions did not give us definitive conclusions. But they let us identify patterns, quantify them, and formulate questions for more rigorous testing. A practical next step is to collect strategy information systematically. A short, structured questionnaire could record each team's design choices and the evidence behind them. The next analysis could then begin with structured information, rather than reconstructing it afterwards. We may not have the source, but we can still start finding the patterns. Thank you.</a:t>
            </a:r>
          </a:p>
          <a:p xmlns:a="http://schemas.openxmlformats.org/drawingml/2006/main">
            <a:r>
              <a:t/>
            </a:r>
          </a:p>
          <a:p xmlns:a="http://schemas.openxmlformats.org/drawingml/2006/main">
            <a:r>
              <a:t>Sources</a:t>
            </a:r>
          </a:p>
          <a:p xmlns:a="http://schemas.openxmlformats.org/drawingml/2006/main">
            <a:r>
              <a:t>PWSCUP2025_REVIEW_PUB/paper/main.tex</a:t>
            </a:r>
          </a:p>
          <a:p xmlns:a="http://schemas.openxmlformats.org/drawingml/2006/main">
            <a:r>
              <a:t>https://www.ftc.gov/sites/default/files/documents/closing_letters/netflix-inc./100312netflixletter.pdf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would be happy to take your questions.</a:t>
            </a:r>
          </a:p>
          <a:p xmlns:a="http://schemas.openxmlformats.org/drawingml/2006/main">
            <a:r>
              <a:t/>
            </a:r>
          </a:p>
          <a:p xmlns:a="http://schemas.openxmlformats.org/drawingml/2006/main">
            <a:r>
              <a:t>質疑5分。非表示補足：11 H1全効果量、12 H2全結果、13 競技詳細、14 標本と対戦ペア、15 Netflix出典。</a:t>
            </a:r>
          </a:p>
          <a:p xmlns:a="http://schemas.openxmlformats.org/drawingml/2006/main">
            <a:r>
              <a:t/>
            </a:r>
          </a:p>
          <a:p xmlns:a="http://schemas.openxmlformats.org/drawingml/2006/main">
            <a:r>
              <a:t>Data and analysis code: https://github.com/kiti1924/PWSCUP2025_REVIEW_20260716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目安：0秒</a:t>
            </a:r>
          </a:p>
          <a:p xmlns:a="http://schemas.openxmlformats.org/drawingml/2006/main">
            <a:r>
              <a:t/>
            </a:r>
          </a:p>
          <a:p xmlns:a="http://schemas.openxmlformats.org/drawingml/2006/main">
            <a:r>
              <a:t>すべて観測的な比較。ノイズの因果効果や差分プライバシー一般の評価ではない。</a:t>
            </a:r>
          </a:p>
          <a:p xmlns:a="http://schemas.openxmlformats.org/drawingml/2006/main">
            <a:r>
              <a:t/>
            </a:r>
          </a:p>
          <a:p xmlns:a="http://schemas.openxmlformats.org/drawingml/2006/main">
            <a:r>
              <a:t>English speaking cue</a:t>
            </a:r>
          </a:p>
          <a:p xmlns:a="http://schemas.openxmlformats.org/drawingml/2006/main">
            <a:r>
              <a:t>Optimization overlaps with other choices and was not retained in the selected regressions. These are point estimates, not confidence intervals.</a:t>
            </a:r>
          </a:p>
          <a:p xmlns:a="http://schemas.openxmlformats.org/drawingml/2006/main">
            <a:r>
              <a:t/>
            </a:r>
          </a:p>
          <a:p xmlns:a="http://schemas.openxmlformats.org/drawingml/2006/main">
            <a:r>
              <a:t>Sources</a:t>
            </a:r>
          </a:p>
          <a:p xmlns:a="http://schemas.openxmlformats.org/drawingml/2006/main">
            <a:r>
              <a:t>PWSCUP2025_REVIEW_PUB/paper/main.tex; PWSCUP2025_REVIEW_PUB/Final_0521.csv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目安：0秒</a:t>
            </a:r>
          </a:p>
          <a:p xmlns:a="http://schemas.openxmlformats.org/drawingml/2006/main">
            <a:r>
              <a:t/>
            </a:r>
          </a:p>
          <a:p xmlns:a="http://schemas.openxmlformats.org/drawingml/2006/main">
            <a:r>
              <a:t>各行・各組合せは別モデル。totalはexp(βvictim + βattacker + βinteraction)。SE推定不能を非有意と呼ばない。</a:t>
            </a:r>
          </a:p>
          <a:p xmlns:a="http://schemas.openxmlformats.org/drawingml/2006/main">
            <a:r>
              <a:t/>
            </a:r>
          </a:p>
          <a:p xmlns:a="http://schemas.openxmlformats.org/drawingml/2006/main">
            <a:r>
              <a:t>English speaking cue</a:t>
            </a:r>
          </a:p>
          <a:p xmlns:a="http://schemas.openxmlformats.org/drawingml/2006/main">
            <a:r>
              <a:t>Eight dyadic negative binomial specifications, with two-way clustering by attacker and victim. Each specification has its own joint reference.</a:t>
            </a:r>
          </a:p>
          <a:p xmlns:a="http://schemas.openxmlformats.org/drawingml/2006/main">
            <a:r>
              <a:t/>
            </a:r>
          </a:p>
          <a:p xmlns:a="http://schemas.openxmlformats.org/drawingml/2006/main">
            <a:r>
              <a:t>Sources</a:t>
            </a:r>
          </a:p>
          <a:p xmlns:a="http://schemas.openxmlformats.org/drawingml/2006/main">
            <a:r>
              <a:t>PWSCUP2025_REVIEW_PUB/paper/main.tex; paper/figs/H2/h2_heat_twoway_bw.png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目安：0秒</a:t>
            </a:r>
          </a:p>
          <a:p xmlns:a="http://schemas.openxmlformats.org/drawingml/2006/main">
            <a:r>
              <a:t/>
            </a:r>
          </a:p>
          <a:p xmlns:a="http://schemas.openxmlformats.org/drawingml/2006/main">
            <a:r>
              <a:t>各チームの母集団と標本。モデルDが必ずCで学習されたとは限らない。</a:t>
            </a:r>
          </a:p>
          <a:p xmlns:a="http://schemas.openxmlformats.org/drawingml/2006/main">
            <a:r>
              <a:t/>
            </a:r>
          </a:p>
          <a:p xmlns:a="http://schemas.openxmlformats.org/drawingml/2006/main">
            <a:r>
              <a:t>English speaking cue</a:t>
            </a:r>
          </a:p>
          <a:p xmlns:a="http://schemas.openxmlformats.org/drawingml/2006/main">
            <a:r>
              <a:t>The model may be trained using the provided sample or generated data; the diagram does not impose training exclusively on C.</a:t>
            </a:r>
          </a:p>
          <a:p xmlns:a="http://schemas.openxmlformats.org/drawingml/2006/main">
            <a:r>
              <a:t/>
            </a:r>
          </a:p>
          <a:p xmlns:a="http://schemas.openxmlformats.org/drawingml/2006/main">
            <a:r>
              <a:t>Sources</a:t>
            </a:r>
          </a:p>
          <a:p xmlns:a="http://schemas.openxmlformats.org/drawingml/2006/main">
            <a:r>
              <a:t>PWSCUP2025_REVIEW_PUB/paper/main.tex; paper/figs/system_models/ano_phase.pdf; paper/figs/system_models/att_phase.pdf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目安：0秒</a:t>
            </a:r>
          </a:p>
          <a:p xmlns:a="http://schemas.openxmlformats.org/drawingml/2006/main">
            <a:r>
              <a:t/>
            </a:r>
          </a:p>
          <a:p xmlns:a="http://schemas.openxmlformats.org/drawingml/2006/main">
            <a:r>
              <a:t>20チームのうちTeam10は防御のみ。対応する攻撃者は19なので自己対戦19を除く。361は独立した361チームではない。</a:t>
            </a:r>
          </a:p>
          <a:p xmlns:a="http://schemas.openxmlformats.org/drawingml/2006/main">
            <a:r>
              <a:t/>
            </a:r>
          </a:p>
          <a:p xmlns:a="http://schemas.openxmlformats.org/drawingml/2006/main">
            <a:r>
              <a:t>English speaking cue</a:t>
            </a:r>
          </a:p>
          <a:p xmlns:a="http://schemas.openxmlformats.org/drawingml/2006/main">
            <a:r>
              <a:t>We used twenty coded defenders and nineteen coded attackers, excluding self-pairs. Dependence across victims and attackers is addressed with two-way clustered standard errors, subject to the estimability limitations shown on slide 12.</a:t>
            </a:r>
          </a:p>
          <a:p xmlns:a="http://schemas.openxmlformats.org/drawingml/2006/main">
            <a:r>
              <a:t/>
            </a:r>
          </a:p>
          <a:p xmlns:a="http://schemas.openxmlformats.org/drawingml/2006/main">
            <a:r>
              <a:t>Sources</a:t>
            </a:r>
          </a:p>
          <a:p xmlns:a="http://schemas.openxmlformats.org/drawingml/2006/main">
            <a:r>
              <a:t>PWSCUP2025_REVIEW_PUB/paper/main.tex; PWSCUP2025_REVIEW_PUB/Final_0521.csv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目安：0秒</a:t>
            </a:r>
          </a:p>
          <a:p xmlns:a="http://schemas.openxmlformats.org/drawingml/2006/main">
            <a:r>
              <a:t/>
            </a:r>
          </a:p>
          <a:p xmlns:a="http://schemas.openxmlformats.org/drawingml/2006/main">
            <a:r>
              <a:t>研究が単独で中止を引き起こしたとは主張しない。Netflixはデータ公開、本研究は実装情報の不足という別の対象。</a:t>
            </a:r>
          </a:p>
          <a:p xmlns:a="http://schemas.openxmlformats.org/drawingml/2006/main">
            <a:r>
              <a:t/>
            </a:r>
          </a:p>
          <a:p xmlns:a="http://schemas.openxmlformats.org/drawingml/2006/main">
            <a:r>
              <a:t>English speaking cue</a:t>
            </a:r>
          </a:p>
          <a:p xmlns:a="http://schemas.openxmlformats.org/drawingml/2006/main">
            <a:r>
              <a:t>The historical sequence motivates careful disclosure. The inference that limited implementation information remains worth studying is our framing, not a causal conclusion from the Netflix case.</a:t>
            </a:r>
          </a:p>
          <a:p xmlns:a="http://schemas.openxmlformats.org/drawingml/2006/main">
            <a:r>
              <a:t/>
            </a:r>
          </a:p>
          <a:p xmlns:a="http://schemas.openxmlformats.org/drawingml/2006/main">
            <a:r>
              <a:t>Sources</a:t>
            </a:r>
          </a:p>
          <a:p xmlns:a="http://schemas.openxmlformats.org/drawingml/2006/main">
            <a:r>
              <a:t>https://arxiv.org/abs/cs/0610105</a:t>
            </a:r>
          </a:p>
          <a:p xmlns:a="http://schemas.openxmlformats.org/drawingml/2006/main">
            <a:r>
              <a:t>https://www.ftc.gov/sites/default/files/documents/closing_letters/netflix-inc./100312netflixletter.pdf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76badcaeeb34a2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923c905ee9a4178" /><Relationship Type="http://schemas.openxmlformats.org/officeDocument/2006/relationships/slideLayout" Target="/ppt/slideLayouts/slideLayout1.xml" Id="Rdbcb4dbc817e49c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bcb4dbc817e49c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67a11525fb14e1a" /><Relationship Type="http://schemas.openxmlformats.org/officeDocument/2006/relationships/notesSlide" Target="/ppt/notesSlides/notesSlide1.xml" Id="R1aa409f947b04c2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69896a325344912" /><Relationship Type="http://schemas.openxmlformats.org/officeDocument/2006/relationships/notesSlide" Target="/ppt/notesSlides/notesSlide2.xml" Id="Ra026462504c0429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b53c38c435d40f5" /><Relationship Type="http://schemas.openxmlformats.org/officeDocument/2006/relationships/notesSlide" Target="/ppt/notesSlides/notesSlide3.xml" Id="R9855216c8b1442f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91546ebc47745ff" /><Relationship Type="http://schemas.openxmlformats.org/officeDocument/2006/relationships/notesSlide" Target="/ppt/notesSlides/notesSlide4.xml" Id="Rbbe2daef7a41454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f16da5361d849a7" /><Relationship Type="http://schemas.openxmlformats.org/officeDocument/2006/relationships/notesSlide" Target="/ppt/notesSlides/notesSlide5.xml" Id="R0d48830ecc9d4c7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37c41f779f84bc3" /><Relationship Type="http://schemas.openxmlformats.org/officeDocument/2006/relationships/chart" Target="/ppt/slides/charts/chart1.xml" Id="R4af6611f7c5643f3" /><Relationship Type="http://schemas.openxmlformats.org/officeDocument/2006/relationships/notesSlide" Target="/ppt/notesSlides/notesSlide6.xml" Id="Rbfa94b9c2c9a43c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f5ba49c2a3f43cd" /><Relationship Type="http://schemas.openxmlformats.org/officeDocument/2006/relationships/notesSlide" Target="/ppt/notesSlides/notesSlide7.xml" Id="R3ee10477a4d04d8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55598a6d1e74773" /><Relationship Type="http://schemas.openxmlformats.org/officeDocument/2006/relationships/notesSlide" Target="/ppt/notesSlides/notesSlide8.xml" Id="Rd1e5571967814da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3062ac77bbe4d1f" /><Relationship Type="http://schemas.openxmlformats.org/officeDocument/2006/relationships/notesSlide" Target="/ppt/notesSlides/notesSlide9.xml" Id="R91c8d1ad9711457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9d7c2ca69cc478e" /><Relationship Type="http://schemas.openxmlformats.org/officeDocument/2006/relationships/notesSlide" Target="/ppt/notesSlides/notesSlide10.xml" Id="R24fe1bcac6c546b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d8f0a4cf1b5645fa" /><Relationship Type="http://schemas.openxmlformats.org/officeDocument/2006/relationships/notesSlide" Target="/ppt/notesSlides/notesSlide11.xml" Id="R4ae5d9d2ee32462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b7a8c7d45a5c4f43" /><Relationship Type="http://schemas.openxmlformats.org/officeDocument/2006/relationships/notesSlide" Target="/ppt/notesSlides/notesSlide12.xml" Id="R74807e66043a4a3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9f4886e2394d44fb" /><Relationship Type="http://schemas.openxmlformats.org/officeDocument/2006/relationships/image" Target="/ppt/media/image.png" Id="R8b2be7abde0d472f" /><Relationship Type="http://schemas.openxmlformats.org/officeDocument/2006/relationships/image" Target="/ppt/media/image2.png" Id="Rc3b3160ef92d4abc" /><Relationship Type="http://schemas.openxmlformats.org/officeDocument/2006/relationships/notesSlide" Target="/ppt/notesSlides/notesSlide13.xml" Id="R8cb89d4385c7491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8d11de926151448e" /><Relationship Type="http://schemas.openxmlformats.org/officeDocument/2006/relationships/notesSlide" Target="/ppt/notesSlides/notesSlide14.xml" Id="R2326dae8af15490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95ff90c68e3141cb" /><Relationship Type="http://schemas.openxmlformats.org/officeDocument/2006/relationships/notesSlide" Target="/ppt/notesSlides/notesSlide15.xml" Id="Re084064e5320438f"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Utility</c:v>
          </c:tx>
          <c:spPr>
            <a:solidFill xmlns:a="http://schemas.openxmlformats.org/drawingml/2006/main">
              <a:srgbClr val="D98424"/>
            </a:solidFill>
          </c:spPr>
          <c:cat>
            <c:strRef>
              <c:f>'Chart Data'!$A$2:$A$3</c:f>
              <c:strCache>
                <c:ptCount val="2"/>
                <c:pt idx="0">
                  <c:v>Synthesis: no → yes</c:v>
                </c:pt>
                <c:pt idx="1">
                  <c:v>Base: B → others</c:v>
                </c:pt>
              </c:strCache>
            </c:strRef>
          </c:cat>
          <c:val>
            <c:numRef>
              <c:f>'Chart Data'!$B$2:$B$3</c:f>
              <c:numCache>
                <c:formatCode>0.00</c:formatCode>
                <c:ptCount val="2"/>
                <c:pt idx="0">
                  <c:v>1.26</c:v>
                </c:pt>
                <c:pt idx="1">
                  <c:v>1.55</c:v>
                </c:pt>
              </c:numCache>
            </c:numRef>
          </c:val>
        </c:ser>
        <c:ser>
          <c:idx val="1"/>
          <c:order val="1"/>
          <c:tx>
            <c:v>Anonymization</c:v>
          </c:tx>
          <c:spPr>
            <a:solidFill xmlns:a="http://schemas.openxmlformats.org/drawingml/2006/main">
              <a:srgbClr val="236FAA"/>
            </a:solidFill>
          </c:spPr>
          <c:cat>
            <c:strRef>
              <c:f>'Chart Data'!$C$2:$C$3</c:f>
              <c:strCache>
                <c:ptCount val="2"/>
                <c:pt idx="0">
                  <c:v>Synthesis: no → yes</c:v>
                </c:pt>
                <c:pt idx="1">
                  <c:v>Base: B → others</c:v>
                </c:pt>
              </c:strCache>
            </c:strRef>
          </c:cat>
          <c:val>
            <c:numRef>
              <c:f>'Chart Data'!$D$2:$D$3</c:f>
              <c:numCache>
                <c:formatCode>0.00</c:formatCode>
                <c:ptCount val="2"/>
                <c:pt idx="0">
                  <c:v>1.01</c:v>
                </c:pt>
                <c:pt idx="1">
                  <c:v>0.54</c:v>
                </c:pt>
              </c:numCache>
            </c:numRef>
          </c:val>
        </c:ser>
        <c:dLbls>
          <c:txPr>
            <a:bodyPr xmlns:a="http://schemas.openxmlformats.org/drawingml/2006/main" anchorCtr="1"/>
            <a:lstStyle xmlns:a="http://schemas.openxmlformats.org/drawingml/2006/main"/>
            <a:p xmlns:a="http://schemas.openxmlformats.org/drawingml/2006/main">
              <a:pPr>
                <a:defRPr sz="1650">
                  <a:solidFill>
                    <a:srgbClr val="132A39"/>
                  </a:solidFill>
                  <a:latin typeface="Arial"/>
                  <a:ea typeface="Arial"/>
                  <a:cs typeface="Aria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l"/>
        <c:numFmt formatCode="General"/>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132A39"/>
                </a:solidFill>
                <a:latin typeface="Arial"/>
                <a:ea typeface="Arial"/>
                <a:cs typeface="Arial"/>
              </a:defRPr>
            </a:pPr>
          </a:p>
        </c:txPr>
        <c:crossAx val="48672768"/>
      </c:catAx>
      <c:valAx>
        <c:axId val="48672768"/>
        <c:scaling>
          <c:orientation val="minMax"/>
          <c:max val="2"/>
          <c:min val="0"/>
        </c:scaling>
        <c:delete val="0"/>
        <c:axPos val="b"/>
        <c:majorGridlines>
          <c:spPr>
            <a:ln xmlns:a="http://schemas.openxmlformats.org/drawingml/2006/main" w="9525">
              <a:solidFill>
                <a:srgbClr val="DCE7E8"/>
              </a:solidFill>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66774"/>
                </a:solidFill>
                <a:latin typeface="Arial"/>
                <a:ea typeface="Arial"/>
                <a:cs typeface="Arial"/>
              </a:defRPr>
            </a:pPr>
          </a:p>
        </c:txPr>
        <c:crossAx val="48650112"/>
        <c:crossBetween val="between"/>
        <c:majorUnit val="0.5"/>
      </c:valAx>
      <c:spPr>
        <a:solidFill xmlns:a="http://schemas.openxmlformats.org/drawingml/2006/main">
          <a:srgbClr val="FFFFFF"/>
        </a:solidFill>
      </c:spPr>
    </c:plotArea>
    <c:legend>
      <c:legendPos val="t"/>
      <c:overlay val="0"/>
      <c:txPr>
        <a:bodyPr xmlns:a="http://schemas.openxmlformats.org/drawingml/2006/main" anchorCtr="1"/>
        <a:lstStyle xmlns:a="http://schemas.openxmlformats.org/drawingml/2006/main"/>
        <a:p xmlns:a="http://schemas.openxmlformats.org/drawingml/2006/main">
          <a:pPr>
            <a:defRPr sz="1725">
              <a:solidFill>
                <a:srgbClr val="132A39"/>
              </a:solidFill>
              <a:latin typeface="Arial"/>
              <a:ea typeface="Arial"/>
              <a:cs typeface="Arial"/>
            </a:defRPr>
          </a:pPr>
        </a:p>
      </c:txPr>
    </c:legend>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32A39"/>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D6138E3-E749-4026-85A5-199AD994ACD1}"/>
              </a:ext>
            </a:extLst>
          </p:cNvPr>
          <p:cNvSpPr>
            <a:spLocks xmlns:a="http://schemas.openxmlformats.org/drawingml/2006/main" noGrp="1"/>
          </p:cNvSpPr>
          <p:nvPr/>
        </p:nvSpPr>
        <p:spPr>
          <a:xfrm xmlns:a="http://schemas.openxmlformats.org/drawingml/2006/main">
            <a:off x="11087100" y="635317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DCE7E8"/>
                </a:solidFill>
                <a:latin typeface="Arial"/>
                <a:ea typeface="Arial"/>
                <a:cs typeface="Arial"/>
              </a:defRPr>
            </a:pPr>
            <a:r>
              <a:rPr sz="1200" b="0">
                <a:solidFill>
                  <a:srgbClr val="DCE7E8"/>
                </a:solidFill>
                <a:latin typeface="Arial"/>
                <a:ea typeface="Arial"/>
                <a:cs typeface="Arial"/>
              </a:rPr>
              <a:t>01</a:t>
            </a:r>
          </a:p>
        </p:txBody>
      </p:sp>
      <p:sp>
        <p:nvSpPr>
          <p:cNvPr id="2" name="">
            <a:extLst xmlns:a="http://schemas.openxmlformats.org/drawingml/2006/main">
              <a:ext uri="{FF2B5EF4-FFF2-40B4-BE49-F238E27FC236}">
                <a16:creationId xmlns:a16="http://schemas.microsoft.com/office/drawing/2014/main" id="{9067070E-7172-486F-A610-30C3069F9BAE}"/>
              </a:ext>
            </a:extLst>
          </p:cNvPr>
          <p:cNvSpPr>
            <a:spLocks xmlns:a="http://schemas.openxmlformats.org/drawingml/2006/main" noGrp="1"/>
          </p:cNvSpPr>
          <p:nvPr/>
        </p:nvSpPr>
        <p:spPr>
          <a:xfrm xmlns:a="http://schemas.openxmlformats.org/drawingml/2006/main">
            <a:off x="685800" y="990600"/>
            <a:ext cx="108204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800" b="1">
                <a:solidFill>
                  <a:srgbClr val="FFFFFF"/>
                </a:solidFill>
                <a:latin typeface="Arial"/>
                <a:ea typeface="Arial"/>
                <a:cs typeface="Arial"/>
              </a:defRPr>
            </a:pPr>
            <a:r>
              <a:rPr sz="4800" b="1">
                <a:solidFill>
                  <a:srgbClr val="FFFFFF"/>
                </a:solidFill>
                <a:latin typeface="Arial"/>
                <a:ea typeface="Arial"/>
                <a:cs typeface="Arial"/>
              </a:rPr>
              <a:t>Patterns Without Source</a:t>
            </a:r>
          </a:p>
        </p:txBody>
      </p:sp>
      <p:sp>
        <p:nvSpPr>
          <p:cNvPr id="3" name="">
            <a:extLst xmlns:a="http://schemas.openxmlformats.org/drawingml/2006/main">
              <a:ext uri="{FF2B5EF4-FFF2-40B4-BE49-F238E27FC236}">
                <a16:creationId xmlns:a16="http://schemas.microsoft.com/office/drawing/2014/main" id="{F946AAD7-7E40-4FD0-A95A-5ECCA468AAD3}"/>
              </a:ext>
            </a:extLst>
          </p:cNvPr>
          <p:cNvSpPr>
            <a:spLocks xmlns:a="http://schemas.openxmlformats.org/drawingml/2006/main" noGrp="1"/>
          </p:cNvSpPr>
          <p:nvPr/>
        </p:nvSpPr>
        <p:spPr>
          <a:xfrm xmlns:a="http://schemas.openxmlformats.org/drawingml/2006/main">
            <a:off x="723900" y="2057400"/>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850" b="0">
                <a:solidFill>
                  <a:srgbClr val="DCE7E8"/>
                </a:solidFill>
                <a:latin typeface="Arial"/>
                <a:ea typeface="Arial"/>
                <a:cs typeface="Arial"/>
              </a:defRPr>
            </a:pPr>
            <a:r>
              <a:rPr sz="2850" b="0">
                <a:solidFill>
                  <a:srgbClr val="DCE7E8"/>
                </a:solidFill>
                <a:latin typeface="Arial"/>
                <a:ea typeface="Arial"/>
                <a:cs typeface="Arial"/>
              </a:rPr>
              <a:t>A Meta-Analysis of PWS Cup 2025</a:t>
            </a:r>
          </a:p>
        </p:txBody>
      </p:sp>
      <p:sp>
        <p:nvSpPr>
          <p:cNvPr id="4" name="">
            <a:extLst xmlns:a="http://schemas.openxmlformats.org/drawingml/2006/main">
              <a:ext uri="{FF2B5EF4-FFF2-40B4-BE49-F238E27FC236}">
                <a16:creationId xmlns:a16="http://schemas.microsoft.com/office/drawing/2014/main" id="{B8A49D97-5BCE-4E8F-B649-BFDFF6939C3D}"/>
              </a:ext>
            </a:extLst>
          </p:cNvPr>
          <p:cNvSpPr>
            <a:spLocks xmlns:a="http://schemas.openxmlformats.org/drawingml/2006/main" noGrp="1"/>
          </p:cNvSpPr>
          <p:nvPr/>
        </p:nvSpPr>
        <p:spPr>
          <a:xfrm xmlns:a="http://schemas.openxmlformats.org/drawingml/2006/main">
            <a:off x="723900" y="3248025"/>
            <a:ext cx="10477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0">
                <a:solidFill>
                  <a:srgbClr val="FFFFFF"/>
                </a:solidFill>
                <a:latin typeface="Arial"/>
                <a:ea typeface="Arial"/>
                <a:cs typeface="Arial"/>
              </a:defRPr>
            </a:pPr>
            <a:r>
              <a:rPr sz="3000" b="0">
                <a:solidFill>
                  <a:srgbClr val="FFFFFF"/>
                </a:solidFill>
                <a:latin typeface="Arial"/>
                <a:ea typeface="Arial"/>
                <a:cs typeface="Arial"/>
              </a:rPr>
              <a:t>We see the outcome.</a:t>
            </a:r>
          </a:p>
          <a:p xmlns:a="http://schemas.openxmlformats.org/drawingml/2006/main">
            <a:pPr>
              <a:defRPr sz="3000" b="0">
                <a:solidFill>
                  <a:srgbClr val="FFFFFF"/>
                </a:solidFill>
                <a:latin typeface="Arial"/>
                <a:ea typeface="Arial"/>
                <a:cs typeface="Arial"/>
              </a:defRPr>
            </a:pPr>
            <a:r>
              <a:rPr sz="3000" b="0">
                <a:solidFill>
                  <a:srgbClr val="FFFFFF"/>
                </a:solidFill>
                <a:latin typeface="Arial"/>
                <a:ea typeface="Arial"/>
                <a:cs typeface="Arial"/>
              </a:rPr>
              <a:t>How much can we learn about the method?</a:t>
            </a:r>
          </a:p>
        </p:txBody>
      </p:sp>
      <p:sp>
        <p:nvSpPr>
          <p:cNvPr id="5" name="">
            <a:extLst xmlns:a="http://schemas.openxmlformats.org/drawingml/2006/main">
              <a:ext uri="{FF2B5EF4-FFF2-40B4-BE49-F238E27FC236}">
                <a16:creationId xmlns:a16="http://schemas.microsoft.com/office/drawing/2014/main" id="{C054A706-D26C-4F2A-8E53-1486D22BFC42}"/>
              </a:ext>
            </a:extLst>
          </p:cNvPr>
          <p:cNvSpPr>
            <a:spLocks xmlns:a="http://schemas.openxmlformats.org/drawingml/2006/main" noGrp="1"/>
          </p:cNvSpPr>
          <p:nvPr/>
        </p:nvSpPr>
        <p:spPr>
          <a:xfrm xmlns:a="http://schemas.openxmlformats.org/drawingml/2006/main">
            <a:off x="723900" y="538162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DCE7E8"/>
                </a:solidFill>
                <a:latin typeface="Arial"/>
                <a:ea typeface="Arial"/>
                <a:cs typeface="Arial"/>
              </a:defRPr>
            </a:pPr>
            <a:r>
              <a:rPr sz="2025" b="0">
                <a:solidFill>
                  <a:srgbClr val="DCE7E8"/>
                </a:solidFill>
                <a:latin typeface="Arial"/>
                <a:ea typeface="Arial"/>
                <a:cs typeface="Arial"/>
              </a:rPr>
              <a:t>Hinata Kikuchi · Hajime Ono · Kazuhiro Minami</a:t>
            </a:r>
          </a:p>
        </p:txBody>
      </p:sp>
      <p:sp>
        <p:nvSpPr>
          <p:cNvPr id="6" name="">
            <a:extLst xmlns:a="http://schemas.openxmlformats.org/drawingml/2006/main">
              <a:ext uri="{FF2B5EF4-FFF2-40B4-BE49-F238E27FC236}">
                <a16:creationId xmlns:a16="http://schemas.microsoft.com/office/drawing/2014/main" id="{9B02D21E-4E56-4617-8A83-32E086C70779}"/>
              </a:ext>
            </a:extLst>
          </p:cNvPr>
          <p:cNvSpPr>
            <a:spLocks xmlns:a="http://schemas.openxmlformats.org/drawingml/2006/main" noGrp="1"/>
          </p:cNvSpPr>
          <p:nvPr/>
        </p:nvSpPr>
        <p:spPr>
          <a:xfrm xmlns:a="http://schemas.openxmlformats.org/drawingml/2006/main">
            <a:off x="723900" y="5886450"/>
            <a:ext cx="10287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DCE7E8"/>
                </a:solidFill>
                <a:latin typeface="Arial"/>
                <a:ea typeface="Arial"/>
                <a:cs typeface="Arial"/>
              </a:defRPr>
            </a:pPr>
            <a:r>
              <a:rPr sz="1800" b="0">
                <a:solidFill>
                  <a:srgbClr val="DCE7E8"/>
                </a:solidFill>
                <a:latin typeface="Arial"/>
                <a:ea typeface="Arial"/>
                <a:cs typeface="Arial"/>
              </a:rPr>
              <a:t>The Institute of Statistical Mathematics  |  PSD 2026</a:t>
            </a:r>
          </a:p>
        </p:txBody>
      </p:sp>
    </p:spTree>
    <p:extLst>
      <p:ext uri="{BB962C8B-B14F-4D97-AF65-F5344CB8AC3E}">
        <p14:creationId xmlns:p14="http://schemas.microsoft.com/office/powerpoint/2010/main" val="213696386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FB1166C1-6586-424B-A549-0A3F8F69837A}"/>
              </a:ext>
            </a:extLst>
          </p:cNvPr>
          <p:cNvSpPr>
            <a:spLocks xmlns:a="http://schemas.openxmlformats.org/drawingml/2006/main" noGrp="1"/>
          </p:cNvSpPr>
          <p:nvPr/>
        </p:nvSpPr>
        <p:spPr>
          <a:xfrm xmlns:a="http://schemas.openxmlformats.org/drawingml/2006/main">
            <a:off x="685800" y="457200"/>
            <a:ext cx="108204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50" b="1">
                <a:solidFill>
                  <a:srgbClr val="132A39"/>
                </a:solidFill>
                <a:latin typeface="Arial"/>
                <a:ea typeface="Arial"/>
                <a:cs typeface="Arial"/>
              </a:defRPr>
            </a:pPr>
            <a:r>
              <a:rPr sz="3150" b="1">
                <a:solidFill>
                  <a:srgbClr val="132A39"/>
                </a:solidFill>
                <a:latin typeface="Arial"/>
                <a:ea typeface="Arial"/>
                <a:cs typeface="Arial"/>
              </a:rPr>
              <a:t>Netflix Prize: disclosure and privacy</a:t>
            </a:r>
          </a:p>
        </p:txBody>
      </p:sp>
      <p:sp>
        <p:nvSpPr>
          <p:cNvPr id="2" name="">
            <a:extLst xmlns:a="http://schemas.openxmlformats.org/drawingml/2006/main">
              <a:ext uri="{FF2B5EF4-FFF2-40B4-BE49-F238E27FC236}">
                <a16:creationId xmlns:a16="http://schemas.microsoft.com/office/drawing/2014/main" id="{7D1CE37E-CF2B-4E51-BE21-9CBB47BD3DD4}"/>
              </a:ext>
            </a:extLst>
          </p:cNvPr>
          <p:cNvSpPr>
            <a:spLocks xmlns:a="http://schemas.openxmlformats.org/drawingml/2006/main" noGrp="1"/>
          </p:cNvSpPr>
          <p:nvPr/>
        </p:nvSpPr>
        <p:spPr>
          <a:xfrm xmlns:a="http://schemas.openxmlformats.org/drawingml/2006/main">
            <a:off x="11087100" y="635317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566774"/>
                </a:solidFill>
                <a:latin typeface="Arial"/>
                <a:ea typeface="Arial"/>
                <a:cs typeface="Arial"/>
              </a:defRPr>
            </a:pPr>
            <a:r>
              <a:rPr sz="1200" b="0">
                <a:solidFill>
                  <a:srgbClr val="566774"/>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D145C7B8-09C5-4424-8350-FA4EE6207DF2}"/>
              </a:ext>
            </a:extLst>
          </p:cNvPr>
          <p:cNvSpPr>
            <a:spLocks xmlns:a="http://schemas.openxmlformats.org/drawingml/2006/main" noGrp="1"/>
          </p:cNvSpPr>
          <p:nvPr/>
        </p:nvSpPr>
        <p:spPr>
          <a:xfrm xmlns:a="http://schemas.openxmlformats.org/drawingml/2006/main">
            <a:off x="685800" y="1657350"/>
            <a:ext cx="323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D98424"/>
                </a:solidFill>
                <a:latin typeface="Arial"/>
                <a:ea typeface="Arial"/>
                <a:cs typeface="Arial"/>
              </a:defRPr>
            </a:pPr>
            <a:r>
              <a:rPr sz="3000" b="1">
                <a:solidFill>
                  <a:srgbClr val="D98424"/>
                </a:solidFill>
                <a:latin typeface="Arial"/>
                <a:ea typeface="Arial"/>
                <a:cs typeface="Arial"/>
              </a:rPr>
              <a:t>2006</a:t>
            </a:r>
          </a:p>
        </p:txBody>
      </p:sp>
      <p:sp>
        <p:nvSpPr>
          <p:cNvPr id="4" name="">
            <a:extLst xmlns:a="http://schemas.openxmlformats.org/drawingml/2006/main">
              <a:ext uri="{FF2B5EF4-FFF2-40B4-BE49-F238E27FC236}">
                <a16:creationId xmlns:a16="http://schemas.microsoft.com/office/drawing/2014/main" id="{348EB32B-13F3-4416-BA51-C500FF94F207}"/>
              </a:ext>
            </a:extLst>
          </p:cNvPr>
          <p:cNvSpPr>
            <a:spLocks xmlns:a="http://schemas.openxmlformats.org/drawingml/2006/main" noGrp="1"/>
          </p:cNvSpPr>
          <p:nvPr/>
        </p:nvSpPr>
        <p:spPr>
          <a:xfrm xmlns:a="http://schemas.openxmlformats.org/drawingml/2006/main">
            <a:off x="685800" y="2447925"/>
            <a:ext cx="323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1">
                <a:solidFill>
                  <a:srgbClr val="132A39"/>
                </a:solidFill>
                <a:latin typeface="Arial"/>
                <a:ea typeface="Arial"/>
                <a:cs typeface="Arial"/>
              </a:defRPr>
            </a:pPr>
            <a:r>
              <a:rPr sz="2550" b="1">
                <a:solidFill>
                  <a:srgbClr val="132A39"/>
                </a:solidFill>
                <a:latin typeface="Arial"/>
                <a:ea typeface="Arial"/>
                <a:cs typeface="Arial"/>
              </a:rPr>
              <a:t>Ratings released</a:t>
            </a:r>
          </a:p>
        </p:txBody>
      </p:sp>
      <p:sp>
        <p:nvSpPr>
          <p:cNvPr id="5" name="">
            <a:extLst xmlns:a="http://schemas.openxmlformats.org/drawingml/2006/main">
              <a:ext uri="{FF2B5EF4-FFF2-40B4-BE49-F238E27FC236}">
                <a16:creationId xmlns:a16="http://schemas.microsoft.com/office/drawing/2014/main" id="{A608216B-12D8-42B3-95EB-3CA0CEF43775}"/>
              </a:ext>
            </a:extLst>
          </p:cNvPr>
          <p:cNvSpPr>
            <a:spLocks xmlns:a="http://schemas.openxmlformats.org/drawingml/2006/main" noGrp="1"/>
          </p:cNvSpPr>
          <p:nvPr/>
        </p:nvSpPr>
        <p:spPr>
          <a:xfrm xmlns:a="http://schemas.openxmlformats.org/drawingml/2006/main">
            <a:off x="685800" y="3390900"/>
            <a:ext cx="3238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566774"/>
                </a:solidFill>
                <a:latin typeface="Arial"/>
                <a:ea typeface="Arial"/>
                <a:cs typeface="Arial"/>
              </a:defRPr>
            </a:pPr>
            <a:r>
              <a:rPr sz="2025" b="0">
                <a:solidFill>
                  <a:srgbClr val="566774"/>
                </a:solidFill>
                <a:latin typeface="Arial"/>
                <a:ea typeface="Arial"/>
                <a:cs typeface="Arial"/>
              </a:rPr>
              <a:t>About 500,000 users</a:t>
            </a:r>
          </a:p>
          <a:p xmlns:a="http://schemas.openxmlformats.org/drawingml/2006/main">
            <a:pPr>
              <a:defRPr sz="2025" b="0">
                <a:solidFill>
                  <a:srgbClr val="566774"/>
                </a:solidFill>
                <a:latin typeface="Arial"/>
                <a:ea typeface="Arial"/>
                <a:cs typeface="Arial"/>
              </a:defRPr>
            </a:pPr>
            <a:r>
              <a:rPr sz="2025" b="0">
                <a:solidFill>
                  <a:srgbClr val="566774"/>
                </a:solidFill>
                <a:latin typeface="Arial"/>
                <a:ea typeface="Arial"/>
                <a:cs typeface="Arial"/>
              </a:rPr>
              <a:t>Direct identifiers removed</a:t>
            </a:r>
          </a:p>
        </p:txBody>
      </p:sp>
      <p:sp>
        <p:nvSpPr>
          <p:cNvPr id="6" name="">
            <a:extLst xmlns:a="http://schemas.openxmlformats.org/drawingml/2006/main">
              <a:ext uri="{FF2B5EF4-FFF2-40B4-BE49-F238E27FC236}">
                <a16:creationId xmlns:a16="http://schemas.microsoft.com/office/drawing/2014/main" id="{A5C4FD4A-C4B1-40E3-9AB4-55125C2BC8BE}"/>
              </a:ext>
            </a:extLst>
          </p:cNvPr>
          <p:cNvSpPr>
            <a:spLocks xmlns:a="http://schemas.openxmlformats.org/drawingml/2006/main" noGrp="1"/>
          </p:cNvSpPr>
          <p:nvPr/>
        </p:nvSpPr>
        <p:spPr>
          <a:xfrm xmlns:a="http://schemas.openxmlformats.org/drawingml/2006/main">
            <a:off x="4381500" y="1657350"/>
            <a:ext cx="323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D98424"/>
                </a:solidFill>
                <a:latin typeface="Arial"/>
                <a:ea typeface="Arial"/>
                <a:cs typeface="Arial"/>
              </a:defRPr>
            </a:pPr>
            <a:r>
              <a:rPr sz="3000" b="1">
                <a:solidFill>
                  <a:srgbClr val="D98424"/>
                </a:solidFill>
                <a:latin typeface="Arial"/>
                <a:ea typeface="Arial"/>
                <a:cs typeface="Arial"/>
              </a:rPr>
              <a:t>2006–2008</a:t>
            </a:r>
          </a:p>
        </p:txBody>
      </p:sp>
      <p:sp>
        <p:nvSpPr>
          <p:cNvPr id="7" name="">
            <a:extLst xmlns:a="http://schemas.openxmlformats.org/drawingml/2006/main">
              <a:ext uri="{FF2B5EF4-FFF2-40B4-BE49-F238E27FC236}">
                <a16:creationId xmlns:a16="http://schemas.microsoft.com/office/drawing/2014/main" id="{41D76137-B061-4671-A96D-B1A81E5F1757}"/>
              </a:ext>
            </a:extLst>
          </p:cNvPr>
          <p:cNvSpPr>
            <a:spLocks xmlns:a="http://schemas.openxmlformats.org/drawingml/2006/main" noGrp="1"/>
          </p:cNvSpPr>
          <p:nvPr/>
        </p:nvSpPr>
        <p:spPr>
          <a:xfrm xmlns:a="http://schemas.openxmlformats.org/drawingml/2006/main">
            <a:off x="4381500" y="2447925"/>
            <a:ext cx="323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1">
                <a:solidFill>
                  <a:srgbClr val="132A39"/>
                </a:solidFill>
                <a:latin typeface="Arial"/>
                <a:ea typeface="Arial"/>
                <a:cs typeface="Arial"/>
              </a:defRPr>
            </a:pPr>
            <a:r>
              <a:rPr sz="2550" b="1">
                <a:solidFill>
                  <a:srgbClr val="132A39"/>
                </a:solidFill>
                <a:latin typeface="Arial"/>
                <a:ea typeface="Arial"/>
                <a:cs typeface="Arial"/>
              </a:rPr>
              <a:t>External linkage</a:t>
            </a:r>
          </a:p>
        </p:txBody>
      </p:sp>
      <p:sp>
        <p:nvSpPr>
          <p:cNvPr id="8" name="">
            <a:extLst xmlns:a="http://schemas.openxmlformats.org/drawingml/2006/main">
              <a:ext uri="{FF2B5EF4-FFF2-40B4-BE49-F238E27FC236}">
                <a16:creationId xmlns:a16="http://schemas.microsoft.com/office/drawing/2014/main" id="{041DC936-C24E-4DF7-85EF-4B5742C4DFD6}"/>
              </a:ext>
            </a:extLst>
          </p:cNvPr>
          <p:cNvSpPr>
            <a:spLocks xmlns:a="http://schemas.openxmlformats.org/drawingml/2006/main" noGrp="1"/>
          </p:cNvSpPr>
          <p:nvPr/>
        </p:nvSpPr>
        <p:spPr>
          <a:xfrm xmlns:a="http://schemas.openxmlformats.org/drawingml/2006/main">
            <a:off x="4381500" y="3390900"/>
            <a:ext cx="3238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566774"/>
                </a:solidFill>
                <a:latin typeface="Arial"/>
                <a:ea typeface="Arial"/>
                <a:cs typeface="Arial"/>
              </a:defRPr>
            </a:pPr>
            <a:r>
              <a:rPr sz="2025" b="0">
                <a:solidFill>
                  <a:srgbClr val="566774"/>
                </a:solidFill>
                <a:latin typeface="Arial"/>
                <a:ea typeface="Arial"/>
                <a:cs typeface="Arial"/>
              </a:rPr>
              <a:t>Public IMDb ratings</a:t>
            </a:r>
          </a:p>
          <a:p xmlns:a="http://schemas.openxmlformats.org/drawingml/2006/main">
            <a:pPr>
              <a:defRPr sz="2025" b="0">
                <a:solidFill>
                  <a:srgbClr val="566774"/>
                </a:solidFill>
                <a:latin typeface="Arial"/>
                <a:ea typeface="Arial"/>
                <a:cs typeface="Arial"/>
              </a:defRPr>
            </a:pPr>
            <a:r>
              <a:rPr sz="2025" b="0">
                <a:solidFill>
                  <a:srgbClr val="566774"/>
                </a:solidFill>
                <a:latin typeface="Arial"/>
                <a:ea typeface="Arial"/>
                <a:cs typeface="Arial"/>
              </a:rPr>
              <a:t>Some users re-identified</a:t>
            </a:r>
          </a:p>
        </p:txBody>
      </p:sp>
      <p:sp>
        <p:nvSpPr>
          <p:cNvPr id="9" name="">
            <a:extLst xmlns:a="http://schemas.openxmlformats.org/drawingml/2006/main">
              <a:ext uri="{FF2B5EF4-FFF2-40B4-BE49-F238E27FC236}">
                <a16:creationId xmlns:a16="http://schemas.microsoft.com/office/drawing/2014/main" id="{1731E252-C07D-427E-ADF6-240FCFBF26F2}"/>
              </a:ext>
            </a:extLst>
          </p:cNvPr>
          <p:cNvSpPr>
            <a:spLocks xmlns:a="http://schemas.openxmlformats.org/drawingml/2006/main" noGrp="1"/>
          </p:cNvSpPr>
          <p:nvPr/>
        </p:nvSpPr>
        <p:spPr>
          <a:xfrm xmlns:a="http://schemas.openxmlformats.org/drawingml/2006/main">
            <a:off x="8077200" y="1657350"/>
            <a:ext cx="3429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D98424"/>
                </a:solidFill>
                <a:latin typeface="Arial"/>
                <a:ea typeface="Arial"/>
                <a:cs typeface="Arial"/>
              </a:defRPr>
            </a:pPr>
            <a:r>
              <a:rPr sz="3000" b="1">
                <a:solidFill>
                  <a:srgbClr val="D98424"/>
                </a:solidFill>
                <a:latin typeface="Arial"/>
                <a:ea typeface="Arial"/>
                <a:cs typeface="Arial"/>
              </a:rPr>
              <a:t>2009–2010</a:t>
            </a:r>
          </a:p>
        </p:txBody>
      </p:sp>
      <p:sp>
        <p:nvSpPr>
          <p:cNvPr id="10" name="">
            <a:extLst xmlns:a="http://schemas.openxmlformats.org/drawingml/2006/main">
              <a:ext uri="{FF2B5EF4-FFF2-40B4-BE49-F238E27FC236}">
                <a16:creationId xmlns:a16="http://schemas.microsoft.com/office/drawing/2014/main" id="{2E5F5E27-5749-4BD7-ABA9-2B5815AE510D}"/>
              </a:ext>
            </a:extLst>
          </p:cNvPr>
          <p:cNvSpPr>
            <a:spLocks xmlns:a="http://schemas.openxmlformats.org/drawingml/2006/main" noGrp="1"/>
          </p:cNvSpPr>
          <p:nvPr/>
        </p:nvSpPr>
        <p:spPr>
          <a:xfrm xmlns:a="http://schemas.openxmlformats.org/drawingml/2006/main">
            <a:off x="8077200" y="2447925"/>
            <a:ext cx="3429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1">
                <a:solidFill>
                  <a:srgbClr val="132A39"/>
                </a:solidFill>
                <a:latin typeface="Arial"/>
                <a:ea typeface="Arial"/>
                <a:cs typeface="Arial"/>
              </a:defRPr>
            </a:pPr>
            <a:r>
              <a:rPr sz="2550" b="1">
                <a:solidFill>
                  <a:srgbClr val="132A39"/>
                </a:solidFill>
                <a:latin typeface="Arial"/>
                <a:ea typeface="Arial"/>
                <a:cs typeface="Arial"/>
              </a:rPr>
              <a:t>Prize 2 suspended</a:t>
            </a:r>
          </a:p>
        </p:txBody>
      </p:sp>
      <p:sp>
        <p:nvSpPr>
          <p:cNvPr id="11" name="">
            <a:extLst xmlns:a="http://schemas.openxmlformats.org/drawingml/2006/main">
              <a:ext uri="{FF2B5EF4-FFF2-40B4-BE49-F238E27FC236}">
                <a16:creationId xmlns:a16="http://schemas.microsoft.com/office/drawing/2014/main" id="{EE3BF124-9F76-4676-A3AD-3FCCEC7FF7A2}"/>
              </a:ext>
            </a:extLst>
          </p:cNvPr>
          <p:cNvSpPr>
            <a:spLocks xmlns:a="http://schemas.openxmlformats.org/drawingml/2006/main" noGrp="1"/>
          </p:cNvSpPr>
          <p:nvPr/>
        </p:nvSpPr>
        <p:spPr>
          <a:xfrm xmlns:a="http://schemas.openxmlformats.org/drawingml/2006/main">
            <a:off x="8077200" y="3390900"/>
            <a:ext cx="3429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566774"/>
                </a:solidFill>
                <a:latin typeface="Arial"/>
                <a:ea typeface="Arial"/>
                <a:cs typeface="Arial"/>
              </a:defRPr>
            </a:pPr>
            <a:r>
              <a:rPr sz="2025" b="0">
                <a:solidFill>
                  <a:srgbClr val="566774"/>
                </a:solidFill>
                <a:latin typeface="Arial"/>
                <a:ea typeface="Arial"/>
                <a:cs typeface="Arial"/>
              </a:rPr>
              <a:t>Richer dataset planned</a:t>
            </a:r>
          </a:p>
          <a:p xmlns:a="http://schemas.openxmlformats.org/drawingml/2006/main">
            <a:pPr>
              <a:defRPr sz="2025" b="0">
                <a:solidFill>
                  <a:srgbClr val="566774"/>
                </a:solidFill>
                <a:latin typeface="Arial"/>
                <a:ea typeface="Arial"/>
                <a:cs typeface="Arial"/>
              </a:defRPr>
            </a:pPr>
            <a:r>
              <a:rPr sz="2025" b="0">
                <a:solidFill>
                  <a:srgbClr val="566774"/>
                </a:solidFill>
                <a:latin typeface="Arial"/>
                <a:ea typeface="Arial"/>
                <a:cs typeface="Arial"/>
              </a:rPr>
              <a:t>FTC raised privacy concerns</a:t>
            </a:r>
          </a:p>
        </p:txBody>
      </p:sp>
      <p:sp>
        <p:nvSpPr>
          <p:cNvPr id="12" name="">
            <a:extLst xmlns:a="http://schemas.openxmlformats.org/drawingml/2006/main">
              <a:ext uri="{FF2B5EF4-FFF2-40B4-BE49-F238E27FC236}">
                <a16:creationId xmlns:a16="http://schemas.microsoft.com/office/drawing/2014/main" id="{43935E1F-FBA1-4560-B796-AC5C95400A52}"/>
              </a:ext>
            </a:extLst>
          </p:cNvPr>
          <p:cNvSpPr>
            <a:spLocks xmlns:a="http://schemas.openxmlformats.org/drawingml/2006/main" noGrp="1"/>
          </p:cNvSpPr>
          <p:nvPr/>
        </p:nvSpPr>
        <p:spPr>
          <a:xfrm xmlns:a="http://schemas.openxmlformats.org/drawingml/2006/main">
            <a:off x="685800" y="5029200"/>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1">
                <a:solidFill>
                  <a:srgbClr val="236FAA"/>
                </a:solidFill>
                <a:latin typeface="Arial"/>
                <a:ea typeface="Arial"/>
                <a:cs typeface="Arial"/>
              </a:defRPr>
            </a:pPr>
            <a:r>
              <a:rPr sz="2700" b="1">
                <a:solidFill>
                  <a:srgbClr val="236FAA"/>
                </a:solidFill>
                <a:latin typeface="Arial"/>
                <a:ea typeface="Arial"/>
                <a:cs typeface="Arial"/>
              </a:rPr>
              <a:t>Data disclosure enables research and can create privacy risks</a:t>
            </a:r>
          </a:p>
        </p:txBody>
      </p:sp>
      <p:sp>
        <p:nvSpPr>
          <p:cNvPr id="13" name="">
            <a:extLst xmlns:a="http://schemas.openxmlformats.org/drawingml/2006/main">
              <a:ext uri="{FF2B5EF4-FFF2-40B4-BE49-F238E27FC236}">
                <a16:creationId xmlns:a16="http://schemas.microsoft.com/office/drawing/2014/main" id="{58994753-FF75-41B8-B283-903F0096A558}"/>
              </a:ext>
            </a:extLst>
          </p:cNvPr>
          <p:cNvSpPr>
            <a:spLocks xmlns:a="http://schemas.openxmlformats.org/drawingml/2006/main" noGrp="1"/>
          </p:cNvSpPr>
          <p:nvPr/>
        </p:nvSpPr>
        <p:spPr>
          <a:xfrm xmlns:a="http://schemas.openxmlformats.org/drawingml/2006/main">
            <a:off x="685800" y="6105525"/>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0">
                <a:solidFill>
                  <a:srgbClr val="566774"/>
                </a:solidFill>
                <a:latin typeface="Arial"/>
                <a:ea typeface="Arial"/>
                <a:cs typeface="Arial"/>
              </a:defRPr>
            </a:pPr>
            <a:r>
              <a:rPr sz="1575" b="0">
                <a:solidFill>
                  <a:srgbClr val="566774"/>
                </a:solidFill>
                <a:latin typeface="Arial"/>
                <a:ea typeface="Arial"/>
                <a:cs typeface="Arial"/>
              </a:rPr>
              <a:t>Narayanan &amp; Shmatikov (2006–2008); FTC closing letter (12 March 2010)</a:t>
            </a:r>
          </a:p>
        </p:txBody>
      </p:sp>
    </p:spTree>
    <p:extLst>
      <p:ext uri="{BB962C8B-B14F-4D97-AF65-F5344CB8AC3E}">
        <p14:creationId xmlns:p14="http://schemas.microsoft.com/office/powerpoint/2010/main" val="168879097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48540D9-CEA6-4AAD-BCF4-1254FCB28944}"/>
              </a:ext>
            </a:extLst>
          </p:cNvPr>
          <p:cNvSpPr>
            <a:spLocks xmlns:a="http://schemas.openxmlformats.org/drawingml/2006/main" noGrp="1"/>
          </p:cNvSpPr>
          <p:nvPr/>
        </p:nvSpPr>
        <p:spPr>
          <a:xfrm xmlns:a="http://schemas.openxmlformats.org/drawingml/2006/main">
            <a:off x="685800" y="457200"/>
            <a:ext cx="108204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50" b="1">
                <a:solidFill>
                  <a:srgbClr val="132A39"/>
                </a:solidFill>
                <a:latin typeface="Arial"/>
                <a:ea typeface="Arial"/>
                <a:cs typeface="Arial"/>
              </a:defRPr>
            </a:pPr>
            <a:r>
              <a:rPr sz="3150" b="1">
                <a:solidFill>
                  <a:srgbClr val="132A39"/>
                </a:solidFill>
                <a:latin typeface="Arial"/>
                <a:ea typeface="Arial"/>
                <a:cs typeface="Arial"/>
              </a:rPr>
              <a:t>The information gap</a:t>
            </a:r>
          </a:p>
        </p:txBody>
      </p:sp>
      <p:sp>
        <p:nvSpPr>
          <p:cNvPr id="2" name="">
            <a:extLst xmlns:a="http://schemas.openxmlformats.org/drawingml/2006/main">
              <a:ext uri="{FF2B5EF4-FFF2-40B4-BE49-F238E27FC236}">
                <a16:creationId xmlns:a16="http://schemas.microsoft.com/office/drawing/2014/main" id="{19D56D2A-3C99-4868-A805-DFCFDB8D8EB8}"/>
              </a:ext>
            </a:extLst>
          </p:cNvPr>
          <p:cNvSpPr>
            <a:spLocks xmlns:a="http://schemas.openxmlformats.org/drawingml/2006/main" noGrp="1"/>
          </p:cNvSpPr>
          <p:nvPr/>
        </p:nvSpPr>
        <p:spPr>
          <a:xfrm xmlns:a="http://schemas.openxmlformats.org/drawingml/2006/main">
            <a:off x="11087100" y="635317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566774"/>
                </a:solidFill>
                <a:latin typeface="Arial"/>
                <a:ea typeface="Arial"/>
                <a:cs typeface="Arial"/>
              </a:defRPr>
            </a:pPr>
            <a:r>
              <a:rPr sz="1200" b="0">
                <a:solidFill>
                  <a:srgbClr val="566774"/>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59858937-2061-405C-851D-E8C424E13377}"/>
              </a:ext>
            </a:extLst>
          </p:cNvPr>
          <p:cNvSpPr>
            <a:spLocks xmlns:a="http://schemas.openxmlformats.org/drawingml/2006/main" noGrp="1"/>
          </p:cNvSpPr>
          <p:nvPr/>
        </p:nvSpPr>
        <p:spPr>
          <a:xfrm xmlns:a="http://schemas.openxmlformats.org/drawingml/2006/main">
            <a:off x="685800" y="1800225"/>
            <a:ext cx="4953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1">
                <a:solidFill>
                  <a:srgbClr val="236FAA"/>
                </a:solidFill>
                <a:latin typeface="Arial"/>
                <a:ea typeface="Arial"/>
                <a:cs typeface="Arial"/>
              </a:defRPr>
            </a:pPr>
            <a:r>
              <a:rPr sz="2700" b="1">
                <a:solidFill>
                  <a:srgbClr val="236FAA"/>
                </a:solidFill>
                <a:latin typeface="Arial"/>
                <a:ea typeface="Arial"/>
                <a:cs typeface="Arial"/>
              </a:rPr>
              <a:t>Observable</a:t>
            </a:r>
          </a:p>
        </p:txBody>
      </p:sp>
      <p:sp>
        <p:nvSpPr>
          <p:cNvPr id="4" name="">
            <a:extLst xmlns:a="http://schemas.openxmlformats.org/drawingml/2006/main">
              <a:ext uri="{FF2B5EF4-FFF2-40B4-BE49-F238E27FC236}">
                <a16:creationId xmlns:a16="http://schemas.microsoft.com/office/drawing/2014/main" id="{70016613-6BC0-47B7-98A4-B7F0CF41BAB5}"/>
              </a:ext>
            </a:extLst>
          </p:cNvPr>
          <p:cNvSpPr>
            <a:spLocks xmlns:a="http://schemas.openxmlformats.org/drawingml/2006/main" noGrp="1"/>
          </p:cNvSpPr>
          <p:nvPr/>
        </p:nvSpPr>
        <p:spPr>
          <a:xfrm xmlns:a="http://schemas.openxmlformats.org/drawingml/2006/main">
            <a:off x="685800" y="2667000"/>
            <a:ext cx="4953000"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32A39"/>
                </a:solidFill>
                <a:latin typeface="Arial"/>
                <a:ea typeface="Arial"/>
                <a:cs typeface="Arial"/>
              </a:defRPr>
            </a:pPr>
            <a:r>
              <a:rPr sz="3300" b="0">
                <a:solidFill>
                  <a:srgbClr val="132A39"/>
                </a:solidFill>
                <a:latin typeface="Arial"/>
                <a:ea typeface="Arial"/>
                <a:cs typeface="Arial"/>
              </a:rPr>
              <a:t>Outcomes</a:t>
            </a:r>
          </a:p>
          <a:p xmlns:a="http://schemas.openxmlformats.org/drawingml/2006/main">
            <a:pPr>
              <a:defRPr sz="3300" b="0">
                <a:solidFill>
                  <a:srgbClr val="132A39"/>
                </a:solidFill>
                <a:latin typeface="Arial"/>
                <a:ea typeface="Arial"/>
                <a:cs typeface="Arial"/>
              </a:defRPr>
            </a:pPr>
            <a:r>
              <a:rPr sz="3300" b="0">
                <a:solidFill>
                  <a:srgbClr val="132A39"/>
                </a:solidFill>
                <a:latin typeface="Arial"/>
                <a:ea typeface="Arial"/>
                <a:cs typeface="Arial"/>
              </a:rPr>
              <a:t>Method families</a:t>
            </a:r>
          </a:p>
        </p:txBody>
      </p:sp>
      <p:sp>
        <p:nvSpPr>
          <p:cNvPr id="5" name="">
            <a:extLst xmlns:a="http://schemas.openxmlformats.org/drawingml/2006/main">
              <a:ext uri="{FF2B5EF4-FFF2-40B4-BE49-F238E27FC236}">
                <a16:creationId xmlns:a16="http://schemas.microsoft.com/office/drawing/2014/main" id="{6E350673-9A21-42DC-A12A-95D40F34C711}"/>
              </a:ext>
            </a:extLst>
          </p:cNvPr>
          <p:cNvSpPr>
            <a:spLocks xmlns:a="http://schemas.openxmlformats.org/drawingml/2006/main" noGrp="1"/>
          </p:cNvSpPr>
          <p:nvPr/>
        </p:nvSpPr>
        <p:spPr>
          <a:xfrm xmlns:a="http://schemas.openxmlformats.org/drawingml/2006/main">
            <a:off x="6686550" y="1800225"/>
            <a:ext cx="4819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1">
                <a:solidFill>
                  <a:srgbClr val="566774"/>
                </a:solidFill>
                <a:latin typeface="Arial"/>
                <a:ea typeface="Arial"/>
                <a:cs typeface="Arial"/>
              </a:defRPr>
            </a:pPr>
            <a:r>
              <a:rPr sz="2700" b="1">
                <a:solidFill>
                  <a:srgbClr val="566774"/>
                </a:solidFill>
                <a:latin typeface="Arial"/>
                <a:ea typeface="Arial"/>
                <a:cs typeface="Arial"/>
              </a:rPr>
              <a:t>Often unavailable</a:t>
            </a:r>
          </a:p>
        </p:txBody>
      </p:sp>
      <p:sp>
        <p:nvSpPr>
          <p:cNvPr id="6" name="">
            <a:extLst xmlns:a="http://schemas.openxmlformats.org/drawingml/2006/main">
              <a:ext uri="{FF2B5EF4-FFF2-40B4-BE49-F238E27FC236}">
                <a16:creationId xmlns:a16="http://schemas.microsoft.com/office/drawing/2014/main" id="{55A6A4B6-9C2B-4BF0-B2DA-0D303E962CA0}"/>
              </a:ext>
            </a:extLst>
          </p:cNvPr>
          <p:cNvSpPr>
            <a:spLocks xmlns:a="http://schemas.openxmlformats.org/drawingml/2006/main" noGrp="1"/>
          </p:cNvSpPr>
          <p:nvPr/>
        </p:nvSpPr>
        <p:spPr>
          <a:xfrm xmlns:a="http://schemas.openxmlformats.org/drawingml/2006/main">
            <a:off x="6686550" y="2667000"/>
            <a:ext cx="4819650"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566774"/>
                </a:solidFill>
                <a:latin typeface="Arial"/>
                <a:ea typeface="Arial"/>
                <a:cs typeface="Arial"/>
              </a:defRPr>
            </a:pPr>
            <a:r>
              <a:rPr sz="2550" b="0">
                <a:solidFill>
                  <a:srgbClr val="566774"/>
                </a:solidFill>
                <a:latin typeface="Arial"/>
                <a:ea typeface="Arial"/>
                <a:cs typeface="Arial"/>
              </a:rPr>
              <a:t>Parameters</a:t>
            </a:r>
          </a:p>
          <a:p xmlns:a="http://schemas.openxmlformats.org/drawingml/2006/main">
            <a:pPr>
              <a:defRPr sz="2550" b="0">
                <a:solidFill>
                  <a:srgbClr val="566774"/>
                </a:solidFill>
                <a:latin typeface="Arial"/>
                <a:ea typeface="Arial"/>
                <a:cs typeface="Arial"/>
              </a:defRPr>
            </a:pPr>
            <a:r>
              <a:rPr sz="2550" b="0">
                <a:solidFill>
                  <a:srgbClr val="566774"/>
                </a:solidFill>
                <a:latin typeface="Arial"/>
                <a:ea typeface="Arial"/>
                <a:cs typeface="Arial"/>
              </a:rPr>
              <a:t>Implementation / source code</a:t>
            </a:r>
          </a:p>
        </p:txBody>
      </p:sp>
      <p:sp>
        <p:nvSpPr>
          <p:cNvPr id="7" name="">
            <a:extLst xmlns:a="http://schemas.openxmlformats.org/drawingml/2006/main">
              <a:ext uri="{FF2B5EF4-FFF2-40B4-BE49-F238E27FC236}">
                <a16:creationId xmlns:a16="http://schemas.microsoft.com/office/drawing/2014/main" id="{693665BB-61E5-4F55-8424-0F773C30C4B5}"/>
              </a:ext>
            </a:extLst>
          </p:cNvPr>
          <p:cNvSpPr>
            <a:spLocks xmlns:a="http://schemas.openxmlformats.org/drawingml/2006/main" noGrp="1"/>
          </p:cNvSpPr>
          <p:nvPr/>
        </p:nvSpPr>
        <p:spPr>
          <a:xfrm xmlns:a="http://schemas.openxmlformats.org/drawingml/2006/main">
            <a:off x="685800" y="5172075"/>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1">
                <a:solidFill>
                  <a:srgbClr val="132A39"/>
                </a:solidFill>
                <a:latin typeface="Arial"/>
                <a:ea typeface="Arial"/>
                <a:cs typeface="Arial"/>
              </a:defRPr>
            </a:pPr>
            <a:r>
              <a:rPr sz="3450" b="1">
                <a:solidFill>
                  <a:srgbClr val="132A39"/>
                </a:solidFill>
                <a:latin typeface="Arial"/>
                <a:ea typeface="Arial"/>
                <a:cs typeface="Arial"/>
              </a:rPr>
              <a:t>Can we still identify meaningful patterns?</a:t>
            </a:r>
          </a:p>
        </p:txBody>
      </p:sp>
    </p:spTree>
    <p:extLst>
      <p:ext uri="{BB962C8B-B14F-4D97-AF65-F5344CB8AC3E}">
        <p14:creationId xmlns:p14="http://schemas.microsoft.com/office/powerpoint/2010/main" val="190894997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8424407-C3D3-4B3E-BC1D-E6FD2743AEEB}"/>
              </a:ext>
            </a:extLst>
          </p:cNvPr>
          <p:cNvSpPr>
            <a:spLocks xmlns:a="http://schemas.openxmlformats.org/drawingml/2006/main" noGrp="1"/>
          </p:cNvSpPr>
          <p:nvPr/>
        </p:nvSpPr>
        <p:spPr>
          <a:xfrm xmlns:a="http://schemas.openxmlformats.org/drawingml/2006/main">
            <a:off x="685800" y="457200"/>
            <a:ext cx="108204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50" b="1">
                <a:solidFill>
                  <a:srgbClr val="132A39"/>
                </a:solidFill>
                <a:latin typeface="Arial"/>
                <a:ea typeface="Arial"/>
                <a:cs typeface="Arial"/>
              </a:defRPr>
            </a:pPr>
            <a:r>
              <a:rPr sz="3150" b="1">
                <a:solidFill>
                  <a:srgbClr val="132A39"/>
                </a:solidFill>
                <a:latin typeface="Arial"/>
                <a:ea typeface="Arial"/>
                <a:cs typeface="Arial"/>
              </a:rPr>
              <a:t>Why PWS Cup 2025?</a:t>
            </a:r>
          </a:p>
        </p:txBody>
      </p:sp>
      <p:sp>
        <p:nvSpPr>
          <p:cNvPr id="2" name="">
            <a:extLst xmlns:a="http://schemas.openxmlformats.org/drawingml/2006/main">
              <a:ext uri="{FF2B5EF4-FFF2-40B4-BE49-F238E27FC236}">
                <a16:creationId xmlns:a16="http://schemas.microsoft.com/office/drawing/2014/main" id="{2721581B-4113-40EE-A901-9B7C467E264D}"/>
              </a:ext>
            </a:extLst>
          </p:cNvPr>
          <p:cNvSpPr>
            <a:spLocks xmlns:a="http://schemas.openxmlformats.org/drawingml/2006/main" noGrp="1"/>
          </p:cNvSpPr>
          <p:nvPr/>
        </p:nvSpPr>
        <p:spPr>
          <a:xfrm xmlns:a="http://schemas.openxmlformats.org/drawingml/2006/main">
            <a:off x="11087100" y="635317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566774"/>
                </a:solidFill>
                <a:latin typeface="Arial"/>
                <a:ea typeface="Arial"/>
                <a:cs typeface="Arial"/>
              </a:defRPr>
            </a:pPr>
            <a:r>
              <a:rPr sz="1200" b="0">
                <a:solidFill>
                  <a:srgbClr val="566774"/>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FCACC5B5-C13F-42C7-9E47-1D14F4F225BE}"/>
              </a:ext>
            </a:extLst>
          </p:cNvPr>
          <p:cNvSpPr>
            <a:spLocks xmlns:a="http://schemas.openxmlformats.org/drawingml/2006/main" noGrp="1"/>
          </p:cNvSpPr>
          <p:nvPr/>
        </p:nvSpPr>
        <p:spPr>
          <a:xfrm xmlns:a="http://schemas.openxmlformats.org/drawingml/2006/main">
            <a:off x="685800" y="1657350"/>
            <a:ext cx="3028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1">
                <a:solidFill>
                  <a:srgbClr val="236FAA"/>
                </a:solidFill>
                <a:latin typeface="Arial"/>
                <a:ea typeface="Arial"/>
                <a:cs typeface="Arial"/>
              </a:defRPr>
            </a:pPr>
            <a:r>
              <a:rPr sz="2550" b="1">
                <a:solidFill>
                  <a:srgbClr val="236FAA"/>
                </a:solidFill>
                <a:latin typeface="Arial"/>
                <a:ea typeface="Arial"/>
                <a:cs typeface="Arial"/>
              </a:rPr>
              <a:t>DEFEND</a:t>
            </a:r>
          </a:p>
        </p:txBody>
      </p:sp>
      <p:sp>
        <p:nvSpPr>
          <p:cNvPr id="4" name="">
            <a:extLst xmlns:a="http://schemas.openxmlformats.org/drawingml/2006/main">
              <a:ext uri="{FF2B5EF4-FFF2-40B4-BE49-F238E27FC236}">
                <a16:creationId xmlns:a16="http://schemas.microsoft.com/office/drawing/2014/main" id="{F056B5E2-A909-4FA1-8BA3-C259BB1738FB}"/>
              </a:ext>
            </a:extLst>
          </p:cNvPr>
          <p:cNvSpPr>
            <a:spLocks xmlns:a="http://schemas.openxmlformats.org/drawingml/2006/main" noGrp="1"/>
          </p:cNvSpPr>
          <p:nvPr/>
        </p:nvSpPr>
        <p:spPr>
          <a:xfrm xmlns:a="http://schemas.openxmlformats.org/drawingml/2006/main">
            <a:off x="4514850" y="1657350"/>
            <a:ext cx="314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1">
                <a:solidFill>
                  <a:srgbClr val="236FAA"/>
                </a:solidFill>
                <a:latin typeface="Arial"/>
                <a:ea typeface="Arial"/>
                <a:cs typeface="Arial"/>
              </a:defRPr>
            </a:pPr>
            <a:r>
              <a:rPr sz="2550" b="1">
                <a:solidFill>
                  <a:srgbClr val="236FAA"/>
                </a:solidFill>
                <a:latin typeface="Arial"/>
                <a:ea typeface="Arial"/>
                <a:cs typeface="Arial"/>
              </a:rPr>
              <a:t>RELEASE</a:t>
            </a:r>
          </a:p>
        </p:txBody>
      </p:sp>
      <p:sp>
        <p:nvSpPr>
          <p:cNvPr id="5" name="">
            <a:extLst xmlns:a="http://schemas.openxmlformats.org/drawingml/2006/main">
              <a:ext uri="{FF2B5EF4-FFF2-40B4-BE49-F238E27FC236}">
                <a16:creationId xmlns:a16="http://schemas.microsoft.com/office/drawing/2014/main" id="{96C9687D-A1FE-4AB3-9ADB-6197A59F457C}"/>
              </a:ext>
            </a:extLst>
          </p:cNvPr>
          <p:cNvSpPr>
            <a:spLocks xmlns:a="http://schemas.openxmlformats.org/drawingml/2006/main" noGrp="1"/>
          </p:cNvSpPr>
          <p:nvPr/>
        </p:nvSpPr>
        <p:spPr>
          <a:xfrm xmlns:a="http://schemas.openxmlformats.org/drawingml/2006/main">
            <a:off x="8343900" y="1657350"/>
            <a:ext cx="314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1">
                <a:solidFill>
                  <a:srgbClr val="D98424"/>
                </a:solidFill>
                <a:latin typeface="Arial"/>
                <a:ea typeface="Arial"/>
                <a:cs typeface="Arial"/>
              </a:defRPr>
            </a:pPr>
            <a:r>
              <a:rPr sz="2550" b="1">
                <a:solidFill>
                  <a:srgbClr val="D98424"/>
                </a:solidFill>
                <a:latin typeface="Arial"/>
                <a:ea typeface="Arial"/>
                <a:cs typeface="Arial"/>
              </a:rPr>
              <a:t>ATTACK</a:t>
            </a:r>
          </a:p>
        </p:txBody>
      </p:sp>
      <p:sp>
        <p:nvSpPr>
          <p:cNvPr id="6" name="">
            <a:extLst xmlns:a="http://schemas.openxmlformats.org/drawingml/2006/main">
              <a:ext uri="{FF2B5EF4-FFF2-40B4-BE49-F238E27FC236}">
                <a16:creationId xmlns:a16="http://schemas.microsoft.com/office/drawing/2014/main" id="{C55ED558-1364-4DF9-89D9-1EEE13CC9965}"/>
              </a:ext>
            </a:extLst>
          </p:cNvPr>
          <p:cNvSpPr>
            <a:spLocks xmlns:a="http://schemas.openxmlformats.org/drawingml/2006/main" noGrp="1"/>
          </p:cNvSpPr>
          <p:nvPr/>
        </p:nvSpPr>
        <p:spPr>
          <a:xfrm xmlns:a="http://schemas.openxmlformats.org/drawingml/2006/main">
            <a:off x="685800" y="2400300"/>
            <a:ext cx="30289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32A39"/>
                </a:solidFill>
                <a:latin typeface="Arial"/>
                <a:ea typeface="Arial"/>
                <a:cs typeface="Arial"/>
              </a:defRPr>
            </a:pPr>
            <a:r>
              <a:rPr sz="2250" b="0">
                <a:solidFill>
                  <a:srgbClr val="132A39"/>
                </a:solidFill>
                <a:latin typeface="Arial"/>
                <a:ea typeface="Arial"/>
                <a:cs typeface="Arial"/>
              </a:rPr>
              <a:t>Hidden sample of</a:t>
            </a:r>
          </a:p>
          <a:p xmlns:a="http://schemas.openxmlformats.org/drawingml/2006/main">
            <a:pPr>
              <a:defRPr sz="2250" b="0">
                <a:solidFill>
                  <a:srgbClr val="132A39"/>
                </a:solidFill>
                <a:latin typeface="Arial"/>
                <a:ea typeface="Arial"/>
                <a:cs typeface="Arial"/>
              </a:defRPr>
            </a:pPr>
            <a:r>
              <a:rPr sz="2250" b="0">
                <a:solidFill>
                  <a:srgbClr val="132A39"/>
                </a:solidFill>
                <a:latin typeface="Arial"/>
                <a:ea typeface="Arial"/>
                <a:cs typeface="Arial"/>
              </a:rPr>
              <a:t>synthetic health records</a:t>
            </a:r>
          </a:p>
        </p:txBody>
      </p:sp>
      <p:sp>
        <p:nvSpPr>
          <p:cNvPr id="7" name="">
            <a:extLst xmlns:a="http://schemas.openxmlformats.org/drawingml/2006/main">
              <a:ext uri="{FF2B5EF4-FFF2-40B4-BE49-F238E27FC236}">
                <a16:creationId xmlns:a16="http://schemas.microsoft.com/office/drawing/2014/main" id="{43946504-A34D-4AB5-AC18-2ABA81C73FB3}"/>
              </a:ext>
            </a:extLst>
          </p:cNvPr>
          <p:cNvSpPr>
            <a:spLocks xmlns:a="http://schemas.openxmlformats.org/drawingml/2006/main" noGrp="1"/>
          </p:cNvSpPr>
          <p:nvPr/>
        </p:nvSpPr>
        <p:spPr>
          <a:xfrm xmlns:a="http://schemas.openxmlformats.org/drawingml/2006/main">
            <a:off x="4514850" y="2400300"/>
            <a:ext cx="3143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32A39"/>
                </a:solidFill>
                <a:latin typeface="Arial"/>
                <a:ea typeface="Arial"/>
                <a:cs typeface="Arial"/>
              </a:defRPr>
            </a:pPr>
            <a:r>
              <a:rPr sz="2250" b="0">
                <a:solidFill>
                  <a:srgbClr val="132A39"/>
                </a:solidFill>
                <a:latin typeface="Arial"/>
                <a:ea typeface="Arial"/>
                <a:cs typeface="Arial"/>
              </a:rPr>
              <a:t>Anonymized data</a:t>
            </a:r>
          </a:p>
          <a:p xmlns:a="http://schemas.openxmlformats.org/drawingml/2006/main">
            <a:pPr>
              <a:defRPr sz="2250" b="0">
                <a:solidFill>
                  <a:srgbClr val="132A39"/>
                </a:solidFill>
                <a:latin typeface="Arial"/>
                <a:ea typeface="Arial"/>
                <a:cs typeface="Arial"/>
              </a:defRPr>
            </a:pPr>
            <a:r>
              <a:rPr sz="2250" b="0">
                <a:solidFill>
                  <a:srgbClr val="132A39"/>
                </a:solidFill>
                <a:latin typeface="Arial"/>
                <a:ea typeface="Arial"/>
                <a:cs typeface="Arial"/>
              </a:rPr>
              <a:t>+ stroke-risk model</a:t>
            </a:r>
          </a:p>
        </p:txBody>
      </p:sp>
      <p:sp>
        <p:nvSpPr>
          <p:cNvPr id="8" name="">
            <a:extLst xmlns:a="http://schemas.openxmlformats.org/drawingml/2006/main">
              <a:ext uri="{FF2B5EF4-FFF2-40B4-BE49-F238E27FC236}">
                <a16:creationId xmlns:a16="http://schemas.microsoft.com/office/drawing/2014/main" id="{B4851C33-445A-41C0-92C2-244054CE5A84}"/>
              </a:ext>
            </a:extLst>
          </p:cNvPr>
          <p:cNvSpPr>
            <a:spLocks xmlns:a="http://schemas.openxmlformats.org/drawingml/2006/main" noGrp="1"/>
          </p:cNvSpPr>
          <p:nvPr/>
        </p:nvSpPr>
        <p:spPr>
          <a:xfrm xmlns:a="http://schemas.openxmlformats.org/drawingml/2006/main">
            <a:off x="8343900" y="2400300"/>
            <a:ext cx="31623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32A39"/>
                </a:solidFill>
                <a:latin typeface="Arial"/>
                <a:ea typeface="Arial"/>
                <a:cs typeface="Arial"/>
              </a:defRPr>
            </a:pPr>
            <a:r>
              <a:rPr sz="2250" b="0">
                <a:solidFill>
                  <a:srgbClr val="132A39"/>
                </a:solidFill>
                <a:latin typeface="Arial"/>
                <a:ea typeface="Arial"/>
                <a:cs typeface="Arial"/>
              </a:rPr>
              <a:t>Infer who belonged</a:t>
            </a:r>
          </a:p>
          <a:p xmlns:a="http://schemas.openxmlformats.org/drawingml/2006/main">
            <a:pPr>
              <a:defRPr sz="2250" b="0">
                <a:solidFill>
                  <a:srgbClr val="132A39"/>
                </a:solidFill>
                <a:latin typeface="Arial"/>
                <a:ea typeface="Arial"/>
                <a:cs typeface="Arial"/>
              </a:defRPr>
            </a:pPr>
            <a:r>
              <a:rPr sz="2250" b="0">
                <a:solidFill>
                  <a:srgbClr val="132A39"/>
                </a:solidFill>
                <a:latin typeface="Arial"/>
                <a:ea typeface="Arial"/>
                <a:cs typeface="Arial"/>
              </a:rPr>
              <a:t>to the hidden sample</a:t>
            </a:r>
          </a:p>
        </p:txBody>
      </p:sp>
      <p:sp>
        <p:nvSpPr>
          <p:cNvPr id="9" name="">
            <a:extLst xmlns:a="http://schemas.openxmlformats.org/drawingml/2006/main">
              <a:ext uri="{FF2B5EF4-FFF2-40B4-BE49-F238E27FC236}">
                <a16:creationId xmlns:a16="http://schemas.microsoft.com/office/drawing/2014/main" id="{EC674F75-2305-4E24-A8F8-53D94DB68B02}"/>
              </a:ext>
            </a:extLst>
          </p:cNvPr>
          <p:cNvSpPr>
            <a:spLocks xmlns:a="http://schemas.openxmlformats.org/drawingml/2006/main" noGrp="1"/>
          </p:cNvSpPr>
          <p:nvPr/>
        </p:nvSpPr>
        <p:spPr>
          <a:xfrm xmlns:a="http://schemas.openxmlformats.org/drawingml/2006/main">
            <a:off x="685800" y="4191000"/>
            <a:ext cx="323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5700" b="1">
                <a:solidFill>
                  <a:srgbClr val="236FAA"/>
                </a:solidFill>
                <a:latin typeface="Arial"/>
                <a:ea typeface="Arial"/>
                <a:cs typeface="Arial"/>
              </a:defRPr>
            </a:pPr>
            <a:r>
              <a:rPr sz="5700" b="1">
                <a:solidFill>
                  <a:srgbClr val="236FAA"/>
                </a:solidFill>
                <a:latin typeface="Arial"/>
                <a:ea typeface="Arial"/>
                <a:cs typeface="Arial"/>
              </a:rPr>
              <a:t>2 / 24</a:t>
            </a:r>
          </a:p>
        </p:txBody>
      </p:sp>
      <p:sp>
        <p:nvSpPr>
          <p:cNvPr id="10" name="">
            <a:extLst xmlns:a="http://schemas.openxmlformats.org/drawingml/2006/main">
              <a:ext uri="{FF2B5EF4-FFF2-40B4-BE49-F238E27FC236}">
                <a16:creationId xmlns:a16="http://schemas.microsoft.com/office/drawing/2014/main" id="{66CFBA1A-6930-4F0D-9A36-40B2C2DACD44}"/>
              </a:ext>
            </a:extLst>
          </p:cNvPr>
          <p:cNvSpPr>
            <a:spLocks xmlns:a="http://schemas.openxmlformats.org/drawingml/2006/main" noGrp="1"/>
          </p:cNvSpPr>
          <p:nvPr/>
        </p:nvSpPr>
        <p:spPr>
          <a:xfrm xmlns:a="http://schemas.openxmlformats.org/drawingml/2006/main">
            <a:off x="714375" y="5257800"/>
            <a:ext cx="33813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32A39"/>
                </a:solidFill>
                <a:latin typeface="Arial"/>
                <a:ea typeface="Arial"/>
                <a:cs typeface="Arial"/>
              </a:defRPr>
            </a:pPr>
            <a:r>
              <a:rPr sz="2175" b="0">
                <a:solidFill>
                  <a:srgbClr val="132A39"/>
                </a:solidFill>
                <a:latin typeface="Arial"/>
                <a:ea typeface="Arial"/>
                <a:cs typeface="Arial"/>
              </a:rPr>
              <a:t>teams released code</a:t>
            </a:r>
          </a:p>
        </p:txBody>
      </p:sp>
      <p:sp>
        <p:nvSpPr>
          <p:cNvPr id="11" name="">
            <a:extLst xmlns:a="http://schemas.openxmlformats.org/drawingml/2006/main">
              <a:ext uri="{FF2B5EF4-FFF2-40B4-BE49-F238E27FC236}">
                <a16:creationId xmlns:a16="http://schemas.microsoft.com/office/drawing/2014/main" id="{0BFFBDF2-F767-47C0-AD87-4D9D97D31227}"/>
              </a:ext>
            </a:extLst>
          </p:cNvPr>
          <p:cNvSpPr>
            <a:spLocks xmlns:a="http://schemas.openxmlformats.org/drawingml/2006/main" noGrp="1"/>
          </p:cNvSpPr>
          <p:nvPr/>
        </p:nvSpPr>
        <p:spPr>
          <a:xfrm xmlns:a="http://schemas.openxmlformats.org/drawingml/2006/main">
            <a:off x="4838700" y="4162425"/>
            <a:ext cx="666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625" b="1">
                <a:solidFill>
                  <a:srgbClr val="132A39"/>
                </a:solidFill>
                <a:latin typeface="Arial"/>
                <a:ea typeface="Arial"/>
                <a:cs typeface="Arial"/>
              </a:defRPr>
            </a:pPr>
            <a:r>
              <a:rPr sz="2625" b="1">
                <a:solidFill>
                  <a:srgbClr val="132A39"/>
                </a:solidFill>
                <a:latin typeface="Arial"/>
                <a:ea typeface="Arial"/>
                <a:cs typeface="Arial"/>
              </a:rPr>
              <a:t>Strategies described in posters and talks</a:t>
            </a:r>
          </a:p>
        </p:txBody>
      </p:sp>
      <p:sp>
        <p:nvSpPr>
          <p:cNvPr id="12" name="">
            <a:extLst xmlns:a="http://schemas.openxmlformats.org/drawingml/2006/main">
              <a:ext uri="{FF2B5EF4-FFF2-40B4-BE49-F238E27FC236}">
                <a16:creationId xmlns:a16="http://schemas.microsoft.com/office/drawing/2014/main" id="{9BB6ADDF-DAB3-497B-866E-BEBD3A7544A4}"/>
              </a:ext>
            </a:extLst>
          </p:cNvPr>
          <p:cNvSpPr>
            <a:spLocks xmlns:a="http://schemas.openxmlformats.org/drawingml/2006/main" noGrp="1"/>
          </p:cNvSpPr>
          <p:nvPr/>
        </p:nvSpPr>
        <p:spPr>
          <a:xfrm xmlns:a="http://schemas.openxmlformats.org/drawingml/2006/main">
            <a:off x="4838700" y="5286375"/>
            <a:ext cx="6667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566774"/>
                </a:solidFill>
                <a:latin typeface="Arial"/>
                <a:ea typeface="Arial"/>
                <a:cs typeface="Arial"/>
              </a:defRPr>
            </a:pPr>
            <a:r>
              <a:rPr sz="2325" b="0">
                <a:solidFill>
                  <a:srgbClr val="566774"/>
                </a:solidFill>
                <a:latin typeface="Arial"/>
                <a:ea typeface="Arial"/>
                <a:cs typeface="Arial"/>
              </a:rPr>
              <a:t>Outcomes measured under a common framework</a:t>
            </a:r>
          </a:p>
        </p:txBody>
      </p:sp>
    </p:spTree>
    <p:extLst>
      <p:ext uri="{BB962C8B-B14F-4D97-AF65-F5344CB8AC3E}">
        <p14:creationId xmlns:p14="http://schemas.microsoft.com/office/powerpoint/2010/main" val="166857393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88AC3DD-DE92-4EF3-817C-5E751A538931}"/>
              </a:ext>
            </a:extLst>
          </p:cNvPr>
          <p:cNvSpPr>
            <a:spLocks xmlns:a="http://schemas.openxmlformats.org/drawingml/2006/main" noGrp="1"/>
          </p:cNvSpPr>
          <p:nvPr/>
        </p:nvSpPr>
        <p:spPr>
          <a:xfrm xmlns:a="http://schemas.openxmlformats.org/drawingml/2006/main">
            <a:off x="685800" y="457200"/>
            <a:ext cx="108204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50" b="1">
                <a:solidFill>
                  <a:srgbClr val="132A39"/>
                </a:solidFill>
                <a:latin typeface="Arial"/>
                <a:ea typeface="Arial"/>
                <a:cs typeface="Arial"/>
              </a:defRPr>
            </a:pPr>
            <a:r>
              <a:rPr sz="3150" b="1">
                <a:solidFill>
                  <a:srgbClr val="132A39"/>
                </a:solidFill>
                <a:latin typeface="Arial"/>
                <a:ea typeface="Arial"/>
                <a:cs typeface="Arial"/>
              </a:rPr>
              <a:t>From presentations to testable questions</a:t>
            </a:r>
          </a:p>
        </p:txBody>
      </p:sp>
      <p:sp>
        <p:nvSpPr>
          <p:cNvPr id="2" name="">
            <a:extLst xmlns:a="http://schemas.openxmlformats.org/drawingml/2006/main">
              <a:ext uri="{FF2B5EF4-FFF2-40B4-BE49-F238E27FC236}">
                <a16:creationId xmlns:a16="http://schemas.microsoft.com/office/drawing/2014/main" id="{97A96B6C-89F0-4CA3-B99D-E323C738E652}"/>
              </a:ext>
            </a:extLst>
          </p:cNvPr>
          <p:cNvSpPr>
            <a:spLocks xmlns:a="http://schemas.openxmlformats.org/drawingml/2006/main" noGrp="1"/>
          </p:cNvSpPr>
          <p:nvPr/>
        </p:nvSpPr>
        <p:spPr>
          <a:xfrm xmlns:a="http://schemas.openxmlformats.org/drawingml/2006/main">
            <a:off x="11087100" y="635317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566774"/>
                </a:solidFill>
                <a:latin typeface="Arial"/>
                <a:ea typeface="Arial"/>
                <a:cs typeface="Arial"/>
              </a:defRPr>
            </a:pPr>
            <a:r>
              <a:rPr sz="1200" b="0">
                <a:solidFill>
                  <a:srgbClr val="566774"/>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97180346-9466-4667-819C-22AD019A2310}"/>
              </a:ext>
            </a:extLst>
          </p:cNvPr>
          <p:cNvSpPr>
            <a:spLocks xmlns:a="http://schemas.openxmlformats.org/drawingml/2006/main" noGrp="1"/>
          </p:cNvSpPr>
          <p:nvPr/>
        </p:nvSpPr>
        <p:spPr>
          <a:xfrm xmlns:a="http://schemas.openxmlformats.org/drawingml/2006/main">
            <a:off x="685800" y="1619250"/>
            <a:ext cx="108204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825" b="1">
                <a:solidFill>
                  <a:srgbClr val="236FAA"/>
                </a:solidFill>
                <a:latin typeface="Arial"/>
                <a:ea typeface="Arial"/>
                <a:cs typeface="Arial"/>
              </a:defRPr>
            </a:pPr>
            <a:r>
              <a:rPr sz="3825" b="1">
                <a:solidFill>
                  <a:srgbClr val="236FAA"/>
                </a:solidFill>
                <a:latin typeface="Arial"/>
                <a:ea typeface="Arial"/>
                <a:cs typeface="Arial"/>
              </a:rPr>
              <a:t>24 teams   →   20 reconstructed</a:t>
            </a:r>
          </a:p>
        </p:txBody>
      </p:sp>
      <p:sp>
        <p:nvSpPr>
          <p:cNvPr id="4" name="">
            <a:extLst xmlns:a="http://schemas.openxmlformats.org/drawingml/2006/main">
              <a:ext uri="{FF2B5EF4-FFF2-40B4-BE49-F238E27FC236}">
                <a16:creationId xmlns:a16="http://schemas.microsoft.com/office/drawing/2014/main" id="{6AF0A2F7-D91D-4523-B6D1-31E2C76ADBDB}"/>
              </a:ext>
            </a:extLst>
          </p:cNvPr>
          <p:cNvSpPr>
            <a:spLocks xmlns:a="http://schemas.openxmlformats.org/drawingml/2006/main" noGrp="1"/>
          </p:cNvSpPr>
          <p:nvPr/>
        </p:nvSpPr>
        <p:spPr>
          <a:xfrm xmlns:a="http://schemas.openxmlformats.org/drawingml/2006/main">
            <a:off x="685800" y="276225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566774"/>
                </a:solidFill>
                <a:latin typeface="Arial"/>
                <a:ea typeface="Arial"/>
                <a:cs typeface="Arial"/>
              </a:defRPr>
            </a:pPr>
            <a:r>
              <a:rPr sz="2175" b="0">
                <a:solidFill>
                  <a:srgbClr val="566774"/>
                </a:solidFill>
                <a:latin typeface="Arial"/>
                <a:ea typeface="Arial"/>
                <a:cs typeface="Arial"/>
              </a:rPr>
              <a:t>Categorical features: base, synthesis, noise, optimization, attack strategy</a:t>
            </a:r>
          </a:p>
        </p:txBody>
      </p:sp>
      <p:sp>
        <p:nvSpPr>
          <p:cNvPr id="5" name="">
            <a:extLst xmlns:a="http://schemas.openxmlformats.org/drawingml/2006/main">
              <a:ext uri="{FF2B5EF4-FFF2-40B4-BE49-F238E27FC236}">
                <a16:creationId xmlns:a16="http://schemas.microsoft.com/office/drawing/2014/main" id="{4781D66C-EC85-4EC2-B293-4A4BA56B2297}"/>
              </a:ext>
            </a:extLst>
          </p:cNvPr>
          <p:cNvSpPr>
            <a:spLocks xmlns:a="http://schemas.openxmlformats.org/drawingml/2006/main" noGrp="1"/>
          </p:cNvSpPr>
          <p:nvPr/>
        </p:nvSpPr>
        <p:spPr>
          <a:xfrm xmlns:a="http://schemas.openxmlformats.org/drawingml/2006/main">
            <a:off x="685800" y="3943350"/>
            <a:ext cx="4953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1">
                <a:solidFill>
                  <a:srgbClr val="132A39"/>
                </a:solidFill>
                <a:latin typeface="Arial"/>
                <a:ea typeface="Arial"/>
                <a:cs typeface="Arial"/>
              </a:defRPr>
            </a:pPr>
            <a:r>
              <a:rPr sz="2700" b="1">
                <a:solidFill>
                  <a:srgbClr val="132A39"/>
                </a:solidFill>
                <a:latin typeface="Arial"/>
                <a:ea typeface="Arial"/>
                <a:cs typeface="Arial"/>
              </a:rPr>
              <a:t>H1 · 20 teams</a:t>
            </a:r>
          </a:p>
        </p:txBody>
      </p:sp>
      <p:sp>
        <p:nvSpPr>
          <p:cNvPr id="6" name="">
            <a:extLst xmlns:a="http://schemas.openxmlformats.org/drawingml/2006/main">
              <a:ext uri="{FF2B5EF4-FFF2-40B4-BE49-F238E27FC236}">
                <a16:creationId xmlns:a16="http://schemas.microsoft.com/office/drawing/2014/main" id="{EEAB39AD-D4DC-4F1D-A569-7B32BBCBD0DA}"/>
              </a:ext>
            </a:extLst>
          </p:cNvPr>
          <p:cNvSpPr>
            <a:spLocks xmlns:a="http://schemas.openxmlformats.org/drawingml/2006/main" noGrp="1"/>
          </p:cNvSpPr>
          <p:nvPr/>
        </p:nvSpPr>
        <p:spPr>
          <a:xfrm xmlns:a="http://schemas.openxmlformats.org/drawingml/2006/main">
            <a:off x="685800" y="4676775"/>
            <a:ext cx="5048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0">
                <a:solidFill>
                  <a:srgbClr val="132A39"/>
                </a:solidFill>
                <a:latin typeface="Arial"/>
                <a:ea typeface="Arial"/>
                <a:cs typeface="Arial"/>
              </a:defRPr>
            </a:pPr>
            <a:r>
              <a:rPr sz="2400" b="0">
                <a:solidFill>
                  <a:srgbClr val="132A39"/>
                </a:solidFill>
                <a:latin typeface="Arial"/>
                <a:ea typeface="Arial"/>
                <a:cs typeface="Arial"/>
              </a:rPr>
              <a:t>Design choices and</a:t>
            </a:r>
          </a:p>
          <a:p xmlns:a="http://schemas.openxmlformats.org/drawingml/2006/main">
            <a:pPr>
              <a:defRPr sz="2400" b="0">
                <a:solidFill>
                  <a:srgbClr val="132A39"/>
                </a:solidFill>
                <a:latin typeface="Arial"/>
                <a:ea typeface="Arial"/>
                <a:cs typeface="Arial"/>
              </a:defRPr>
            </a:pPr>
            <a:r>
              <a:rPr sz="2400" b="0">
                <a:solidFill>
                  <a:srgbClr val="132A39"/>
                </a:solidFill>
                <a:latin typeface="Arial"/>
                <a:ea typeface="Arial"/>
                <a:cs typeface="Arial"/>
              </a:rPr>
              <a:t>utility / anonymization</a:t>
            </a:r>
          </a:p>
        </p:txBody>
      </p:sp>
      <p:sp>
        <p:nvSpPr>
          <p:cNvPr id="7" name="">
            <a:extLst xmlns:a="http://schemas.openxmlformats.org/drawingml/2006/main">
              <a:ext uri="{FF2B5EF4-FFF2-40B4-BE49-F238E27FC236}">
                <a16:creationId xmlns:a16="http://schemas.microsoft.com/office/drawing/2014/main" id="{225BFAD2-FD60-40DF-9EA2-43F69DFEDFCA}"/>
              </a:ext>
            </a:extLst>
          </p:cNvPr>
          <p:cNvSpPr>
            <a:spLocks xmlns:a="http://schemas.openxmlformats.org/drawingml/2006/main" noGrp="1"/>
          </p:cNvSpPr>
          <p:nvPr/>
        </p:nvSpPr>
        <p:spPr>
          <a:xfrm xmlns:a="http://schemas.openxmlformats.org/drawingml/2006/main">
            <a:off x="6705600" y="3943350"/>
            <a:ext cx="48006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1">
                <a:solidFill>
                  <a:srgbClr val="132A39"/>
                </a:solidFill>
                <a:latin typeface="Arial"/>
                <a:ea typeface="Arial"/>
                <a:cs typeface="Arial"/>
              </a:defRPr>
            </a:pPr>
            <a:r>
              <a:rPr sz="2700" b="1">
                <a:solidFill>
                  <a:srgbClr val="132A39"/>
                </a:solidFill>
                <a:latin typeface="Arial"/>
                <a:ea typeface="Arial"/>
                <a:cs typeface="Arial"/>
              </a:rPr>
              <a:t>H2 · 361 ordered pairs</a:t>
            </a:r>
          </a:p>
        </p:txBody>
      </p:sp>
      <p:sp>
        <p:nvSpPr>
          <p:cNvPr id="8" name="">
            <a:extLst xmlns:a="http://schemas.openxmlformats.org/drawingml/2006/main">
              <a:ext uri="{FF2B5EF4-FFF2-40B4-BE49-F238E27FC236}">
                <a16:creationId xmlns:a16="http://schemas.microsoft.com/office/drawing/2014/main" id="{67751E08-FB7A-4471-A19F-D0B653D0BA6E}"/>
              </a:ext>
            </a:extLst>
          </p:cNvPr>
          <p:cNvSpPr>
            <a:spLocks xmlns:a="http://schemas.openxmlformats.org/drawingml/2006/main" noGrp="1"/>
          </p:cNvSpPr>
          <p:nvPr/>
        </p:nvSpPr>
        <p:spPr>
          <a:xfrm xmlns:a="http://schemas.openxmlformats.org/drawingml/2006/main">
            <a:off x="6705600" y="4676775"/>
            <a:ext cx="48006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32A39"/>
                </a:solidFill>
                <a:latin typeface="Arial"/>
                <a:ea typeface="Arial"/>
                <a:cs typeface="Arial"/>
              </a:defRPr>
            </a:pPr>
            <a:r>
              <a:rPr sz="2325" b="0">
                <a:solidFill>
                  <a:srgbClr val="132A39"/>
                </a:solidFill>
                <a:latin typeface="Arial"/>
                <a:ea typeface="Arial"/>
                <a:cs typeface="Arial"/>
              </a:rPr>
              <a:t>Defender–attacker combinations</a:t>
            </a:r>
          </a:p>
          <a:p xmlns:a="http://schemas.openxmlformats.org/drawingml/2006/main">
            <a:pPr>
              <a:defRPr sz="2325" b="0">
                <a:solidFill>
                  <a:srgbClr val="132A39"/>
                </a:solidFill>
                <a:latin typeface="Arial"/>
                <a:ea typeface="Arial"/>
                <a:cs typeface="Arial"/>
              </a:defRPr>
            </a:pPr>
            <a:r>
              <a:rPr sz="2325" b="0">
                <a:solidFill>
                  <a:srgbClr val="132A39"/>
                </a:solidFill>
                <a:latin typeface="Arial"/>
                <a:ea typeface="Arial"/>
                <a:cs typeface="Arial"/>
              </a:rPr>
              <a:t>and exposed-record counts</a:t>
            </a:r>
          </a:p>
        </p:txBody>
      </p:sp>
      <p:sp>
        <p:nvSpPr>
          <p:cNvPr id="9" name="">
            <a:extLst xmlns:a="http://schemas.openxmlformats.org/drawingml/2006/main">
              <a:ext uri="{FF2B5EF4-FFF2-40B4-BE49-F238E27FC236}">
                <a16:creationId xmlns:a16="http://schemas.microsoft.com/office/drawing/2014/main" id="{440B6996-4CE2-4A09-8ECD-4CA0A339ABD4}"/>
              </a:ext>
            </a:extLst>
          </p:cNvPr>
          <p:cNvSpPr>
            <a:spLocks xmlns:a="http://schemas.openxmlformats.org/drawingml/2006/main" noGrp="1"/>
          </p:cNvSpPr>
          <p:nvPr/>
        </p:nvSpPr>
        <p:spPr>
          <a:xfrm xmlns:a="http://schemas.openxmlformats.org/drawingml/2006/main">
            <a:off x="685800" y="6105525"/>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566774"/>
                </a:solidFill>
                <a:latin typeface="Arial"/>
                <a:ea typeface="Arial"/>
                <a:cs typeface="Arial"/>
              </a:defRPr>
            </a:pPr>
            <a:r>
              <a:rPr sz="1725" b="0">
                <a:solidFill>
                  <a:srgbClr val="566774"/>
                </a:solidFill>
                <a:latin typeface="Arial"/>
                <a:ea typeface="Arial"/>
                <a:cs typeface="Arial"/>
              </a:rPr>
              <a:t>Features retained when present in at least four teams</a:t>
            </a:r>
          </a:p>
        </p:txBody>
      </p:sp>
    </p:spTree>
    <p:extLst>
      <p:ext uri="{BB962C8B-B14F-4D97-AF65-F5344CB8AC3E}">
        <p14:creationId xmlns:p14="http://schemas.microsoft.com/office/powerpoint/2010/main" val="21472159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00373C5-D2C5-4CC9-8145-6E4B993364A1}"/>
              </a:ext>
            </a:extLst>
          </p:cNvPr>
          <p:cNvSpPr>
            <a:spLocks xmlns:a="http://schemas.openxmlformats.org/drawingml/2006/main" noGrp="1"/>
          </p:cNvSpPr>
          <p:nvPr/>
        </p:nvSpPr>
        <p:spPr>
          <a:xfrm xmlns:a="http://schemas.openxmlformats.org/drawingml/2006/main">
            <a:off x="685800" y="457200"/>
            <a:ext cx="108204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50" b="1">
                <a:solidFill>
                  <a:srgbClr val="132A39"/>
                </a:solidFill>
                <a:latin typeface="Arial"/>
                <a:ea typeface="Arial"/>
                <a:cs typeface="Arial"/>
              </a:defRPr>
            </a:pPr>
            <a:r>
              <a:rPr sz="3150" b="1">
                <a:solidFill>
                  <a:srgbClr val="132A39"/>
                </a:solidFill>
                <a:latin typeface="Arial"/>
                <a:ea typeface="Arial"/>
                <a:cs typeface="Arial"/>
              </a:rPr>
              <a:t>H1: generation and reconstruction</a:t>
            </a:r>
          </a:p>
        </p:txBody>
      </p:sp>
      <p:sp>
        <p:nvSpPr>
          <p:cNvPr id="2" name="">
            <a:extLst xmlns:a="http://schemas.openxmlformats.org/drawingml/2006/main">
              <a:ext uri="{FF2B5EF4-FFF2-40B4-BE49-F238E27FC236}">
                <a16:creationId xmlns:a16="http://schemas.microsoft.com/office/drawing/2014/main" id="{74FB0D8A-1677-4A43-A5B7-7117ED471775}"/>
              </a:ext>
            </a:extLst>
          </p:cNvPr>
          <p:cNvSpPr>
            <a:spLocks xmlns:a="http://schemas.openxmlformats.org/drawingml/2006/main" noGrp="1"/>
          </p:cNvSpPr>
          <p:nvPr/>
        </p:nvSpPr>
        <p:spPr>
          <a:xfrm xmlns:a="http://schemas.openxmlformats.org/drawingml/2006/main">
            <a:off x="11087100" y="635317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566774"/>
                </a:solidFill>
                <a:latin typeface="Arial"/>
                <a:ea typeface="Arial"/>
                <a:cs typeface="Arial"/>
              </a:defRPr>
            </a:pPr>
            <a:r>
              <a:rPr sz="1200" b="0">
                <a:solidFill>
                  <a:srgbClr val="566774"/>
                </a:solidFill>
                <a:latin typeface="Arial"/>
                <a:ea typeface="Arial"/>
                <a:cs typeface="Arial"/>
              </a:rPr>
              <a:t>06</a:t>
            </a:r>
          </a:p>
        </p:txBody>
      </p:sp>
      <p:graphicFrame>
        <p:nvGraphicFramePr>
          <p:cNvPr id="8" name="Chart"/>
          <p:cNvGraphicFramePr/>
          <p:nvPr/>
        </p:nvGraphicFramePr>
        <p:xfrm>
          <a:off xmlns:a="http://schemas.openxmlformats.org/drawingml/2006/main" x="685800" y="1609725"/>
          <a:ext xmlns:a="http://schemas.openxmlformats.org/drawingml/2006/main" cx="10820400" cy="3438525"/>
        </p:xfrm>
        <a:graphic xmlns:a="http://schemas.openxmlformats.org/drawingml/2006/main">
          <a:graphicData uri="http://schemas.openxmlformats.org/drawingml/2006/chart">
            <c:chart xmlns:r="http://schemas.openxmlformats.org/officeDocument/2006/relationships" xmlns:c="http://schemas.openxmlformats.org/drawingml/2006/chart" r:id="R4af6611f7c5643f3"/>
          </a:graphicData>
        </a:graphic>
      </p:graphicFrame>
      <p:sp>
        <p:nvSpPr>
          <p:cNvPr id="4" name="">
            <a:extLst xmlns:a="http://schemas.openxmlformats.org/drawingml/2006/main">
              <a:ext uri="{FF2B5EF4-FFF2-40B4-BE49-F238E27FC236}">
                <a16:creationId xmlns:a16="http://schemas.microsoft.com/office/drawing/2014/main" id="{99BE5D57-87F8-4626-BC04-9EFF3F8CA9F6}"/>
              </a:ext>
            </a:extLst>
          </p:cNvPr>
          <p:cNvSpPr>
            <a:spLocks xmlns:a="http://schemas.openxmlformats.org/drawingml/2006/main" noGrp="1"/>
          </p:cNvSpPr>
          <p:nvPr/>
        </p:nvSpPr>
        <p:spPr>
          <a:xfrm xmlns:a="http://schemas.openxmlformats.org/drawingml/2006/main">
            <a:off x="685800" y="5219700"/>
            <a:ext cx="108204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1">
                <a:solidFill>
                  <a:srgbClr val="236FAA"/>
                </a:solidFill>
                <a:latin typeface="Arial"/>
                <a:ea typeface="Arial"/>
                <a:cs typeface="Arial"/>
              </a:defRPr>
            </a:pPr>
            <a:r>
              <a:rPr sz="2550" b="1">
                <a:solidFill>
                  <a:srgbClr val="236FAA"/>
                </a:solidFill>
                <a:latin typeface="Arial"/>
                <a:ea typeface="Arial"/>
                <a:cs typeface="Arial"/>
              </a:rPr>
              <a:t>Synthesis was associated with higher scores on both outcomes</a:t>
            </a:r>
          </a:p>
        </p:txBody>
      </p:sp>
      <p:sp>
        <p:nvSpPr>
          <p:cNvPr id="5" name="">
            <a:extLst xmlns:a="http://schemas.openxmlformats.org/drawingml/2006/main">
              <a:ext uri="{FF2B5EF4-FFF2-40B4-BE49-F238E27FC236}">
                <a16:creationId xmlns:a16="http://schemas.microsoft.com/office/drawing/2014/main" id="{D368ACFC-09BA-4886-9114-9DBC0AB26E73}"/>
              </a:ext>
            </a:extLst>
          </p:cNvPr>
          <p:cNvSpPr>
            <a:spLocks xmlns:a="http://schemas.openxmlformats.org/drawingml/2006/main" noGrp="1"/>
          </p:cNvSpPr>
          <p:nvPr/>
        </p:nvSpPr>
        <p:spPr>
          <a:xfrm xmlns:a="http://schemas.openxmlformats.org/drawingml/2006/main">
            <a:off x="685800" y="6105525"/>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0">
                <a:solidFill>
                  <a:srgbClr val="566774"/>
                </a:solidFill>
                <a:latin typeface="Arial"/>
                <a:ea typeface="Arial"/>
                <a:cs typeface="Arial"/>
              </a:defRPr>
            </a:pPr>
            <a:r>
              <a:rPr sz="1575" b="0">
                <a:solidFill>
                  <a:srgbClr val="566774"/>
                </a:solidFill>
                <a:latin typeface="Arial"/>
                <a:ea typeface="Arial"/>
                <a:cs typeface="Arial"/>
              </a:rPr>
              <a:t>Hedges’ g; n = 20. Positive favors the second category. Anonymization: post-penalty score.</a:t>
            </a:r>
          </a:p>
        </p:txBody>
      </p:sp>
    </p:spTree>
    <p:extLst>
      <p:ext uri="{BB962C8B-B14F-4D97-AF65-F5344CB8AC3E}">
        <p14:creationId xmlns:p14="http://schemas.microsoft.com/office/powerpoint/2010/main" val="157886627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2343753-F8B9-4024-A3AB-4F24A2CC1FC6}"/>
              </a:ext>
            </a:extLst>
          </p:cNvPr>
          <p:cNvSpPr>
            <a:spLocks xmlns:a="http://schemas.openxmlformats.org/drawingml/2006/main" noGrp="1"/>
          </p:cNvSpPr>
          <p:nvPr/>
        </p:nvSpPr>
        <p:spPr>
          <a:xfrm xmlns:a="http://schemas.openxmlformats.org/drawingml/2006/main">
            <a:off x="685800" y="457200"/>
            <a:ext cx="108204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50" b="1">
                <a:solidFill>
                  <a:srgbClr val="132A39"/>
                </a:solidFill>
                <a:latin typeface="Arial"/>
                <a:ea typeface="Arial"/>
                <a:cs typeface="Arial"/>
              </a:defRPr>
            </a:pPr>
            <a:r>
              <a:rPr sz="3150" b="1">
                <a:solidFill>
                  <a:srgbClr val="132A39"/>
                </a:solidFill>
                <a:latin typeface="Arial"/>
                <a:ea typeface="Arial"/>
                <a:cs typeface="Arial"/>
              </a:rPr>
              <a:t>H2: defender–attacker combinations</a:t>
            </a:r>
          </a:p>
        </p:txBody>
      </p:sp>
      <p:sp>
        <p:nvSpPr>
          <p:cNvPr id="2" name="">
            <a:extLst xmlns:a="http://schemas.openxmlformats.org/drawingml/2006/main">
              <a:ext uri="{FF2B5EF4-FFF2-40B4-BE49-F238E27FC236}">
                <a16:creationId xmlns:a16="http://schemas.microsoft.com/office/drawing/2014/main" id="{6BE7FAED-8348-454F-A5EB-78A03D53504E}"/>
              </a:ext>
            </a:extLst>
          </p:cNvPr>
          <p:cNvSpPr>
            <a:spLocks xmlns:a="http://schemas.openxmlformats.org/drawingml/2006/main" noGrp="1"/>
          </p:cNvSpPr>
          <p:nvPr/>
        </p:nvSpPr>
        <p:spPr>
          <a:xfrm xmlns:a="http://schemas.openxmlformats.org/drawingml/2006/main">
            <a:off x="11087100" y="635317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566774"/>
                </a:solidFill>
                <a:latin typeface="Arial"/>
                <a:ea typeface="Arial"/>
                <a:cs typeface="Arial"/>
              </a:defRPr>
            </a:pPr>
            <a:r>
              <a:rPr sz="1200" b="0">
                <a:solidFill>
                  <a:srgbClr val="566774"/>
                </a:solidFill>
                <a:latin typeface="Arial"/>
                <a:ea typeface="Arial"/>
                <a:cs typeface="Arial"/>
              </a:rPr>
              <a:t>07</a:t>
            </a:r>
          </a:p>
        </p:txBody>
      </p:sp>
      <p:sp>
        <p:nvSpPr>
          <p:cNvPr id="3" name="">
            <a:extLst xmlns:a="http://schemas.openxmlformats.org/drawingml/2006/main">
              <a:ext uri="{FF2B5EF4-FFF2-40B4-BE49-F238E27FC236}">
                <a16:creationId xmlns:a16="http://schemas.microsoft.com/office/drawing/2014/main" id="{FFA41971-DB4B-41DE-8D2F-15AC12C1969E}"/>
              </a:ext>
            </a:extLst>
          </p:cNvPr>
          <p:cNvSpPr>
            <a:spLocks xmlns:a="http://schemas.openxmlformats.org/drawingml/2006/main" noGrp="1"/>
          </p:cNvSpPr>
          <p:nvPr/>
        </p:nvSpPr>
        <p:spPr>
          <a:xfrm xmlns:a="http://schemas.openxmlformats.org/drawingml/2006/main">
            <a:off x="685800" y="1447800"/>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566774"/>
                </a:solidFill>
                <a:latin typeface="Arial"/>
                <a:ea typeface="Arial"/>
                <a:cs typeface="Arial"/>
              </a:defRPr>
            </a:pPr>
            <a:r>
              <a:rPr sz="2175" b="0">
                <a:solidFill>
                  <a:srgbClr val="566774"/>
                </a:solidFill>
                <a:latin typeface="Arial"/>
                <a:ea typeface="Arial"/>
                <a:cs typeface="Arial"/>
              </a:rPr>
              <a:t>Victim main effects: IRR 0.63–0.75 across model specifications</a:t>
            </a:r>
          </a:p>
        </p:txBody>
      </p:sp>
      <p:sp>
        <p:nvSpPr>
          <p:cNvPr id="4" name="">
            <a:extLst xmlns:a="http://schemas.openxmlformats.org/drawingml/2006/main">
              <a:ext uri="{FF2B5EF4-FFF2-40B4-BE49-F238E27FC236}">
                <a16:creationId xmlns:a16="http://schemas.microsoft.com/office/drawing/2014/main" id="{D5268A2B-9509-45ED-BA04-CC64546E2FF4}"/>
              </a:ext>
            </a:extLst>
          </p:cNvPr>
          <p:cNvSpPr>
            <a:spLocks xmlns:a="http://schemas.openxmlformats.org/drawingml/2006/main" noGrp="1"/>
          </p:cNvSpPr>
          <p:nvPr/>
        </p:nvSpPr>
        <p:spPr>
          <a:xfrm xmlns:a="http://schemas.openxmlformats.org/drawingml/2006/main">
            <a:off x="685800" y="2076450"/>
            <a:ext cx="10820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132A39"/>
                </a:solidFill>
                <a:latin typeface="Arial"/>
                <a:ea typeface="Arial"/>
                <a:cs typeface="Arial"/>
              </a:defRPr>
            </a:pPr>
            <a:r>
              <a:rPr sz="2175" b="1">
                <a:solidFill>
                  <a:srgbClr val="132A39"/>
                </a:solidFill>
                <a:latin typeface="Arial"/>
                <a:ea typeface="Arial"/>
                <a:cs typeface="Arial"/>
              </a:rPr>
              <a:t>When the attacker also uses the released model</a:t>
            </a:r>
          </a:p>
        </p:txBody>
      </p:sp>
      <p:graphicFrame>
        <p:nvGraphicFramePr>
          <p:cNvPr id="12" name=""/>
          <p:cNvGraphicFramePr/>
          <p:nvPr/>
        </p:nvGraphicFramePr>
        <p:xfrm>
          <a:off xmlns:a="http://schemas.openxmlformats.org/drawingml/2006/main" x="685800" y="2705100"/>
          <a:ext xmlns:a="http://schemas.openxmlformats.org/drawingml/2006/main" cx="10820400" cy="2505075"/>
        </p:xfrm>
        <a:graphic xmlns:a="http://schemas.openxmlformats.org/drawingml/2006/main">
          <a:graphicData uri="http://schemas.openxmlformats.org/drawingml/2006/table">
            <a:tbl>
              <a:tblPr/>
              <a:tblGrid>
                <a:gridCol w="5048250"/>
                <a:gridCol w="2886075"/>
                <a:gridCol w="2886075"/>
              </a:tblGrid>
              <a:tr h="501015">
                <a:tc>
                  <a:txBody>
                    <a:bodyPr/>
                    <a:lstStyle/>
                    <a:p>
                      <a:r>
                        <a:rPr sz="1875" b="1">
                          <a:solidFill>
                            <a:srgbClr val="132A39"/>
                          </a:solidFill>
                          <a:latin typeface="Arial"/>
                          <a:ea typeface="Arial"/>
                          <a:cs typeface="Arial"/>
                        </a:rPr>
                        <a:t>Victim feature</a:t>
                      </a:r>
                    </a:p>
                  </a:txBody>
                  <a:tcPr marL="142875" marR="142875" marT="76200" marB="76200">
                    <a:solidFill>
                      <a:srgbClr val="F0F5F5"/>
                    </a:solidFill>
                  </a:tcPr>
                </a:tc>
                <a:tc>
                  <a:txBody>
                    <a:bodyPr/>
                    <a:lstStyle/>
                    <a:p>
                      <a:r>
                        <a:rPr sz="1875" b="1">
                          <a:solidFill>
                            <a:srgbClr val="132A39"/>
                          </a:solidFill>
                          <a:latin typeface="Arial"/>
                          <a:ea typeface="Arial"/>
                          <a:cs typeface="Arial"/>
                        </a:rPr>
                        <a:t>Interaction IRR</a:t>
                      </a:r>
                    </a:p>
                  </a:txBody>
                  <a:tcPr marL="142875" marR="142875" marT="76200" marB="76200">
                    <a:solidFill>
                      <a:srgbClr val="F0F5F5"/>
                    </a:solidFill>
                  </a:tcPr>
                </a:tc>
                <a:tc>
                  <a:txBody>
                    <a:bodyPr/>
                    <a:lstStyle/>
                    <a:p>
                      <a:r>
                        <a:rPr sz="1875" b="1">
                          <a:solidFill>
                            <a:srgbClr val="132A39"/>
                          </a:solidFill>
                          <a:latin typeface="Arial"/>
                          <a:ea typeface="Arial"/>
                          <a:cs typeface="Arial"/>
                        </a:rPr>
                        <a:t>Combined IRR</a:t>
                      </a:r>
                    </a:p>
                  </a:txBody>
                  <a:tcPr marL="142875" marR="142875" marT="76200" marB="76200">
                    <a:solidFill>
                      <a:srgbClr val="F0F5F5"/>
                    </a:solidFill>
                  </a:tcPr>
                </a:tc>
              </a:tr>
              <a:tr h="501015">
                <a:tc>
                  <a:txBody>
                    <a:bodyPr/>
                    <a:lstStyle/>
                    <a:p>
                      <a:r>
                        <a:rPr sz="1875">
                          <a:solidFill>
                            <a:srgbClr val="132A39"/>
                          </a:solidFill>
                          <a:latin typeface="Arial"/>
                          <a:ea typeface="Arial"/>
                          <a:cs typeface="Arial"/>
                        </a:rPr>
                        <a:t>Alternative base</a:t>
                      </a:r>
                    </a:p>
                  </a:txBody>
                  <a:tcPr marL="142875" marR="142875" marT="76200" marB="76200">
                    <a:solidFill>
                      <a:srgbClr val="FFFFFF"/>
                    </a:solidFill>
                  </a:tcPr>
                </a:tc>
                <a:tc>
                  <a:txBody>
                    <a:bodyPr/>
                    <a:lstStyle/>
                    <a:p>
                      <a:r>
                        <a:rPr sz="1875">
                          <a:solidFill>
                            <a:srgbClr val="132A39"/>
                          </a:solidFill>
                          <a:latin typeface="Arial"/>
                          <a:ea typeface="Arial"/>
                          <a:cs typeface="Arial"/>
                        </a:rPr>
                        <a:t>1.13</a:t>
                      </a:r>
                    </a:p>
                  </a:txBody>
                  <a:tcPr marL="142875" marR="142875" marT="76200" marB="76200">
                    <a:solidFill>
                      <a:srgbClr val="FFFFFF"/>
                    </a:solidFill>
                  </a:tcPr>
                </a:tc>
                <a:tc>
                  <a:txBody>
                    <a:bodyPr/>
                    <a:lstStyle/>
                    <a:p>
                      <a:r>
                        <a:rPr sz="1875" b="1">
                          <a:solidFill>
                            <a:srgbClr val="236FAA"/>
                          </a:solidFill>
                          <a:latin typeface="Arial"/>
                          <a:ea typeface="Arial"/>
                          <a:cs typeface="Arial"/>
                        </a:rPr>
                        <a:t>0.69</a:t>
                      </a:r>
                    </a:p>
                  </a:txBody>
                  <a:tcPr marL="142875" marR="142875" marT="76200" marB="76200">
                    <a:solidFill>
                      <a:srgbClr val="FFFFFF"/>
                    </a:solidFill>
                  </a:tcPr>
                </a:tc>
              </a:tr>
              <a:tr h="501015">
                <a:tc>
                  <a:txBody>
                    <a:bodyPr/>
                    <a:lstStyle/>
                    <a:p>
                      <a:r>
                        <a:rPr sz="1875">
                          <a:solidFill>
                            <a:srgbClr val="132A39"/>
                          </a:solidFill>
                          <a:latin typeface="Arial"/>
                          <a:ea typeface="Arial"/>
                          <a:cs typeface="Arial"/>
                        </a:rPr>
                        <a:t>Synthesis</a:t>
                      </a:r>
                    </a:p>
                  </a:txBody>
                  <a:tcPr marL="142875" marR="142875" marT="76200" marB="76200">
                    <a:solidFill>
                      <a:srgbClr val="FFFFFF"/>
                    </a:solidFill>
                  </a:tcPr>
                </a:tc>
                <a:tc>
                  <a:txBody>
                    <a:bodyPr/>
                    <a:lstStyle/>
                    <a:p>
                      <a:r>
                        <a:rPr sz="1875">
                          <a:solidFill>
                            <a:srgbClr val="132A39"/>
                          </a:solidFill>
                          <a:latin typeface="Arial"/>
                          <a:ea typeface="Arial"/>
                          <a:cs typeface="Arial"/>
                        </a:rPr>
                        <a:t>1.18</a:t>
                      </a:r>
                    </a:p>
                  </a:txBody>
                  <a:tcPr marL="142875" marR="142875" marT="76200" marB="76200">
                    <a:solidFill>
                      <a:srgbClr val="FFFFFF"/>
                    </a:solidFill>
                  </a:tcPr>
                </a:tc>
                <a:tc>
                  <a:txBody>
                    <a:bodyPr/>
                    <a:lstStyle/>
                    <a:p>
                      <a:r>
                        <a:rPr sz="1875" b="1">
                          <a:solidFill>
                            <a:srgbClr val="236FAA"/>
                          </a:solidFill>
                          <a:latin typeface="Arial"/>
                          <a:ea typeface="Arial"/>
                          <a:cs typeface="Arial"/>
                        </a:rPr>
                        <a:t>0.61</a:t>
                      </a:r>
                    </a:p>
                  </a:txBody>
                  <a:tcPr marL="142875" marR="142875" marT="76200" marB="76200">
                    <a:solidFill>
                      <a:srgbClr val="FFFFFF"/>
                    </a:solidFill>
                  </a:tcPr>
                </a:tc>
              </a:tr>
              <a:tr h="501015">
                <a:tc>
                  <a:txBody>
                    <a:bodyPr/>
                    <a:lstStyle/>
                    <a:p>
                      <a:r>
                        <a:rPr sz="1875">
                          <a:solidFill>
                            <a:srgbClr val="132A39"/>
                          </a:solidFill>
                          <a:latin typeface="Arial"/>
                          <a:ea typeface="Arial"/>
                          <a:cs typeface="Arial"/>
                        </a:rPr>
                        <a:t>Optimization</a:t>
                      </a:r>
                    </a:p>
                  </a:txBody>
                  <a:tcPr marL="142875" marR="142875" marT="76200" marB="76200">
                    <a:solidFill>
                      <a:srgbClr val="FFFFFF"/>
                    </a:solidFill>
                  </a:tcPr>
                </a:tc>
                <a:tc>
                  <a:txBody>
                    <a:bodyPr/>
                    <a:lstStyle/>
                    <a:p>
                      <a:r>
                        <a:rPr sz="1875">
                          <a:solidFill>
                            <a:srgbClr val="132A39"/>
                          </a:solidFill>
                          <a:latin typeface="Arial"/>
                          <a:ea typeface="Arial"/>
                          <a:cs typeface="Arial"/>
                        </a:rPr>
                        <a:t>1.11</a:t>
                      </a:r>
                    </a:p>
                  </a:txBody>
                  <a:tcPr marL="142875" marR="142875" marT="76200" marB="76200">
                    <a:solidFill>
                      <a:srgbClr val="FFFFFF"/>
                    </a:solidFill>
                  </a:tcPr>
                </a:tc>
                <a:tc>
                  <a:txBody>
                    <a:bodyPr/>
                    <a:lstStyle/>
                    <a:p>
                      <a:r>
                        <a:rPr sz="1875" b="1">
                          <a:solidFill>
                            <a:srgbClr val="236FAA"/>
                          </a:solidFill>
                          <a:latin typeface="Arial"/>
                          <a:ea typeface="Arial"/>
                          <a:cs typeface="Arial"/>
                        </a:rPr>
                        <a:t>0.70</a:t>
                      </a:r>
                    </a:p>
                  </a:txBody>
                  <a:tcPr marL="142875" marR="142875" marT="76200" marB="76200">
                    <a:solidFill>
                      <a:srgbClr val="FFFFFF"/>
                    </a:solidFill>
                  </a:tcPr>
                </a:tc>
              </a:tr>
              <a:tr h="501015">
                <a:tc>
                  <a:txBody>
                    <a:bodyPr/>
                    <a:lstStyle/>
                    <a:p>
                      <a:r>
                        <a:rPr sz="1875">
                          <a:solidFill>
                            <a:srgbClr val="132A39"/>
                          </a:solidFill>
                          <a:latin typeface="Arial"/>
                          <a:ea typeface="Arial"/>
                          <a:cs typeface="Arial"/>
                        </a:rPr>
                        <a:t>Swapping</a:t>
                      </a:r>
                    </a:p>
                  </a:txBody>
                  <a:tcPr marL="142875" marR="142875" marT="76200" marB="76200">
                    <a:solidFill>
                      <a:srgbClr val="FFFFFF"/>
                    </a:solidFill>
                  </a:tcPr>
                </a:tc>
                <a:tc>
                  <a:txBody>
                    <a:bodyPr/>
                    <a:lstStyle/>
                    <a:p>
                      <a:r>
                        <a:rPr sz="1875">
                          <a:solidFill>
                            <a:srgbClr val="132A39"/>
                          </a:solidFill>
                          <a:latin typeface="Arial"/>
                          <a:ea typeface="Arial"/>
                          <a:cs typeface="Arial"/>
                        </a:rPr>
                        <a:t>1.16</a:t>
                      </a:r>
                    </a:p>
                  </a:txBody>
                  <a:tcPr marL="142875" marR="142875" marT="76200" marB="76200">
                    <a:solidFill>
                      <a:srgbClr val="FFFFFF"/>
                    </a:solidFill>
                  </a:tcPr>
                </a:tc>
                <a:tc>
                  <a:txBody>
                    <a:bodyPr/>
                    <a:lstStyle/>
                    <a:p>
                      <a:r>
                        <a:rPr sz="1875" b="1">
                          <a:solidFill>
                            <a:srgbClr val="236FAA"/>
                          </a:solidFill>
                          <a:latin typeface="Arial"/>
                          <a:ea typeface="Arial"/>
                          <a:cs typeface="Arial"/>
                        </a:rPr>
                        <a:t>0.65</a:t>
                      </a:r>
                    </a:p>
                  </a:txBody>
                  <a:tcPr marL="142875" marR="142875" marT="76200" marB="7620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49A6FF32-9D5E-4112-8F96-F54242805ECF}"/>
              </a:ext>
            </a:extLst>
          </p:cNvPr>
          <p:cNvSpPr>
            <a:spLocks xmlns:a="http://schemas.openxmlformats.org/drawingml/2006/main" noGrp="1"/>
          </p:cNvSpPr>
          <p:nvPr/>
        </p:nvSpPr>
        <p:spPr>
          <a:xfrm xmlns:a="http://schemas.openxmlformats.org/drawingml/2006/main">
            <a:off x="685800" y="5410200"/>
            <a:ext cx="1082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236FAA"/>
                </a:solidFill>
                <a:latin typeface="Arial"/>
                <a:ea typeface="Arial"/>
                <a:cs typeface="Arial"/>
              </a:defRPr>
            </a:pPr>
            <a:r>
              <a:rPr sz="2175" b="1">
                <a:solidFill>
                  <a:srgbClr val="236FAA"/>
                </a:solidFill>
                <a:latin typeface="Arial"/>
                <a:ea typeface="Arial"/>
                <a:cs typeface="Arial"/>
              </a:rPr>
              <a:t>Combined IRRs &lt; 1: the estimated victim-side advantage persists</a:t>
            </a:r>
          </a:p>
        </p:txBody>
      </p:sp>
      <p:sp>
        <p:nvSpPr>
          <p:cNvPr id="7" name="">
            <a:extLst xmlns:a="http://schemas.openxmlformats.org/drawingml/2006/main">
              <a:ext uri="{FF2B5EF4-FFF2-40B4-BE49-F238E27FC236}">
                <a16:creationId xmlns:a16="http://schemas.microsoft.com/office/drawing/2014/main" id="{071380DE-569B-4905-AEE7-732CAAB4E37C}"/>
              </a:ext>
            </a:extLst>
          </p:cNvPr>
          <p:cNvSpPr>
            <a:spLocks xmlns:a="http://schemas.openxmlformats.org/drawingml/2006/main" noGrp="1"/>
          </p:cNvSpPr>
          <p:nvPr/>
        </p:nvSpPr>
        <p:spPr>
          <a:xfrm xmlns:a="http://schemas.openxmlformats.org/drawingml/2006/main">
            <a:off x="685800" y="6000750"/>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0">
                <a:solidFill>
                  <a:srgbClr val="566774"/>
                </a:solidFill>
                <a:latin typeface="Arial"/>
                <a:ea typeface="Arial"/>
                <a:cs typeface="Arial"/>
              </a:defRPr>
            </a:pPr>
            <a:r>
              <a:rPr sz="1575" b="0">
                <a:solidFill>
                  <a:srgbClr val="566774"/>
                </a:solidFill>
                <a:latin typeface="Arial"/>
                <a:ea typeface="Arial"/>
                <a:cs typeface="Arial"/>
              </a:rPr>
              <a:t>Each row has its own reference. Attacker-trained-model interactions: clustered SE not estimable.</a:t>
            </a:r>
          </a:p>
        </p:txBody>
      </p:sp>
    </p:spTree>
    <p:extLst>
      <p:ext uri="{BB962C8B-B14F-4D97-AF65-F5344CB8AC3E}">
        <p14:creationId xmlns:p14="http://schemas.microsoft.com/office/powerpoint/2010/main" val="127484164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B888ACB-A990-4B08-B32B-E0242B2B3E70}"/>
              </a:ext>
            </a:extLst>
          </p:cNvPr>
          <p:cNvSpPr>
            <a:spLocks xmlns:a="http://schemas.openxmlformats.org/drawingml/2006/main" noGrp="1"/>
          </p:cNvSpPr>
          <p:nvPr/>
        </p:nvSpPr>
        <p:spPr>
          <a:xfrm xmlns:a="http://schemas.openxmlformats.org/drawingml/2006/main">
            <a:off x="685800" y="457200"/>
            <a:ext cx="108204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50" b="1">
                <a:solidFill>
                  <a:srgbClr val="132A39"/>
                </a:solidFill>
                <a:latin typeface="Arial"/>
                <a:ea typeface="Arial"/>
                <a:cs typeface="Arial"/>
              </a:defRPr>
            </a:pPr>
            <a:r>
              <a:rPr sz="3150" b="1">
                <a:solidFill>
                  <a:srgbClr val="132A39"/>
                </a:solidFill>
                <a:latin typeface="Arial"/>
                <a:ea typeface="Arial"/>
                <a:cs typeface="Arial"/>
              </a:rPr>
              <a:t>What this evidence can support</a:t>
            </a:r>
          </a:p>
        </p:txBody>
      </p:sp>
      <p:sp>
        <p:nvSpPr>
          <p:cNvPr id="2" name="">
            <a:extLst xmlns:a="http://schemas.openxmlformats.org/drawingml/2006/main">
              <a:ext uri="{FF2B5EF4-FFF2-40B4-BE49-F238E27FC236}">
                <a16:creationId xmlns:a16="http://schemas.microsoft.com/office/drawing/2014/main" id="{F1F86C34-C0BC-4CC1-BE6F-729F11E01762}"/>
              </a:ext>
            </a:extLst>
          </p:cNvPr>
          <p:cNvSpPr>
            <a:spLocks xmlns:a="http://schemas.openxmlformats.org/drawingml/2006/main" noGrp="1"/>
          </p:cNvSpPr>
          <p:nvPr/>
        </p:nvSpPr>
        <p:spPr>
          <a:xfrm xmlns:a="http://schemas.openxmlformats.org/drawingml/2006/main">
            <a:off x="11087100" y="635317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566774"/>
                </a:solidFill>
                <a:latin typeface="Arial"/>
                <a:ea typeface="Arial"/>
                <a:cs typeface="Arial"/>
              </a:defRPr>
            </a:pPr>
            <a:r>
              <a:rPr sz="1200" b="0">
                <a:solidFill>
                  <a:srgbClr val="566774"/>
                </a:solidFill>
                <a:latin typeface="Arial"/>
                <a:ea typeface="Arial"/>
                <a:cs typeface="Arial"/>
              </a:rPr>
              <a:t>08</a:t>
            </a:r>
          </a:p>
        </p:txBody>
      </p:sp>
      <p:sp>
        <p:nvSpPr>
          <p:cNvPr id="3" name="">
            <a:extLst xmlns:a="http://schemas.openxmlformats.org/drawingml/2006/main">
              <a:ext uri="{FF2B5EF4-FFF2-40B4-BE49-F238E27FC236}">
                <a16:creationId xmlns:a16="http://schemas.microsoft.com/office/drawing/2014/main" id="{9F01CFDA-7C87-4881-9162-20B7AA53E50D}"/>
              </a:ext>
            </a:extLst>
          </p:cNvPr>
          <p:cNvSpPr>
            <a:spLocks xmlns:a="http://schemas.openxmlformats.org/drawingml/2006/main" noGrp="1"/>
          </p:cNvSpPr>
          <p:nvPr/>
        </p:nvSpPr>
        <p:spPr>
          <a:xfrm xmlns:a="http://schemas.openxmlformats.org/drawingml/2006/main">
            <a:off x="685800" y="1676400"/>
            <a:ext cx="4810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566774"/>
                </a:solidFill>
                <a:latin typeface="Arial"/>
                <a:ea typeface="Arial"/>
                <a:cs typeface="Arial"/>
              </a:defRPr>
            </a:pPr>
            <a:r>
              <a:rPr sz="2775" b="1">
                <a:solidFill>
                  <a:srgbClr val="566774"/>
                </a:solidFill>
                <a:latin typeface="Arial"/>
                <a:ea typeface="Arial"/>
                <a:cs typeface="Arial"/>
              </a:rPr>
              <a:t>Limits</a:t>
            </a:r>
          </a:p>
        </p:txBody>
      </p:sp>
      <p:sp>
        <p:nvSpPr>
          <p:cNvPr id="4" name="">
            <a:extLst xmlns:a="http://schemas.openxmlformats.org/drawingml/2006/main">
              <a:ext uri="{FF2B5EF4-FFF2-40B4-BE49-F238E27FC236}">
                <a16:creationId xmlns:a16="http://schemas.microsoft.com/office/drawing/2014/main" id="{DECB1819-FBCE-4A27-97CB-6E6FD093EED6}"/>
              </a:ext>
            </a:extLst>
          </p:cNvPr>
          <p:cNvSpPr>
            <a:spLocks xmlns:a="http://schemas.openxmlformats.org/drawingml/2006/main" noGrp="1"/>
          </p:cNvSpPr>
          <p:nvPr/>
        </p:nvSpPr>
        <p:spPr>
          <a:xfrm xmlns:a="http://schemas.openxmlformats.org/drawingml/2006/main">
            <a:off x="685800" y="2609850"/>
            <a:ext cx="5086350" cy="2247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32A39"/>
                </a:solidFill>
                <a:latin typeface="Arial"/>
                <a:ea typeface="Arial"/>
                <a:cs typeface="Arial"/>
              </a:defRPr>
            </a:pPr>
            <a:r>
              <a:rPr sz="2250" b="0">
                <a:solidFill>
                  <a:srgbClr val="132A39"/>
                </a:solidFill>
                <a:latin typeface="Arial"/>
                <a:ea typeface="Arial"/>
                <a:cs typeface="Arial"/>
              </a:rPr>
              <a:t>20 teams, observed strategies</a:t>
            </a:r>
          </a:p>
          <a:p xmlns:a="http://schemas.openxmlformats.org/drawingml/2006/main">
            <a:pPr>
              <a:defRPr sz="2250" b="0">
                <a:solidFill>
                  <a:srgbClr val="132A39"/>
                </a:solidFill>
                <a:latin typeface="Arial"/>
                <a:ea typeface="Arial"/>
                <a:cs typeface="Arial"/>
              </a:defRPr>
            </a:pPr>
            <a:r>
              <a:rPr sz="2250" b="0">
                <a:solidFill>
                  <a:srgbClr val="132A39"/>
                </a:solidFill>
                <a:latin typeface="Arial"/>
                <a:ea typeface="Arial"/>
                <a:cs typeface="Arial"/>
              </a:rPr>
              <a:t>Method families, not implementations</a:t>
            </a:r>
          </a:p>
          <a:p xmlns:a="http://schemas.openxmlformats.org/drawingml/2006/main">
            <a:pPr>
              <a:defRPr sz="2250" b="0">
                <a:solidFill>
                  <a:srgbClr val="132A39"/>
                </a:solidFill>
                <a:latin typeface="Arial"/>
                <a:ea typeface="Arial"/>
                <a:cs typeface="Arial"/>
              </a:defRPr>
            </a:pPr>
            <a:r>
              <a:rPr sz="2250" b="0">
                <a:solidFill>
                  <a:srgbClr val="132A39"/>
                </a:solidFill>
                <a:latin typeface="Arial"/>
                <a:ea typeface="Arial"/>
                <a:cs typeface="Arial"/>
              </a:rPr>
              <a:t>One competition and evaluation setting</a:t>
            </a:r>
          </a:p>
        </p:txBody>
      </p:sp>
      <p:sp>
        <p:nvSpPr>
          <p:cNvPr id="5" name="">
            <a:extLst xmlns:a="http://schemas.openxmlformats.org/drawingml/2006/main">
              <a:ext uri="{FF2B5EF4-FFF2-40B4-BE49-F238E27FC236}">
                <a16:creationId xmlns:a16="http://schemas.microsoft.com/office/drawing/2014/main" id="{1DFCA385-C471-43D2-9F76-27D341123413}"/>
              </a:ext>
            </a:extLst>
          </p:cNvPr>
          <p:cNvSpPr>
            <a:spLocks xmlns:a="http://schemas.openxmlformats.org/drawingml/2006/main" noGrp="1"/>
          </p:cNvSpPr>
          <p:nvPr/>
        </p:nvSpPr>
        <p:spPr>
          <a:xfrm xmlns:a="http://schemas.openxmlformats.org/drawingml/2006/main">
            <a:off x="6705600" y="1676400"/>
            <a:ext cx="48006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236FAA"/>
                </a:solidFill>
                <a:latin typeface="Arial"/>
                <a:ea typeface="Arial"/>
                <a:cs typeface="Arial"/>
              </a:defRPr>
            </a:pPr>
            <a:r>
              <a:rPr sz="2775" b="1">
                <a:solidFill>
                  <a:srgbClr val="236FAA"/>
                </a:solidFill>
                <a:latin typeface="Arial"/>
                <a:ea typeface="Arial"/>
                <a:cs typeface="Arial"/>
              </a:rPr>
              <a:t>Contribution</a:t>
            </a:r>
          </a:p>
        </p:txBody>
      </p:sp>
      <p:sp>
        <p:nvSpPr>
          <p:cNvPr id="6" name="">
            <a:extLst xmlns:a="http://schemas.openxmlformats.org/drawingml/2006/main">
              <a:ext uri="{FF2B5EF4-FFF2-40B4-BE49-F238E27FC236}">
                <a16:creationId xmlns:a16="http://schemas.microsoft.com/office/drawing/2014/main" id="{48585D00-CF5C-4E7E-BBFA-17086F306F42}"/>
              </a:ext>
            </a:extLst>
          </p:cNvPr>
          <p:cNvSpPr>
            <a:spLocks xmlns:a="http://schemas.openxmlformats.org/drawingml/2006/main" noGrp="1"/>
          </p:cNvSpPr>
          <p:nvPr/>
        </p:nvSpPr>
        <p:spPr>
          <a:xfrm xmlns:a="http://schemas.openxmlformats.org/drawingml/2006/main">
            <a:off x="6705600" y="2647950"/>
            <a:ext cx="48006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925" b="1">
                <a:solidFill>
                  <a:srgbClr val="132A39"/>
                </a:solidFill>
                <a:latin typeface="Arial"/>
                <a:ea typeface="Arial"/>
                <a:cs typeface="Arial"/>
              </a:defRPr>
            </a:pPr>
            <a:r>
              <a:rPr sz="2925" b="1">
                <a:solidFill>
                  <a:srgbClr val="132A39"/>
                </a:solidFill>
                <a:latin typeface="Arial"/>
                <a:ea typeface="Arial"/>
                <a:cs typeface="Arial"/>
              </a:rPr>
              <a:t>Specific, quantitative</a:t>
            </a:r>
          </a:p>
          <a:p xmlns:a="http://schemas.openxmlformats.org/drawingml/2006/main">
            <a:pPr>
              <a:defRPr sz="2925" b="1">
                <a:solidFill>
                  <a:srgbClr val="132A39"/>
                </a:solidFill>
                <a:latin typeface="Arial"/>
                <a:ea typeface="Arial"/>
                <a:cs typeface="Arial"/>
              </a:defRPr>
            </a:pPr>
            <a:r>
              <a:rPr sz="2925" b="1">
                <a:solidFill>
                  <a:srgbClr val="132A39"/>
                </a:solidFill>
                <a:latin typeface="Arial"/>
                <a:ea typeface="Arial"/>
                <a:cs typeface="Arial"/>
              </a:rPr>
              <a:t>hypotheses for future tests</a:t>
            </a:r>
          </a:p>
        </p:txBody>
      </p:sp>
      <p:sp>
        <p:nvSpPr>
          <p:cNvPr id="7" name="">
            <a:extLst xmlns:a="http://schemas.openxmlformats.org/drawingml/2006/main">
              <a:ext uri="{FF2B5EF4-FFF2-40B4-BE49-F238E27FC236}">
                <a16:creationId xmlns:a16="http://schemas.microsoft.com/office/drawing/2014/main" id="{E101CCA0-642C-4104-A537-39541FDC361D}"/>
              </a:ext>
            </a:extLst>
          </p:cNvPr>
          <p:cNvSpPr>
            <a:spLocks xmlns:a="http://schemas.openxmlformats.org/drawingml/2006/main" noGrp="1"/>
          </p:cNvSpPr>
          <p:nvPr/>
        </p:nvSpPr>
        <p:spPr>
          <a:xfrm xmlns:a="http://schemas.openxmlformats.org/drawingml/2006/main">
            <a:off x="6705600" y="4629150"/>
            <a:ext cx="48006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566774"/>
                </a:solidFill>
                <a:latin typeface="Arial"/>
                <a:ea typeface="Arial"/>
                <a:cs typeface="Arial"/>
              </a:defRPr>
            </a:pPr>
            <a:r>
              <a:rPr sz="2175" b="0">
                <a:solidFill>
                  <a:srgbClr val="566774"/>
                </a:solidFill>
                <a:latin typeface="Arial"/>
                <a:ea typeface="Arial"/>
                <a:cs typeface="Arial"/>
              </a:rPr>
              <a:t>Causal effects and general privacy</a:t>
            </a:r>
          </a:p>
          <a:p xmlns:a="http://schemas.openxmlformats.org/drawingml/2006/main">
            <a:pPr>
              <a:defRPr sz="2175" b="0">
                <a:solidFill>
                  <a:srgbClr val="566774"/>
                </a:solidFill>
                <a:latin typeface="Arial"/>
                <a:ea typeface="Arial"/>
                <a:cs typeface="Arial"/>
              </a:defRPr>
            </a:pPr>
            <a:r>
              <a:rPr sz="2175" b="0">
                <a:solidFill>
                  <a:srgbClr val="566774"/>
                </a:solidFill>
                <a:latin typeface="Arial"/>
                <a:ea typeface="Arial"/>
                <a:cs typeface="Arial"/>
              </a:rPr>
              <a:t>guarantees remain unestablished.</a:t>
            </a:r>
          </a:p>
        </p:txBody>
      </p:sp>
    </p:spTree>
    <p:extLst>
      <p:ext uri="{BB962C8B-B14F-4D97-AF65-F5344CB8AC3E}">
        <p14:creationId xmlns:p14="http://schemas.microsoft.com/office/powerpoint/2010/main" val="1558025617"/>
      </p:ext>
    </p:extLst>
  </p:cSld>
</p:sld>
</file>

<file path=ppt/slides/slide9.xml><?xml version="1.0" encoding="utf-8"?>
<p:sld xmlns:p="http://schemas.openxmlformats.org/presentationml/2006/main">
  <p:cSld>
    <p:bg>
      <p:bgPr>
        <a:solidFill xmlns:a="http://schemas.openxmlformats.org/drawingml/2006/main">
          <a:srgbClr val="132A39"/>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D98A990-45AE-4E47-8892-EA1D448C24B9}"/>
              </a:ext>
            </a:extLst>
          </p:cNvPr>
          <p:cNvSpPr>
            <a:spLocks xmlns:a="http://schemas.openxmlformats.org/drawingml/2006/main" noGrp="1"/>
          </p:cNvSpPr>
          <p:nvPr/>
        </p:nvSpPr>
        <p:spPr>
          <a:xfrm xmlns:a="http://schemas.openxmlformats.org/drawingml/2006/main">
            <a:off x="11087100" y="635317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DCE7E8"/>
                </a:solidFill>
                <a:latin typeface="Arial"/>
                <a:ea typeface="Arial"/>
                <a:cs typeface="Arial"/>
              </a:defRPr>
            </a:pPr>
            <a:r>
              <a:rPr sz="1200" b="0">
                <a:solidFill>
                  <a:srgbClr val="DCE7E8"/>
                </a:solidFill>
                <a:latin typeface="Arial"/>
                <a:ea typeface="Arial"/>
                <a:cs typeface="Arial"/>
              </a:rPr>
              <a:t>09</a:t>
            </a:r>
          </a:p>
        </p:txBody>
      </p:sp>
      <p:sp>
        <p:nvSpPr>
          <p:cNvPr id="2" name="">
            <a:extLst xmlns:a="http://schemas.openxmlformats.org/drawingml/2006/main">
              <a:ext uri="{FF2B5EF4-FFF2-40B4-BE49-F238E27FC236}">
                <a16:creationId xmlns:a16="http://schemas.microsoft.com/office/drawing/2014/main" id="{9822B31B-66C0-423E-A13F-3D62F5012509}"/>
              </a:ext>
            </a:extLst>
          </p:cNvPr>
          <p:cNvSpPr>
            <a:spLocks xmlns:a="http://schemas.openxmlformats.org/drawingml/2006/main" noGrp="1"/>
          </p:cNvSpPr>
          <p:nvPr/>
        </p:nvSpPr>
        <p:spPr>
          <a:xfrm xmlns:a="http://schemas.openxmlformats.org/drawingml/2006/main">
            <a:off x="685800" y="1028700"/>
            <a:ext cx="10820400" cy="2600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650" b="1">
                <a:solidFill>
                  <a:srgbClr val="FFFFFF"/>
                </a:solidFill>
                <a:latin typeface="Arial"/>
                <a:ea typeface="Arial"/>
                <a:cs typeface="Arial"/>
              </a:defRPr>
            </a:pPr>
            <a:r>
              <a:rPr sz="4650" b="1">
                <a:solidFill>
                  <a:srgbClr val="FFFFFF"/>
                </a:solidFill>
                <a:latin typeface="Arial"/>
                <a:ea typeface="Arial"/>
                <a:cs typeface="Arial"/>
              </a:rPr>
              <a:t>Incomplete information</a:t>
            </a:r>
          </a:p>
          <a:p xmlns:a="http://schemas.openxmlformats.org/drawingml/2006/main">
            <a:pPr>
              <a:defRPr sz="4650" b="1">
                <a:solidFill>
                  <a:srgbClr val="FFFFFF"/>
                </a:solidFill>
                <a:latin typeface="Arial"/>
                <a:ea typeface="Arial"/>
                <a:cs typeface="Arial"/>
              </a:defRPr>
            </a:pPr>
            <a:r>
              <a:rPr sz="4650" b="1">
                <a:solidFill>
                  <a:srgbClr val="FFFFFF"/>
                </a:solidFill>
                <a:latin typeface="Arial"/>
                <a:ea typeface="Arial"/>
                <a:cs typeface="Arial"/>
              </a:rPr>
              <a:t>does not mean</a:t>
            </a:r>
          </a:p>
          <a:p xmlns:a="http://schemas.openxmlformats.org/drawingml/2006/main">
            <a:pPr>
              <a:defRPr sz="4650" b="1">
                <a:solidFill>
                  <a:srgbClr val="FFFFFF"/>
                </a:solidFill>
                <a:latin typeface="Arial"/>
                <a:ea typeface="Arial"/>
                <a:cs typeface="Arial"/>
              </a:defRPr>
            </a:pPr>
            <a:r>
              <a:rPr sz="4650" b="1">
                <a:solidFill>
                  <a:srgbClr val="FFFFFF"/>
                </a:solidFill>
                <a:latin typeface="Arial"/>
                <a:ea typeface="Arial"/>
                <a:cs typeface="Arial"/>
              </a:rPr>
              <a:t>no information</a:t>
            </a:r>
          </a:p>
        </p:txBody>
      </p:sp>
      <p:sp>
        <p:nvSpPr>
          <p:cNvPr id="3" name="">
            <a:extLst xmlns:a="http://schemas.openxmlformats.org/drawingml/2006/main">
              <a:ext uri="{FF2B5EF4-FFF2-40B4-BE49-F238E27FC236}">
                <a16:creationId xmlns:a16="http://schemas.microsoft.com/office/drawing/2014/main" id="{994670BA-B5F8-4EA9-9A28-F33533375BF6}"/>
              </a:ext>
            </a:extLst>
          </p:cNvPr>
          <p:cNvSpPr>
            <a:spLocks xmlns:a="http://schemas.openxmlformats.org/drawingml/2006/main" noGrp="1"/>
          </p:cNvSpPr>
          <p:nvPr/>
        </p:nvSpPr>
        <p:spPr>
          <a:xfrm xmlns:a="http://schemas.openxmlformats.org/drawingml/2006/main">
            <a:off x="723900" y="4419600"/>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DCE7E8"/>
                </a:solidFill>
                <a:latin typeface="Arial"/>
                <a:ea typeface="Arial"/>
                <a:cs typeface="Arial"/>
              </a:defRPr>
            </a:pPr>
            <a:r>
              <a:rPr sz="2100" b="0">
                <a:solidFill>
                  <a:srgbClr val="DCE7E8"/>
                </a:solidFill>
                <a:latin typeface="Arial"/>
                <a:ea typeface="Arial"/>
                <a:cs typeface="Arial"/>
              </a:rPr>
              <a:t>The next competition</a:t>
            </a:r>
          </a:p>
        </p:txBody>
      </p:sp>
      <p:sp>
        <p:nvSpPr>
          <p:cNvPr id="4" name="">
            <a:extLst xmlns:a="http://schemas.openxmlformats.org/drawingml/2006/main">
              <a:ext uri="{FF2B5EF4-FFF2-40B4-BE49-F238E27FC236}">
                <a16:creationId xmlns:a16="http://schemas.microsoft.com/office/drawing/2014/main" id="{B7A64781-D8CA-4A84-A7F6-BBEEC0EB7C29}"/>
              </a:ext>
            </a:extLst>
          </p:cNvPr>
          <p:cNvSpPr>
            <a:spLocks xmlns:a="http://schemas.openxmlformats.org/drawingml/2006/main" noGrp="1"/>
          </p:cNvSpPr>
          <p:nvPr/>
        </p:nvSpPr>
        <p:spPr>
          <a:xfrm xmlns:a="http://schemas.openxmlformats.org/drawingml/2006/main">
            <a:off x="723900" y="5114925"/>
            <a:ext cx="10477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FFFFFF"/>
                </a:solidFill>
                <a:latin typeface="Arial"/>
                <a:ea typeface="Arial"/>
                <a:cs typeface="Arial"/>
              </a:defRPr>
            </a:pPr>
            <a:r>
              <a:rPr sz="3000" b="1">
                <a:solidFill>
                  <a:srgbClr val="FFFFFF"/>
                </a:solidFill>
                <a:latin typeface="Arial"/>
                <a:ea typeface="Arial"/>
                <a:cs typeface="Arial"/>
              </a:rPr>
              <a:t>Collect strategy information</a:t>
            </a:r>
          </a:p>
          <a:p xmlns:a="http://schemas.openxmlformats.org/drawingml/2006/main">
            <a:pPr>
              <a:defRPr sz="3000" b="1">
                <a:solidFill>
                  <a:srgbClr val="FFFFFF"/>
                </a:solidFill>
                <a:latin typeface="Arial"/>
                <a:ea typeface="Arial"/>
                <a:cs typeface="Arial"/>
              </a:defRPr>
            </a:pPr>
            <a:r>
              <a:rPr sz="3000" b="1">
                <a:solidFill>
                  <a:srgbClr val="FFFFFF"/>
                </a:solidFill>
                <a:latin typeface="Arial"/>
                <a:ea typeface="Arial"/>
                <a:cs typeface="Arial"/>
              </a:rPr>
              <a:t>with a common questionnaire</a:t>
            </a:r>
          </a:p>
        </p:txBody>
      </p:sp>
    </p:spTree>
    <p:extLst>
      <p:ext uri="{BB962C8B-B14F-4D97-AF65-F5344CB8AC3E}">
        <p14:creationId xmlns:p14="http://schemas.microsoft.com/office/powerpoint/2010/main" val="936787265"/>
      </p:ext>
    </p:extLst>
  </p:cSld>
</p:sld>
</file>

<file path=ppt/slides/slide10.xml><?xml version="1.0" encoding="utf-8"?>
<p:sld xmlns:p="http://schemas.openxmlformats.org/presentationml/2006/main">
  <p:cSld>
    <p:bg>
      <p:bgPr>
        <a:solidFill xmlns:a="http://schemas.openxmlformats.org/drawingml/2006/main">
          <a:srgbClr val="132A3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3DA933D-5F5F-484F-88EF-10A5D5402022}"/>
              </a:ext>
            </a:extLst>
          </p:cNvPr>
          <p:cNvSpPr>
            <a:spLocks xmlns:a="http://schemas.openxmlformats.org/drawingml/2006/main" noGrp="1"/>
          </p:cNvSpPr>
          <p:nvPr/>
        </p:nvSpPr>
        <p:spPr>
          <a:xfrm xmlns:a="http://schemas.openxmlformats.org/drawingml/2006/main">
            <a:off x="11087100" y="635317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DCE7E8"/>
                </a:solidFill>
                <a:latin typeface="Arial"/>
                <a:ea typeface="Arial"/>
                <a:cs typeface="Arial"/>
              </a:defRPr>
            </a:pPr>
            <a:r>
              <a:rPr sz="1200" b="0">
                <a:solidFill>
                  <a:srgbClr val="DCE7E8"/>
                </a:solidFill>
                <a:latin typeface="Arial"/>
                <a:ea typeface="Arial"/>
                <a:cs typeface="Arial"/>
              </a:rPr>
              <a:t>10</a:t>
            </a:r>
          </a:p>
        </p:txBody>
      </p:sp>
      <p:sp>
        <p:nvSpPr>
          <p:cNvPr id="2" name="">
            <a:extLst xmlns:a="http://schemas.openxmlformats.org/drawingml/2006/main">
              <a:ext uri="{FF2B5EF4-FFF2-40B4-BE49-F238E27FC236}">
                <a16:creationId xmlns:a16="http://schemas.microsoft.com/office/drawing/2014/main" id="{8C76DA5A-CE1E-410F-9009-A34884091121}"/>
              </a:ext>
            </a:extLst>
          </p:cNvPr>
          <p:cNvSpPr>
            <a:spLocks xmlns:a="http://schemas.openxmlformats.org/drawingml/2006/main" noGrp="1"/>
          </p:cNvSpPr>
          <p:nvPr/>
        </p:nvSpPr>
        <p:spPr>
          <a:xfrm xmlns:a="http://schemas.openxmlformats.org/drawingml/2006/main">
            <a:off x="685800" y="1609725"/>
            <a:ext cx="1082040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5700" b="1">
                <a:solidFill>
                  <a:srgbClr val="FFFFFF"/>
                </a:solidFill>
                <a:latin typeface="Arial"/>
                <a:ea typeface="Arial"/>
                <a:cs typeface="Arial"/>
              </a:defRPr>
            </a:pPr>
            <a:r>
              <a:rPr sz="5700" b="1">
                <a:solidFill>
                  <a:srgbClr val="FFFFFF"/>
                </a:solidFill>
                <a:latin typeface="Arial"/>
                <a:ea typeface="Arial"/>
                <a:cs typeface="Arial"/>
              </a:rPr>
              <a:t>Questions</a:t>
            </a:r>
          </a:p>
        </p:txBody>
      </p:sp>
      <p:sp>
        <p:nvSpPr>
          <p:cNvPr id="3" name="">
            <a:extLst xmlns:a="http://schemas.openxmlformats.org/drawingml/2006/main">
              <a:ext uri="{FF2B5EF4-FFF2-40B4-BE49-F238E27FC236}">
                <a16:creationId xmlns:a16="http://schemas.microsoft.com/office/drawing/2014/main" id="{CB258297-6C01-45A0-96BF-31A44798FADE}"/>
              </a:ext>
            </a:extLst>
          </p:cNvPr>
          <p:cNvSpPr>
            <a:spLocks xmlns:a="http://schemas.openxmlformats.org/drawingml/2006/main" noGrp="1"/>
          </p:cNvSpPr>
          <p:nvPr/>
        </p:nvSpPr>
        <p:spPr>
          <a:xfrm xmlns:a="http://schemas.openxmlformats.org/drawingml/2006/main">
            <a:off x="723900" y="3381375"/>
            <a:ext cx="104775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850" b="0">
                <a:solidFill>
                  <a:srgbClr val="DCE7E8"/>
                </a:solidFill>
                <a:latin typeface="Arial"/>
                <a:ea typeface="Arial"/>
                <a:cs typeface="Arial"/>
              </a:defRPr>
            </a:pPr>
            <a:r>
              <a:rPr sz="2850" b="0">
                <a:solidFill>
                  <a:srgbClr val="DCE7E8"/>
                </a:solidFill>
                <a:latin typeface="Arial"/>
                <a:ea typeface="Arial"/>
                <a:cs typeface="Arial"/>
              </a:rPr>
              <a:t>Patterns Without Source</a:t>
            </a:r>
          </a:p>
          <a:p xmlns:a="http://schemas.openxmlformats.org/drawingml/2006/main">
            <a:pPr>
              <a:defRPr sz="2850" b="0">
                <a:solidFill>
                  <a:srgbClr val="DCE7E8"/>
                </a:solidFill>
                <a:latin typeface="Arial"/>
                <a:ea typeface="Arial"/>
                <a:cs typeface="Arial"/>
              </a:defRPr>
            </a:pPr>
            <a:r>
              <a:rPr sz="2850" b="0">
                <a:solidFill>
                  <a:srgbClr val="DCE7E8"/>
                </a:solidFill>
                <a:latin typeface="Arial"/>
                <a:ea typeface="Arial"/>
                <a:cs typeface="Arial"/>
              </a:rPr>
              <a:t>A Meta-Analysis of PWS Cup 2025</a:t>
            </a:r>
          </a:p>
        </p:txBody>
      </p:sp>
      <p:sp>
        <p:nvSpPr>
          <p:cNvPr id="4" name="">
            <a:extLst xmlns:a="http://schemas.openxmlformats.org/drawingml/2006/main">
              <a:ext uri="{FF2B5EF4-FFF2-40B4-BE49-F238E27FC236}">
                <a16:creationId xmlns:a16="http://schemas.microsoft.com/office/drawing/2014/main" id="{B7F364B1-16DA-4712-8CD8-B35EF8195D9D}"/>
              </a:ext>
            </a:extLst>
          </p:cNvPr>
          <p:cNvSpPr>
            <a:spLocks xmlns:a="http://schemas.openxmlformats.org/drawingml/2006/main" noGrp="1"/>
          </p:cNvSpPr>
          <p:nvPr/>
        </p:nvSpPr>
        <p:spPr>
          <a:xfrm xmlns:a="http://schemas.openxmlformats.org/drawingml/2006/main">
            <a:off x="723900" y="5238750"/>
            <a:ext cx="1047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DCE7E8"/>
                </a:solidFill>
                <a:latin typeface="Arial"/>
                <a:ea typeface="Arial"/>
                <a:cs typeface="Arial"/>
              </a:defRPr>
            </a:pPr>
            <a:r>
              <a:rPr sz="1950" b="0">
                <a:solidFill>
                  <a:srgbClr val="DCE7E8"/>
                </a:solidFill>
                <a:latin typeface="Arial"/>
                <a:ea typeface="Arial"/>
                <a:cs typeface="Arial"/>
              </a:rPr>
              <a:t>Data and analysis code</a:t>
            </a:r>
          </a:p>
        </p:txBody>
      </p:sp>
      <p:sp>
        <p:nvSpPr>
          <p:cNvPr id="5" name="">
            <a:extLst xmlns:a="http://schemas.openxmlformats.org/drawingml/2006/main">
              <a:ext uri="{FF2B5EF4-FFF2-40B4-BE49-F238E27FC236}">
                <a16:creationId xmlns:a16="http://schemas.microsoft.com/office/drawing/2014/main" id="{419E7949-EBF5-46CC-899C-3AE65F3C0ACC}"/>
              </a:ext>
            </a:extLst>
          </p:cNvPr>
          <p:cNvSpPr>
            <a:spLocks xmlns:a="http://schemas.openxmlformats.org/drawingml/2006/main" noGrp="1"/>
          </p:cNvSpPr>
          <p:nvPr/>
        </p:nvSpPr>
        <p:spPr>
          <a:xfrm xmlns:a="http://schemas.openxmlformats.org/drawingml/2006/main">
            <a:off x="723900" y="5734050"/>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FFFFFF"/>
                </a:solidFill>
                <a:latin typeface="Arial"/>
                <a:ea typeface="Arial"/>
                <a:cs typeface="Arial"/>
              </a:defRPr>
            </a:pPr>
            <a:r>
              <a:rPr sz="2100" b="0">
                <a:solidFill>
                  <a:srgbClr val="FFFFFF"/>
                </a:solidFill>
                <a:latin typeface="Arial"/>
                <a:ea typeface="Arial"/>
                <a:cs typeface="Arial"/>
              </a:rPr>
              <a:t>github.com/kiti1924/PWSCUP2025_REVIEW_20260716</a:t>
            </a:r>
          </a:p>
        </p:txBody>
      </p:sp>
    </p:spTree>
    <p:extLst>
      <p:ext uri="{BB962C8B-B14F-4D97-AF65-F5344CB8AC3E}">
        <p14:creationId xmlns:p14="http://schemas.microsoft.com/office/powerpoint/2010/main" val="1157334623"/>
      </p:ext>
    </p:extLst>
  </p:cSld>
</p:sld>
</file>

<file path=ppt/slides/slide11.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2E2364A-2A91-4B54-8331-466D1EA0A6D8}"/>
              </a:ext>
            </a:extLst>
          </p:cNvPr>
          <p:cNvSpPr>
            <a:spLocks xmlns:a="http://schemas.openxmlformats.org/drawingml/2006/main" noGrp="1"/>
          </p:cNvSpPr>
          <p:nvPr/>
        </p:nvSpPr>
        <p:spPr>
          <a:xfrm xmlns:a="http://schemas.openxmlformats.org/drawingml/2006/main">
            <a:off x="685800" y="457200"/>
            <a:ext cx="108204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50" b="1">
                <a:solidFill>
                  <a:srgbClr val="132A39"/>
                </a:solidFill>
                <a:latin typeface="Arial"/>
                <a:ea typeface="Arial"/>
                <a:cs typeface="Arial"/>
              </a:defRPr>
            </a:pPr>
            <a:r>
              <a:rPr sz="3150" b="1">
                <a:solidFill>
                  <a:srgbClr val="132A39"/>
                </a:solidFill>
                <a:latin typeface="Arial"/>
                <a:ea typeface="Arial"/>
                <a:cs typeface="Arial"/>
              </a:rPr>
              <a:t>Q&amp;A: H1 effect sizes</a:t>
            </a:r>
          </a:p>
        </p:txBody>
      </p:sp>
      <p:sp>
        <p:nvSpPr>
          <p:cNvPr id="2" name="">
            <a:extLst xmlns:a="http://schemas.openxmlformats.org/drawingml/2006/main">
              <a:ext uri="{FF2B5EF4-FFF2-40B4-BE49-F238E27FC236}">
                <a16:creationId xmlns:a16="http://schemas.microsoft.com/office/drawing/2014/main" id="{57F52AD0-1BAE-4F7E-AE0F-2D4F39906A68}"/>
              </a:ext>
            </a:extLst>
          </p:cNvPr>
          <p:cNvSpPr>
            <a:spLocks xmlns:a="http://schemas.openxmlformats.org/drawingml/2006/main" noGrp="1"/>
          </p:cNvSpPr>
          <p:nvPr/>
        </p:nvSpPr>
        <p:spPr>
          <a:xfrm xmlns:a="http://schemas.openxmlformats.org/drawingml/2006/main">
            <a:off x="11087100" y="635317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566774"/>
                </a:solidFill>
                <a:latin typeface="Arial"/>
                <a:ea typeface="Arial"/>
                <a:cs typeface="Arial"/>
              </a:defRPr>
            </a:pPr>
            <a:r>
              <a:rPr sz="1200" b="0">
                <a:solidFill>
                  <a:srgbClr val="566774"/>
                </a:solidFill>
                <a:latin typeface="Arial"/>
                <a:ea typeface="Arial"/>
                <a:cs typeface="Arial"/>
              </a:rPr>
              <a:t>11</a:t>
            </a:r>
          </a:p>
        </p:txBody>
      </p:sp>
      <p:graphicFrame>
        <p:nvGraphicFramePr>
          <p:cNvPr id="8" name=""/>
          <p:cNvGraphicFramePr/>
          <p:nvPr/>
        </p:nvGraphicFramePr>
        <p:xfrm>
          <a:off xmlns:a="http://schemas.openxmlformats.org/drawingml/2006/main" x="685800" y="1638300"/>
          <a:ext xmlns:a="http://schemas.openxmlformats.org/drawingml/2006/main" cx="10820400" cy="3543300"/>
        </p:xfrm>
        <a:graphic xmlns:a="http://schemas.openxmlformats.org/drawingml/2006/main">
          <a:graphicData uri="http://schemas.openxmlformats.org/drawingml/2006/table">
            <a:tbl>
              <a:tblPr/>
              <a:tblGrid>
                <a:gridCol w="5391150"/>
                <a:gridCol w="2714625"/>
                <a:gridCol w="2714625"/>
              </a:tblGrid>
              <a:tr h="590550">
                <a:tc>
                  <a:txBody>
                    <a:bodyPr/>
                    <a:lstStyle/>
                    <a:p>
                      <a:r>
                        <a:rPr sz="1950" b="1">
                          <a:solidFill>
                            <a:srgbClr val="132A39"/>
                          </a:solidFill>
                          <a:latin typeface="Arial"/>
                          <a:ea typeface="Arial"/>
                          <a:cs typeface="Arial"/>
                        </a:rPr>
                        <a:t>Feature contrast</a:t>
                      </a:r>
                    </a:p>
                  </a:txBody>
                  <a:tcPr marL="142875" marR="142875" marT="76200" marB="76200">
                    <a:solidFill>
                      <a:srgbClr val="F0F5F5"/>
                    </a:solidFill>
                  </a:tcPr>
                </a:tc>
                <a:tc>
                  <a:txBody>
                    <a:bodyPr/>
                    <a:lstStyle/>
                    <a:p>
                      <a:r>
                        <a:rPr sz="1950" b="1">
                          <a:solidFill>
                            <a:srgbClr val="132A39"/>
                          </a:solidFill>
                          <a:latin typeface="Arial"/>
                          <a:ea typeface="Arial"/>
                          <a:cs typeface="Arial"/>
                        </a:rPr>
                        <a:t>Utility g</a:t>
                      </a:r>
                    </a:p>
                  </a:txBody>
                  <a:tcPr marL="142875" marR="142875" marT="76200" marB="76200">
                    <a:solidFill>
                      <a:srgbClr val="F0F5F5"/>
                    </a:solidFill>
                  </a:tcPr>
                </a:tc>
                <a:tc>
                  <a:txBody>
                    <a:bodyPr/>
                    <a:lstStyle/>
                    <a:p>
                      <a:r>
                        <a:rPr sz="1950" b="1">
                          <a:solidFill>
                            <a:srgbClr val="132A39"/>
                          </a:solidFill>
                          <a:latin typeface="Arial"/>
                          <a:ea typeface="Arial"/>
                          <a:cs typeface="Arial"/>
                        </a:rPr>
                        <a:t>Anonymization g</a:t>
                      </a:r>
                    </a:p>
                  </a:txBody>
                  <a:tcPr marL="142875" marR="142875" marT="76200" marB="76200">
                    <a:solidFill>
                      <a:srgbClr val="F0F5F5"/>
                    </a:solidFill>
                  </a:tcPr>
                </a:tc>
              </a:tr>
              <a:tr h="590550">
                <a:tc>
                  <a:txBody>
                    <a:bodyPr/>
                    <a:lstStyle/>
                    <a:p>
                      <a:r>
                        <a:rPr sz="1950">
                          <a:solidFill>
                            <a:srgbClr val="132A39"/>
                          </a:solidFill>
                          <a:latin typeface="Arial"/>
                          <a:ea typeface="Arial"/>
                          <a:cs typeface="Arial"/>
                        </a:rPr>
                        <a:t>Base: B to others</a:t>
                      </a:r>
                    </a:p>
                  </a:txBody>
                  <a:tcPr marL="142875" marR="142875" marT="76200" marB="76200">
                    <a:solidFill>
                      <a:srgbClr val="FFFFFF"/>
                    </a:solidFill>
                  </a:tcPr>
                </a:tc>
                <a:tc>
                  <a:txBody>
                    <a:bodyPr/>
                    <a:lstStyle/>
                    <a:p>
                      <a:r>
                        <a:rPr sz="1950">
                          <a:solidFill>
                            <a:srgbClr val="132A39"/>
                          </a:solidFill>
                          <a:latin typeface="Arial"/>
                          <a:ea typeface="Arial"/>
                          <a:cs typeface="Arial"/>
                        </a:rPr>
                        <a:t>1.55</a:t>
                      </a:r>
                    </a:p>
                  </a:txBody>
                  <a:tcPr marL="142875" marR="142875" marT="76200" marB="76200">
                    <a:solidFill>
                      <a:srgbClr val="FFFFFF"/>
                    </a:solidFill>
                  </a:tcPr>
                </a:tc>
                <a:tc>
                  <a:txBody>
                    <a:bodyPr/>
                    <a:lstStyle/>
                    <a:p>
                      <a:r>
                        <a:rPr sz="1950">
                          <a:solidFill>
                            <a:srgbClr val="132A39"/>
                          </a:solidFill>
                          <a:latin typeface="Arial"/>
                          <a:ea typeface="Arial"/>
                          <a:cs typeface="Arial"/>
                        </a:rPr>
                        <a:t>0.54</a:t>
                      </a:r>
                    </a:p>
                  </a:txBody>
                  <a:tcPr marL="142875" marR="142875" marT="76200" marB="76200">
                    <a:solidFill>
                      <a:srgbClr val="FFFFFF"/>
                    </a:solidFill>
                  </a:tcPr>
                </a:tc>
              </a:tr>
              <a:tr h="590550">
                <a:tc>
                  <a:txBody>
                    <a:bodyPr/>
                    <a:lstStyle/>
                    <a:p>
                      <a:r>
                        <a:rPr sz="1950">
                          <a:solidFill>
                            <a:srgbClr val="132A39"/>
                          </a:solidFill>
                          <a:latin typeface="Arial"/>
                          <a:ea typeface="Arial"/>
                          <a:cs typeface="Arial"/>
                        </a:rPr>
                        <a:t>Synthesis: no to yes</a:t>
                      </a:r>
                    </a:p>
                  </a:txBody>
                  <a:tcPr marL="142875" marR="142875" marT="76200" marB="76200">
                    <a:solidFill>
                      <a:srgbClr val="FFFFFF"/>
                    </a:solidFill>
                  </a:tcPr>
                </a:tc>
                <a:tc>
                  <a:txBody>
                    <a:bodyPr/>
                    <a:lstStyle/>
                    <a:p>
                      <a:r>
                        <a:rPr sz="1950">
                          <a:solidFill>
                            <a:srgbClr val="132A39"/>
                          </a:solidFill>
                          <a:latin typeface="Arial"/>
                          <a:ea typeface="Arial"/>
                          <a:cs typeface="Arial"/>
                        </a:rPr>
                        <a:t>1.26</a:t>
                      </a:r>
                    </a:p>
                  </a:txBody>
                  <a:tcPr marL="142875" marR="142875" marT="76200" marB="76200">
                    <a:solidFill>
                      <a:srgbClr val="FFFFFF"/>
                    </a:solidFill>
                  </a:tcPr>
                </a:tc>
                <a:tc>
                  <a:txBody>
                    <a:bodyPr/>
                    <a:lstStyle/>
                    <a:p>
                      <a:r>
                        <a:rPr sz="1950">
                          <a:solidFill>
                            <a:srgbClr val="132A39"/>
                          </a:solidFill>
                          <a:latin typeface="Arial"/>
                          <a:ea typeface="Arial"/>
                          <a:cs typeface="Arial"/>
                        </a:rPr>
                        <a:t>1.01</a:t>
                      </a:r>
                    </a:p>
                  </a:txBody>
                  <a:tcPr marL="142875" marR="142875" marT="76200" marB="76200">
                    <a:solidFill>
                      <a:srgbClr val="FFFFFF"/>
                    </a:solidFill>
                  </a:tcPr>
                </a:tc>
              </a:tr>
              <a:tr h="590550">
                <a:tc>
                  <a:txBody>
                    <a:bodyPr/>
                    <a:lstStyle/>
                    <a:p>
                      <a:r>
                        <a:rPr sz="1950">
                          <a:solidFill>
                            <a:srgbClr val="132A39"/>
                          </a:solidFill>
                          <a:latin typeface="Arial"/>
                          <a:ea typeface="Arial"/>
                          <a:cs typeface="Arial"/>
                        </a:rPr>
                        <a:t>Noise: no to yes</a:t>
                      </a:r>
                    </a:p>
                  </a:txBody>
                  <a:tcPr marL="142875" marR="142875" marT="76200" marB="76200">
                    <a:solidFill>
                      <a:srgbClr val="FFFFFF"/>
                    </a:solidFill>
                  </a:tcPr>
                </a:tc>
                <a:tc>
                  <a:txBody>
                    <a:bodyPr/>
                    <a:lstStyle/>
                    <a:p>
                      <a:r>
                        <a:rPr sz="1950">
                          <a:solidFill>
                            <a:srgbClr val="132A39"/>
                          </a:solidFill>
                          <a:latin typeface="Arial"/>
                          <a:ea typeface="Arial"/>
                          <a:cs typeface="Arial"/>
                        </a:rPr>
                        <a:t>−0.73</a:t>
                      </a:r>
                    </a:p>
                  </a:txBody>
                  <a:tcPr marL="142875" marR="142875" marT="76200" marB="76200">
                    <a:solidFill>
                      <a:srgbClr val="FFFFFF"/>
                    </a:solidFill>
                  </a:tcPr>
                </a:tc>
                <a:tc>
                  <a:txBody>
                    <a:bodyPr/>
                    <a:lstStyle/>
                    <a:p>
                      <a:r>
                        <a:rPr sz="1950">
                          <a:solidFill>
                            <a:srgbClr val="132A39"/>
                          </a:solidFill>
                          <a:latin typeface="Arial"/>
                          <a:ea typeface="Arial"/>
                          <a:cs typeface="Arial"/>
                        </a:rPr>
                        <a:t>−0.98</a:t>
                      </a:r>
                    </a:p>
                  </a:txBody>
                  <a:tcPr marL="142875" marR="142875" marT="76200" marB="76200">
                    <a:solidFill>
                      <a:srgbClr val="FFFFFF"/>
                    </a:solidFill>
                  </a:tcPr>
                </a:tc>
              </a:tr>
              <a:tr h="590550">
                <a:tc>
                  <a:txBody>
                    <a:bodyPr/>
                    <a:lstStyle/>
                    <a:p>
                      <a:r>
                        <a:rPr sz="1950">
                          <a:solidFill>
                            <a:srgbClr val="132A39"/>
                          </a:solidFill>
                          <a:latin typeface="Arial"/>
                          <a:ea typeface="Arial"/>
                          <a:cs typeface="Arial"/>
                        </a:rPr>
                        <a:t>Optimization: no to yes</a:t>
                      </a:r>
                    </a:p>
                  </a:txBody>
                  <a:tcPr marL="142875" marR="142875" marT="76200" marB="76200">
                    <a:solidFill>
                      <a:srgbClr val="FFFFFF"/>
                    </a:solidFill>
                  </a:tcPr>
                </a:tc>
                <a:tc>
                  <a:txBody>
                    <a:bodyPr/>
                    <a:lstStyle/>
                    <a:p>
                      <a:r>
                        <a:rPr sz="1950">
                          <a:solidFill>
                            <a:srgbClr val="132A39"/>
                          </a:solidFill>
                          <a:latin typeface="Arial"/>
                          <a:ea typeface="Arial"/>
                          <a:cs typeface="Arial"/>
                        </a:rPr>
                        <a:t>1.17</a:t>
                      </a:r>
                    </a:p>
                  </a:txBody>
                  <a:tcPr marL="142875" marR="142875" marT="76200" marB="76200">
                    <a:solidFill>
                      <a:srgbClr val="FFFFFF"/>
                    </a:solidFill>
                  </a:tcPr>
                </a:tc>
                <a:tc>
                  <a:txBody>
                    <a:bodyPr/>
                    <a:lstStyle/>
                    <a:p>
                      <a:r>
                        <a:rPr sz="1950">
                          <a:solidFill>
                            <a:srgbClr val="132A39"/>
                          </a:solidFill>
                          <a:latin typeface="Arial"/>
                          <a:ea typeface="Arial"/>
                          <a:cs typeface="Arial"/>
                        </a:rPr>
                        <a:t>0.55</a:t>
                      </a:r>
                    </a:p>
                  </a:txBody>
                  <a:tcPr marL="142875" marR="142875" marT="76200" marB="76200">
                    <a:solidFill>
                      <a:srgbClr val="FFFFFF"/>
                    </a:solidFill>
                  </a:tcPr>
                </a:tc>
              </a:tr>
              <a:tr h="590550">
                <a:tc>
                  <a:txBody>
                    <a:bodyPr/>
                    <a:lstStyle/>
                    <a:p>
                      <a:r>
                        <a:rPr sz="1950">
                          <a:solidFill>
                            <a:srgbClr val="132A39"/>
                          </a:solidFill>
                          <a:latin typeface="Arial"/>
                          <a:ea typeface="Arial"/>
                          <a:cs typeface="Arial"/>
                        </a:rPr>
                        <a:t>Swapping: no to yes</a:t>
                      </a:r>
                    </a:p>
                  </a:txBody>
                  <a:tcPr marL="142875" marR="142875" marT="76200" marB="76200">
                    <a:solidFill>
                      <a:srgbClr val="FFFFFF"/>
                    </a:solidFill>
                  </a:tcPr>
                </a:tc>
                <a:tc>
                  <a:txBody>
                    <a:bodyPr/>
                    <a:lstStyle/>
                    <a:p>
                      <a:r>
                        <a:rPr sz="1950">
                          <a:solidFill>
                            <a:srgbClr val="132A39"/>
                          </a:solidFill>
                          <a:latin typeface="Arial"/>
                          <a:ea typeface="Arial"/>
                          <a:cs typeface="Arial"/>
                        </a:rPr>
                        <a:t>−0.04</a:t>
                      </a:r>
                    </a:p>
                  </a:txBody>
                  <a:tcPr marL="142875" marR="142875" marT="76200" marB="76200">
                    <a:solidFill>
                      <a:srgbClr val="FFFFFF"/>
                    </a:solidFill>
                  </a:tcPr>
                </a:tc>
                <a:tc>
                  <a:txBody>
                    <a:bodyPr/>
                    <a:lstStyle/>
                    <a:p>
                      <a:r>
                        <a:rPr sz="1950">
                          <a:solidFill>
                            <a:srgbClr val="132A39"/>
                          </a:solidFill>
                          <a:latin typeface="Arial"/>
                          <a:ea typeface="Arial"/>
                          <a:cs typeface="Arial"/>
                        </a:rPr>
                        <a:t>0.73</a:t>
                      </a:r>
                    </a:p>
                  </a:txBody>
                  <a:tcPr marL="142875" marR="142875" marT="76200" marB="7620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FB91737E-FD20-43E3-B86E-4BC02A58AE31}"/>
              </a:ext>
            </a:extLst>
          </p:cNvPr>
          <p:cNvSpPr>
            <a:spLocks xmlns:a="http://schemas.openxmlformats.org/drawingml/2006/main" noGrp="1"/>
          </p:cNvSpPr>
          <p:nvPr/>
        </p:nvSpPr>
        <p:spPr>
          <a:xfrm xmlns:a="http://schemas.openxmlformats.org/drawingml/2006/main">
            <a:off x="685800" y="5467350"/>
            <a:ext cx="1082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236FAA"/>
                </a:solidFill>
                <a:latin typeface="Arial"/>
                <a:ea typeface="Arial"/>
                <a:cs typeface="Arial"/>
              </a:defRPr>
            </a:pPr>
            <a:r>
              <a:rPr sz="2175" b="1">
                <a:solidFill>
                  <a:srgbClr val="236FAA"/>
                </a:solidFill>
                <a:latin typeface="Arial"/>
                <a:ea typeface="Arial"/>
                <a:cs typeface="Arial"/>
              </a:rPr>
              <a:t>Positive values favor the second category</a:t>
            </a:r>
          </a:p>
        </p:txBody>
      </p:sp>
      <p:sp>
        <p:nvSpPr>
          <p:cNvPr id="5" name="">
            <a:extLst xmlns:a="http://schemas.openxmlformats.org/drawingml/2006/main">
              <a:ext uri="{FF2B5EF4-FFF2-40B4-BE49-F238E27FC236}">
                <a16:creationId xmlns:a16="http://schemas.microsoft.com/office/drawing/2014/main" id="{E4FFCC6E-EDC4-457C-83D4-73E945217D2A}"/>
              </a:ext>
            </a:extLst>
          </p:cNvPr>
          <p:cNvSpPr>
            <a:spLocks xmlns:a="http://schemas.openxmlformats.org/drawingml/2006/main" noGrp="1"/>
          </p:cNvSpPr>
          <p:nvPr/>
        </p:nvSpPr>
        <p:spPr>
          <a:xfrm xmlns:a="http://schemas.openxmlformats.org/drawingml/2006/main">
            <a:off x="685800" y="6019800"/>
            <a:ext cx="10820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566774"/>
                </a:solidFill>
                <a:latin typeface="Arial"/>
                <a:ea typeface="Arial"/>
                <a:cs typeface="Arial"/>
              </a:defRPr>
            </a:pPr>
            <a:r>
              <a:rPr sz="1725" b="0">
                <a:solidFill>
                  <a:srgbClr val="566774"/>
                </a:solidFill>
                <a:latin typeface="Arial"/>
                <a:ea typeface="Arial"/>
                <a:cs typeface="Arial"/>
              </a:rPr>
              <a:t>Hedges’ g, n = 20. Anonymization uses Anon_all, including penalties.</a:t>
            </a:r>
          </a:p>
        </p:txBody>
      </p:sp>
    </p:spTree>
    <p:extLst>
      <p:ext uri="{BB962C8B-B14F-4D97-AF65-F5344CB8AC3E}">
        <p14:creationId xmlns:p14="http://schemas.microsoft.com/office/powerpoint/2010/main" val="1426728523"/>
      </p:ext>
    </p:extLst>
  </p:cSld>
</p:sld>
</file>

<file path=ppt/slides/slide12.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911DA16-7B26-4FC7-9889-C21A2F889399}"/>
              </a:ext>
            </a:extLst>
          </p:cNvPr>
          <p:cNvSpPr>
            <a:spLocks xmlns:a="http://schemas.openxmlformats.org/drawingml/2006/main" noGrp="1"/>
          </p:cNvSpPr>
          <p:nvPr/>
        </p:nvSpPr>
        <p:spPr>
          <a:xfrm xmlns:a="http://schemas.openxmlformats.org/drawingml/2006/main">
            <a:off x="685800" y="457200"/>
            <a:ext cx="108204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50" b="1">
                <a:solidFill>
                  <a:srgbClr val="132A39"/>
                </a:solidFill>
                <a:latin typeface="Arial"/>
                <a:ea typeface="Arial"/>
                <a:cs typeface="Arial"/>
              </a:defRPr>
            </a:pPr>
            <a:r>
              <a:rPr sz="3150" b="1">
                <a:solidFill>
                  <a:srgbClr val="132A39"/>
                </a:solidFill>
                <a:latin typeface="Arial"/>
                <a:ea typeface="Arial"/>
                <a:cs typeface="Arial"/>
              </a:rPr>
              <a:t>Q&amp;A: H2 main and interaction effects</a:t>
            </a:r>
          </a:p>
        </p:txBody>
      </p:sp>
      <p:sp>
        <p:nvSpPr>
          <p:cNvPr id="2" name="">
            <a:extLst xmlns:a="http://schemas.openxmlformats.org/drawingml/2006/main">
              <a:ext uri="{FF2B5EF4-FFF2-40B4-BE49-F238E27FC236}">
                <a16:creationId xmlns:a16="http://schemas.microsoft.com/office/drawing/2014/main" id="{3AC3A69A-98E9-4C9E-98CF-FA36C5E582A7}"/>
              </a:ext>
            </a:extLst>
          </p:cNvPr>
          <p:cNvSpPr>
            <a:spLocks xmlns:a="http://schemas.openxmlformats.org/drawingml/2006/main" noGrp="1"/>
          </p:cNvSpPr>
          <p:nvPr/>
        </p:nvSpPr>
        <p:spPr>
          <a:xfrm xmlns:a="http://schemas.openxmlformats.org/drawingml/2006/main">
            <a:off x="11087100" y="635317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566774"/>
                </a:solidFill>
                <a:latin typeface="Arial"/>
                <a:ea typeface="Arial"/>
                <a:cs typeface="Arial"/>
              </a:defRPr>
            </a:pPr>
            <a:r>
              <a:rPr sz="1200" b="0">
                <a:solidFill>
                  <a:srgbClr val="566774"/>
                </a:solidFill>
                <a:latin typeface="Arial"/>
                <a:ea typeface="Arial"/>
                <a:cs typeface="Arial"/>
              </a:rPr>
              <a:t>12</a:t>
            </a:r>
          </a:p>
        </p:txBody>
      </p:sp>
      <p:graphicFrame>
        <p:nvGraphicFramePr>
          <p:cNvPr id="8" name=""/>
          <p:cNvGraphicFramePr/>
          <p:nvPr/>
        </p:nvGraphicFramePr>
        <p:xfrm>
          <a:off xmlns:a="http://schemas.openxmlformats.org/drawingml/2006/main" x="685800" y="1457325"/>
          <a:ext xmlns:a="http://schemas.openxmlformats.org/drawingml/2006/main" cx="10820400" cy="3943350"/>
        </p:xfrm>
        <a:graphic xmlns:a="http://schemas.openxmlformats.org/drawingml/2006/main">
          <a:graphicData uri="http://schemas.openxmlformats.org/drawingml/2006/table">
            <a:tbl>
              <a:tblPr/>
              <a:tblGrid>
                <a:gridCol w="2600325"/>
                <a:gridCol w="1857375"/>
                <a:gridCol w="3181350"/>
                <a:gridCol w="3181350"/>
              </a:tblGrid>
              <a:tr h="657225">
                <a:tc>
                  <a:txBody>
                    <a:bodyPr/>
                    <a:lstStyle/>
                    <a:p>
                      <a:r>
                        <a:rPr sz="1650" b="1">
                          <a:solidFill>
                            <a:srgbClr val="132A39"/>
                          </a:solidFill>
                          <a:latin typeface="Arial"/>
                          <a:ea typeface="Arial"/>
                          <a:cs typeface="Arial"/>
                        </a:rPr>
                        <a:t>Victim feature</a:t>
                      </a:r>
                    </a:p>
                  </a:txBody>
                  <a:tcPr marL="142875" marR="142875" marT="76200" marB="76200">
                    <a:solidFill>
                      <a:srgbClr val="F0F5F5"/>
                    </a:solidFill>
                  </a:tcPr>
                </a:tc>
                <a:tc>
                  <a:txBody>
                    <a:bodyPr/>
                    <a:lstStyle/>
                    <a:p>
                      <a:r>
                        <a:rPr sz="1650" b="1">
                          <a:solidFill>
                            <a:srgbClr val="132A39"/>
                          </a:solidFill>
                          <a:latin typeface="Arial"/>
                          <a:ea typeface="Arial"/>
                          <a:cs typeface="Arial"/>
                        </a:rPr>
                        <a:t>Main IRR</a:t>
                      </a:r>
                    </a:p>
                  </a:txBody>
                  <a:tcPr marL="142875" marR="142875" marT="76200" marB="76200">
                    <a:solidFill>
                      <a:srgbClr val="F0F5F5"/>
                    </a:solidFill>
                  </a:tcPr>
                </a:tc>
                <a:tc>
                  <a:txBody>
                    <a:bodyPr/>
                    <a:lstStyle/>
                    <a:p>
                      <a:r>
                        <a:rPr sz="1650" b="1">
                          <a:solidFill>
                            <a:srgbClr val="132A39"/>
                          </a:solidFill>
                          <a:latin typeface="Arial"/>
                          <a:ea typeface="Arial"/>
                          <a:cs typeface="Arial"/>
                        </a:rPr>
                        <a:t>Attack target</a:t>
                      </a:r>
                    </a:p>
                    <a:p>
                      <a:r>
                        <a:rPr sz="1650" b="1">
                          <a:solidFill>
                            <a:srgbClr val="132A39"/>
                          </a:solidFill>
                          <a:latin typeface="Arial"/>
                          <a:ea typeface="Arial"/>
                          <a:cs typeface="Arial"/>
                        </a:rPr>
                        <a:t>Interaction / total</a:t>
                      </a:r>
                    </a:p>
                  </a:txBody>
                  <a:tcPr marL="142875" marR="142875" marT="76200" marB="76200">
                    <a:solidFill>
                      <a:srgbClr val="F0F5F5"/>
                    </a:solidFill>
                  </a:tcPr>
                </a:tc>
                <a:tc>
                  <a:txBody>
                    <a:bodyPr/>
                    <a:lstStyle/>
                    <a:p>
                      <a:r>
                        <a:rPr sz="1650" b="1">
                          <a:solidFill>
                            <a:srgbClr val="132A39"/>
                          </a:solidFill>
                          <a:latin typeface="Arial"/>
                          <a:ea typeface="Arial"/>
                          <a:cs typeface="Arial"/>
                        </a:rPr>
                        <a:t>Trained scorer</a:t>
                      </a:r>
                    </a:p>
                    <a:p>
                      <a:r>
                        <a:rPr sz="1650" b="1">
                          <a:solidFill>
                            <a:srgbClr val="132A39"/>
                          </a:solidFill>
                          <a:latin typeface="Arial"/>
                          <a:ea typeface="Arial"/>
                          <a:cs typeface="Arial"/>
                        </a:rPr>
                        <a:t>Interaction / total</a:t>
                      </a:r>
                    </a:p>
                  </a:txBody>
                  <a:tcPr marL="142875" marR="142875" marT="76200" marB="76200">
                    <a:solidFill>
                      <a:srgbClr val="F0F5F5"/>
                    </a:solidFill>
                  </a:tcPr>
                </a:tc>
              </a:tr>
              <a:tr h="657225">
                <a:tc>
                  <a:txBody>
                    <a:bodyPr/>
                    <a:lstStyle/>
                    <a:p>
                      <a:r>
                        <a:rPr sz="1650">
                          <a:solidFill>
                            <a:srgbClr val="132A39"/>
                          </a:solidFill>
                          <a:latin typeface="Arial"/>
                          <a:ea typeface="Arial"/>
                          <a:cs typeface="Arial"/>
                        </a:rPr>
                        <a:t>Reference</a:t>
                      </a:r>
                    </a:p>
                  </a:txBody>
                  <a:tcPr marL="142875" marR="142875" marT="76200" marB="76200">
                    <a:solidFill>
                      <a:srgbClr val="FFFFFF"/>
                    </a:solidFill>
                  </a:tcPr>
                </a:tc>
                <a:tc>
                  <a:txBody>
                    <a:bodyPr/>
                    <a:lstStyle/>
                    <a:p>
                      <a:r>
                        <a:rPr sz="1650">
                          <a:solidFill>
                            <a:srgbClr val="132A39"/>
                          </a:solidFill>
                          <a:latin typeface="Arial"/>
                          <a:ea typeface="Arial"/>
                          <a:cs typeface="Arial"/>
                        </a:rPr>
                        <a:t>1.00</a:t>
                      </a:r>
                    </a:p>
                  </a:txBody>
                  <a:tcPr marL="142875" marR="142875" marT="76200" marB="76200">
                    <a:solidFill>
                      <a:srgbClr val="FFFFFF"/>
                    </a:solidFill>
                  </a:tcPr>
                </a:tc>
                <a:tc>
                  <a:txBody>
                    <a:bodyPr/>
                    <a:lstStyle/>
                    <a:p>
                      <a:r>
                        <a:rPr sz="1650">
                          <a:solidFill>
                            <a:srgbClr val="132A39"/>
                          </a:solidFill>
                          <a:latin typeface="Arial"/>
                          <a:ea typeface="Arial"/>
                          <a:cs typeface="Arial"/>
                        </a:rPr>
                        <a:t>Main: 0.82–0.86**</a:t>
                      </a:r>
                    </a:p>
                  </a:txBody>
                  <a:tcPr marL="142875" marR="142875" marT="76200" marB="76200">
                    <a:solidFill>
                      <a:srgbClr val="FFFFFF"/>
                    </a:solidFill>
                  </a:tcPr>
                </a:tc>
                <a:tc>
                  <a:txBody>
                    <a:bodyPr/>
                    <a:lstStyle/>
                    <a:p>
                      <a:r>
                        <a:rPr sz="1650">
                          <a:solidFill>
                            <a:srgbClr val="132A39"/>
                          </a:solidFill>
                          <a:latin typeface="Arial"/>
                          <a:ea typeface="Arial"/>
                          <a:cs typeface="Arial"/>
                        </a:rPr>
                        <a:t>Main: 1.04–1.05</a:t>
                      </a:r>
                    </a:p>
                  </a:txBody>
                  <a:tcPr marL="142875" marR="142875" marT="76200" marB="76200">
                    <a:solidFill>
                      <a:srgbClr val="FFFFFF"/>
                    </a:solidFill>
                  </a:tcPr>
                </a:tc>
              </a:tr>
              <a:tr h="657225">
                <a:tc>
                  <a:txBody>
                    <a:bodyPr/>
                    <a:lstStyle/>
                    <a:p>
                      <a:r>
                        <a:rPr sz="1650">
                          <a:solidFill>
                            <a:srgbClr val="132A39"/>
                          </a:solidFill>
                          <a:latin typeface="Arial"/>
                          <a:ea typeface="Arial"/>
                          <a:cs typeface="Arial"/>
                        </a:rPr>
                        <a:t>Base: B to others</a:t>
                      </a:r>
                    </a:p>
                  </a:txBody>
                  <a:tcPr marL="142875" marR="142875" marT="76200" marB="76200">
                    <a:solidFill>
                      <a:srgbClr val="FFFFFF"/>
                    </a:solidFill>
                  </a:tcPr>
                </a:tc>
                <a:tc>
                  <a:txBody>
                    <a:bodyPr/>
                    <a:lstStyle/>
                    <a:p>
                      <a:r>
                        <a:rPr sz="1650">
                          <a:solidFill>
                            <a:srgbClr val="132A39"/>
                          </a:solidFill>
                          <a:latin typeface="Arial"/>
                          <a:ea typeface="Arial"/>
                          <a:cs typeface="Arial"/>
                        </a:rPr>
                        <a:t>0.72–0.73*</a:t>
                      </a:r>
                    </a:p>
                  </a:txBody>
                  <a:tcPr marL="142875" marR="142875" marT="76200" marB="76200">
                    <a:solidFill>
                      <a:srgbClr val="FFFFFF"/>
                    </a:solidFill>
                  </a:tcPr>
                </a:tc>
                <a:tc>
                  <a:txBody>
                    <a:bodyPr/>
                    <a:lstStyle/>
                    <a:p>
                      <a:r>
                        <a:rPr sz="1650">
                          <a:solidFill>
                            <a:srgbClr val="132A39"/>
                          </a:solidFill>
                          <a:latin typeface="Arial"/>
                          <a:ea typeface="Arial"/>
                          <a:cs typeface="Arial"/>
                        </a:rPr>
                        <a:t>1.13** / 0.69</a:t>
                      </a:r>
                    </a:p>
                  </a:txBody>
                  <a:tcPr marL="142875" marR="142875" marT="76200" marB="76200">
                    <a:solidFill>
                      <a:srgbClr val="FFFFFF"/>
                    </a:solidFill>
                  </a:tcPr>
                </a:tc>
                <a:tc>
                  <a:txBody>
                    <a:bodyPr/>
                    <a:lstStyle/>
                    <a:p>
                      <a:r>
                        <a:rPr sz="1650">
                          <a:solidFill>
                            <a:srgbClr val="132A39"/>
                          </a:solidFill>
                          <a:latin typeface="Arial"/>
                          <a:ea typeface="Arial"/>
                          <a:cs typeface="Arial"/>
                        </a:rPr>
                        <a:t>1.03 / 0.78</a:t>
                      </a:r>
                    </a:p>
                    <a:p>
                      <a:r>
                        <a:rPr sz="1650">
                          <a:solidFill>
                            <a:srgbClr val="132A39"/>
                          </a:solidFill>
                          <a:latin typeface="Arial"/>
                          <a:ea typeface="Arial"/>
                          <a:cs typeface="Arial"/>
                        </a:rPr>
                        <a:t>SE n.e.</a:t>
                      </a:r>
                    </a:p>
                  </a:txBody>
                  <a:tcPr marL="142875" marR="142875" marT="76200" marB="76200">
                    <a:solidFill>
                      <a:srgbClr val="FFFFFF"/>
                    </a:solidFill>
                  </a:tcPr>
                </a:tc>
              </a:tr>
              <a:tr h="657225">
                <a:tc>
                  <a:txBody>
                    <a:bodyPr/>
                    <a:lstStyle/>
                    <a:p>
                      <a:r>
                        <a:rPr sz="1650">
                          <a:solidFill>
                            <a:srgbClr val="132A39"/>
                          </a:solidFill>
                          <a:latin typeface="Arial"/>
                          <a:ea typeface="Arial"/>
                          <a:cs typeface="Arial"/>
                        </a:rPr>
                        <a:t>Synthesis</a:t>
                      </a:r>
                    </a:p>
                  </a:txBody>
                  <a:tcPr marL="142875" marR="142875" marT="76200" marB="76200">
                    <a:solidFill>
                      <a:srgbClr val="FFFFFF"/>
                    </a:solidFill>
                  </a:tcPr>
                </a:tc>
                <a:tc>
                  <a:txBody>
                    <a:bodyPr/>
                    <a:lstStyle/>
                    <a:p>
                      <a:r>
                        <a:rPr sz="1650">
                          <a:solidFill>
                            <a:srgbClr val="132A39"/>
                          </a:solidFill>
                          <a:latin typeface="Arial"/>
                          <a:ea typeface="Arial"/>
                          <a:cs typeface="Arial"/>
                        </a:rPr>
                        <a:t>0.63–0.65*</a:t>
                      </a:r>
                    </a:p>
                  </a:txBody>
                  <a:tcPr marL="142875" marR="142875" marT="76200" marB="76200">
                    <a:solidFill>
                      <a:srgbClr val="FFFFFF"/>
                    </a:solidFill>
                  </a:tcPr>
                </a:tc>
                <a:tc>
                  <a:txBody>
                    <a:bodyPr/>
                    <a:lstStyle/>
                    <a:p>
                      <a:r>
                        <a:rPr sz="1650">
                          <a:solidFill>
                            <a:srgbClr val="132A39"/>
                          </a:solidFill>
                          <a:latin typeface="Arial"/>
                          <a:ea typeface="Arial"/>
                          <a:cs typeface="Arial"/>
                        </a:rPr>
                        <a:t>1.18** / 0.61</a:t>
                      </a:r>
                    </a:p>
                  </a:txBody>
                  <a:tcPr marL="142875" marR="142875" marT="76200" marB="76200">
                    <a:solidFill>
                      <a:srgbClr val="FFFFFF"/>
                    </a:solidFill>
                  </a:tcPr>
                </a:tc>
                <a:tc>
                  <a:txBody>
                    <a:bodyPr/>
                    <a:lstStyle/>
                    <a:p>
                      <a:r>
                        <a:rPr sz="1650">
                          <a:solidFill>
                            <a:srgbClr val="132A39"/>
                          </a:solidFill>
                          <a:latin typeface="Arial"/>
                          <a:ea typeface="Arial"/>
                          <a:cs typeface="Arial"/>
                        </a:rPr>
                        <a:t>1.00 / 0.68</a:t>
                      </a:r>
                    </a:p>
                    <a:p>
                      <a:r>
                        <a:rPr sz="1650">
                          <a:solidFill>
                            <a:srgbClr val="132A39"/>
                          </a:solidFill>
                          <a:latin typeface="Arial"/>
                          <a:ea typeface="Arial"/>
                          <a:cs typeface="Arial"/>
                        </a:rPr>
                        <a:t>SE n.e.</a:t>
                      </a:r>
                    </a:p>
                  </a:txBody>
                  <a:tcPr marL="142875" marR="142875" marT="76200" marB="76200">
                    <a:solidFill>
                      <a:srgbClr val="FFFFFF"/>
                    </a:solidFill>
                  </a:tcPr>
                </a:tc>
              </a:tr>
              <a:tr h="657225">
                <a:tc>
                  <a:txBody>
                    <a:bodyPr/>
                    <a:lstStyle/>
                    <a:p>
                      <a:r>
                        <a:rPr sz="1650">
                          <a:solidFill>
                            <a:srgbClr val="132A39"/>
                          </a:solidFill>
                          <a:latin typeface="Arial"/>
                          <a:ea typeface="Arial"/>
                          <a:cs typeface="Arial"/>
                        </a:rPr>
                        <a:t>Optimization</a:t>
                      </a:r>
                    </a:p>
                  </a:txBody>
                  <a:tcPr marL="142875" marR="142875" marT="76200" marB="76200">
                    <a:solidFill>
                      <a:srgbClr val="FFFFFF"/>
                    </a:solidFill>
                  </a:tcPr>
                </a:tc>
                <a:tc>
                  <a:txBody>
                    <a:bodyPr/>
                    <a:lstStyle/>
                    <a:p>
                      <a:r>
                        <a:rPr sz="1650">
                          <a:solidFill>
                            <a:srgbClr val="132A39"/>
                          </a:solidFill>
                          <a:latin typeface="Arial"/>
                          <a:ea typeface="Arial"/>
                          <a:cs typeface="Arial"/>
                        </a:rPr>
                        <a:t>0.73–0.75*</a:t>
                      </a:r>
                    </a:p>
                  </a:txBody>
                  <a:tcPr marL="142875" marR="142875" marT="76200" marB="76200">
                    <a:solidFill>
                      <a:srgbClr val="FFFFFF"/>
                    </a:solidFill>
                  </a:tcPr>
                </a:tc>
                <a:tc>
                  <a:txBody>
                    <a:bodyPr/>
                    <a:lstStyle/>
                    <a:p>
                      <a:r>
                        <a:rPr sz="1650">
                          <a:solidFill>
                            <a:srgbClr val="132A39"/>
                          </a:solidFill>
                          <a:latin typeface="Arial"/>
                          <a:ea typeface="Arial"/>
                          <a:cs typeface="Arial"/>
                        </a:rPr>
                        <a:t>1.11** / 0.70</a:t>
                      </a:r>
                    </a:p>
                  </a:txBody>
                  <a:tcPr marL="142875" marR="142875" marT="76200" marB="76200">
                    <a:solidFill>
                      <a:srgbClr val="FFFFFF"/>
                    </a:solidFill>
                  </a:tcPr>
                </a:tc>
                <a:tc>
                  <a:txBody>
                    <a:bodyPr/>
                    <a:lstStyle/>
                    <a:p>
                      <a:r>
                        <a:rPr sz="1650">
                          <a:solidFill>
                            <a:srgbClr val="132A39"/>
                          </a:solidFill>
                          <a:latin typeface="Arial"/>
                          <a:ea typeface="Arial"/>
                          <a:cs typeface="Arial"/>
                        </a:rPr>
                        <a:t>1.01 / 0.78</a:t>
                      </a:r>
                    </a:p>
                    <a:p>
                      <a:r>
                        <a:rPr sz="1650">
                          <a:solidFill>
                            <a:srgbClr val="132A39"/>
                          </a:solidFill>
                          <a:latin typeface="Arial"/>
                          <a:ea typeface="Arial"/>
                          <a:cs typeface="Arial"/>
                        </a:rPr>
                        <a:t>SE n.e.</a:t>
                      </a:r>
                    </a:p>
                  </a:txBody>
                  <a:tcPr marL="142875" marR="142875" marT="76200" marB="76200">
                    <a:solidFill>
                      <a:srgbClr val="FFFFFF"/>
                    </a:solidFill>
                  </a:tcPr>
                </a:tc>
              </a:tr>
              <a:tr h="657225">
                <a:tc>
                  <a:txBody>
                    <a:bodyPr/>
                    <a:lstStyle/>
                    <a:p>
                      <a:r>
                        <a:rPr sz="1650">
                          <a:solidFill>
                            <a:srgbClr val="132A39"/>
                          </a:solidFill>
                          <a:latin typeface="Arial"/>
                          <a:ea typeface="Arial"/>
                          <a:cs typeface="Arial"/>
                        </a:rPr>
                        <a:t>Swapping</a:t>
                      </a:r>
                    </a:p>
                  </a:txBody>
                  <a:tcPr marL="142875" marR="142875" marT="76200" marB="76200">
                    <a:solidFill>
                      <a:srgbClr val="FFFFFF"/>
                    </a:solidFill>
                  </a:tcPr>
                </a:tc>
                <a:tc>
                  <a:txBody>
                    <a:bodyPr/>
                    <a:lstStyle/>
                    <a:p>
                      <a:r>
                        <a:rPr sz="1650">
                          <a:solidFill>
                            <a:srgbClr val="132A39"/>
                          </a:solidFill>
                          <a:latin typeface="Arial"/>
                          <a:ea typeface="Arial"/>
                          <a:cs typeface="Arial"/>
                        </a:rPr>
                        <a:t>0.68–0.70*</a:t>
                      </a:r>
                    </a:p>
                  </a:txBody>
                  <a:tcPr marL="142875" marR="142875" marT="76200" marB="76200">
                    <a:solidFill>
                      <a:srgbClr val="FFFFFF"/>
                    </a:solidFill>
                  </a:tcPr>
                </a:tc>
                <a:tc>
                  <a:txBody>
                    <a:bodyPr/>
                    <a:lstStyle/>
                    <a:p>
                      <a:r>
                        <a:rPr sz="1650">
                          <a:solidFill>
                            <a:srgbClr val="132A39"/>
                          </a:solidFill>
                          <a:latin typeface="Arial"/>
                          <a:ea typeface="Arial"/>
                          <a:cs typeface="Arial"/>
                        </a:rPr>
                        <a:t>1.16** / 0.65</a:t>
                      </a:r>
                    </a:p>
                  </a:txBody>
                  <a:tcPr marL="142875" marR="142875" marT="76200" marB="76200">
                    <a:solidFill>
                      <a:srgbClr val="FFFFFF"/>
                    </a:solidFill>
                  </a:tcPr>
                </a:tc>
                <a:tc>
                  <a:txBody>
                    <a:bodyPr/>
                    <a:lstStyle/>
                    <a:p>
                      <a:r>
                        <a:rPr sz="1650">
                          <a:solidFill>
                            <a:srgbClr val="132A39"/>
                          </a:solidFill>
                          <a:latin typeface="Arial"/>
                          <a:ea typeface="Arial"/>
                          <a:cs typeface="Arial"/>
                        </a:rPr>
                        <a:t>0.99 / 0.74</a:t>
                      </a:r>
                    </a:p>
                    <a:p>
                      <a:r>
                        <a:rPr sz="1650">
                          <a:solidFill>
                            <a:srgbClr val="132A39"/>
                          </a:solidFill>
                          <a:latin typeface="Arial"/>
                          <a:ea typeface="Arial"/>
                          <a:cs typeface="Arial"/>
                        </a:rPr>
                        <a:t>SE n.e.</a:t>
                      </a:r>
                    </a:p>
                  </a:txBody>
                  <a:tcPr marL="142875" marR="142875" marT="76200" marB="7620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DADA0EA3-1F2A-4DE7-8A55-28DC8B5F6D19}"/>
              </a:ext>
            </a:extLst>
          </p:cNvPr>
          <p:cNvSpPr>
            <a:spLocks xmlns:a="http://schemas.openxmlformats.org/drawingml/2006/main" noGrp="1"/>
          </p:cNvSpPr>
          <p:nvPr/>
        </p:nvSpPr>
        <p:spPr>
          <a:xfrm xmlns:a="http://schemas.openxmlformats.org/drawingml/2006/main">
            <a:off x="685800" y="5772150"/>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0">
                <a:solidFill>
                  <a:srgbClr val="566774"/>
                </a:solidFill>
                <a:latin typeface="Arial"/>
                <a:ea typeface="Arial"/>
                <a:cs typeface="Arial"/>
              </a:defRPr>
            </a:pPr>
            <a:r>
              <a:rPr sz="1575" b="0">
                <a:solidFill>
                  <a:srgbClr val="566774"/>
                </a:solidFill>
                <a:latin typeface="Arial"/>
                <a:ea typeface="Arial"/>
                <a:cs typeface="Arial"/>
              </a:rPr>
              <a:t>Ranges span model specifications, not confidence intervals. * p &lt; 0.05, ** p &lt; 0.01.</a:t>
            </a:r>
          </a:p>
        </p:txBody>
      </p:sp>
      <p:sp>
        <p:nvSpPr>
          <p:cNvPr id="5" name="">
            <a:extLst xmlns:a="http://schemas.openxmlformats.org/drawingml/2006/main">
              <a:ext uri="{FF2B5EF4-FFF2-40B4-BE49-F238E27FC236}">
                <a16:creationId xmlns:a16="http://schemas.microsoft.com/office/drawing/2014/main" id="{A6829A82-E617-4A12-A86D-E000EBDFCB9E}"/>
              </a:ext>
            </a:extLst>
          </p:cNvPr>
          <p:cNvSpPr>
            <a:spLocks xmlns:a="http://schemas.openxmlformats.org/drawingml/2006/main" noGrp="1"/>
          </p:cNvSpPr>
          <p:nvPr/>
        </p:nvSpPr>
        <p:spPr>
          <a:xfrm xmlns:a="http://schemas.openxmlformats.org/drawingml/2006/main">
            <a:off x="685800" y="6115050"/>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0">
                <a:solidFill>
                  <a:srgbClr val="566774"/>
                </a:solidFill>
                <a:latin typeface="Arial"/>
                <a:ea typeface="Arial"/>
                <a:cs typeface="Arial"/>
              </a:defRPr>
            </a:pPr>
            <a:r>
              <a:rPr sz="1575" b="0">
                <a:solidFill>
                  <a:srgbClr val="566774"/>
                </a:solidFill>
                <a:latin typeface="Arial"/>
                <a:ea typeface="Arial"/>
                <a:cs typeface="Arial"/>
              </a:rPr>
              <a:t>SE n.e.: the two-way clustered standard error for the interaction was not estimable.</a:t>
            </a:r>
          </a:p>
        </p:txBody>
      </p:sp>
    </p:spTree>
    <p:extLst>
      <p:ext uri="{BB962C8B-B14F-4D97-AF65-F5344CB8AC3E}">
        <p14:creationId xmlns:p14="http://schemas.microsoft.com/office/powerpoint/2010/main" val="635948135"/>
      </p:ext>
    </p:extLst>
  </p:cSld>
</p:sld>
</file>

<file path=ppt/slides/slide13.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C7C1D2B-BB93-40B5-9906-FC25ACAF342A}"/>
              </a:ext>
            </a:extLst>
          </p:cNvPr>
          <p:cNvSpPr>
            <a:spLocks xmlns:a="http://schemas.openxmlformats.org/drawingml/2006/main" noGrp="1"/>
          </p:cNvSpPr>
          <p:nvPr/>
        </p:nvSpPr>
        <p:spPr>
          <a:xfrm xmlns:a="http://schemas.openxmlformats.org/drawingml/2006/main">
            <a:off x="685800" y="457200"/>
            <a:ext cx="108204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50" b="1">
                <a:solidFill>
                  <a:srgbClr val="132A39"/>
                </a:solidFill>
                <a:latin typeface="Arial"/>
                <a:ea typeface="Arial"/>
                <a:cs typeface="Arial"/>
              </a:defRPr>
            </a:pPr>
            <a:r>
              <a:rPr sz="3150" b="1">
                <a:solidFill>
                  <a:srgbClr val="132A39"/>
                </a:solidFill>
                <a:latin typeface="Arial"/>
                <a:ea typeface="Arial"/>
                <a:cs typeface="Arial"/>
              </a:rPr>
              <a:t>Q&amp;A: the defense and attack phases</a:t>
            </a:r>
          </a:p>
        </p:txBody>
      </p:sp>
      <p:sp>
        <p:nvSpPr>
          <p:cNvPr id="2" name="">
            <a:extLst xmlns:a="http://schemas.openxmlformats.org/drawingml/2006/main">
              <a:ext uri="{FF2B5EF4-FFF2-40B4-BE49-F238E27FC236}">
                <a16:creationId xmlns:a16="http://schemas.microsoft.com/office/drawing/2014/main" id="{B7A3B6F3-3287-42D2-B76A-B3CB620E0434}"/>
              </a:ext>
            </a:extLst>
          </p:cNvPr>
          <p:cNvSpPr>
            <a:spLocks xmlns:a="http://schemas.openxmlformats.org/drawingml/2006/main" noGrp="1"/>
          </p:cNvSpPr>
          <p:nvPr/>
        </p:nvSpPr>
        <p:spPr>
          <a:xfrm xmlns:a="http://schemas.openxmlformats.org/drawingml/2006/main">
            <a:off x="11087100" y="635317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566774"/>
                </a:solidFill>
                <a:latin typeface="Arial"/>
                <a:ea typeface="Arial"/>
                <a:cs typeface="Arial"/>
              </a:defRPr>
            </a:pPr>
            <a:r>
              <a:rPr sz="1200" b="0">
                <a:solidFill>
                  <a:srgbClr val="566774"/>
                </a:solidFill>
                <a:latin typeface="Arial"/>
                <a:ea typeface="Arial"/>
                <a:cs typeface="Arial"/>
              </a:rPr>
              <a:t>13</a:t>
            </a:r>
          </a:p>
        </p:txBody>
      </p:sp>
      <p:sp>
        <p:nvSpPr>
          <p:cNvPr id="3" name="">
            <a:extLst xmlns:a="http://schemas.openxmlformats.org/drawingml/2006/main">
              <a:ext uri="{FF2B5EF4-FFF2-40B4-BE49-F238E27FC236}">
                <a16:creationId xmlns:a16="http://schemas.microsoft.com/office/drawing/2014/main" id="{3AC93608-A84F-424E-8AA9-409DB18EDD81}"/>
              </a:ext>
            </a:extLst>
          </p:cNvPr>
          <p:cNvSpPr>
            <a:spLocks xmlns:a="http://schemas.openxmlformats.org/drawingml/2006/main" noGrp="1"/>
          </p:cNvSpPr>
          <p:nvPr/>
        </p:nvSpPr>
        <p:spPr>
          <a:xfrm xmlns:a="http://schemas.openxmlformats.org/drawingml/2006/main">
            <a:off x="685800" y="1514475"/>
            <a:ext cx="4953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a:solidFill>
                  <a:srgbClr val="236FAA"/>
                </a:solidFill>
                <a:latin typeface="Arial"/>
                <a:ea typeface="Arial"/>
                <a:cs typeface="Arial"/>
              </a:defRPr>
            </a:pPr>
            <a:r>
              <a:rPr sz="2400" b="1">
                <a:solidFill>
                  <a:srgbClr val="236FAA"/>
                </a:solidFill>
                <a:latin typeface="Arial"/>
                <a:ea typeface="Arial"/>
                <a:cs typeface="Arial"/>
              </a:rPr>
              <a:t>Defense</a:t>
            </a:r>
          </a:p>
        </p:txBody>
      </p:sp>
      <p:sp>
        <p:nvSpPr>
          <p:cNvPr id="4" name="">
            <a:extLst xmlns:a="http://schemas.openxmlformats.org/drawingml/2006/main">
              <a:ext uri="{FF2B5EF4-FFF2-40B4-BE49-F238E27FC236}">
                <a16:creationId xmlns:a16="http://schemas.microsoft.com/office/drawing/2014/main" id="{0359969C-4507-49AB-B213-3AD830552F63}"/>
              </a:ext>
            </a:extLst>
          </p:cNvPr>
          <p:cNvSpPr>
            <a:spLocks xmlns:a="http://schemas.openxmlformats.org/drawingml/2006/main" noGrp="1"/>
          </p:cNvSpPr>
          <p:nvPr/>
        </p:nvSpPr>
        <p:spPr>
          <a:xfrm xmlns:a="http://schemas.openxmlformats.org/drawingml/2006/main">
            <a:off x="6610350" y="1514475"/>
            <a:ext cx="4857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a:solidFill>
                  <a:srgbClr val="D98424"/>
                </a:solidFill>
                <a:latin typeface="Arial"/>
                <a:ea typeface="Arial"/>
                <a:cs typeface="Arial"/>
              </a:defRPr>
            </a:pPr>
            <a:r>
              <a:rPr sz="2400" b="1">
                <a:solidFill>
                  <a:srgbClr val="D98424"/>
                </a:solidFill>
                <a:latin typeface="Arial"/>
                <a:ea typeface="Arial"/>
                <a:cs typeface="Arial"/>
              </a:rPr>
              <a:t>Attack</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8b2be7abde0d472f"/>
          <a:stretch xmlns:a="http://schemas.openxmlformats.org/drawingml/2006/main"/>
        </p:blipFill>
        <p:spPr>
          <a:xfrm xmlns:a="http://schemas.openxmlformats.org/drawingml/2006/main">
            <a:off x="712099" y="2066925"/>
            <a:ext cx="5014702" cy="2647950"/>
          </a:xfrm>
          <a:prstGeom xmlns:a="http://schemas.openxmlformats.org/drawingml/2006/main" prst="rect">
            <a:avLst/>
          </a:prstGeom>
        </p:spPr>
      </p:pic>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c3b3160ef92d4abc"/>
          <a:stretch xmlns:a="http://schemas.openxmlformats.org/drawingml/2006/main"/>
        </p:blipFill>
        <p:spPr>
          <a:xfrm xmlns:a="http://schemas.openxmlformats.org/drawingml/2006/main">
            <a:off x="6477000" y="2097365"/>
            <a:ext cx="5067300" cy="258707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8E9D17C4-4696-4E7A-BBFA-56FD1B60E703}"/>
              </a:ext>
            </a:extLst>
          </p:cNvPr>
          <p:cNvSpPr>
            <a:spLocks xmlns:a="http://schemas.openxmlformats.org/drawingml/2006/main" noGrp="1"/>
          </p:cNvSpPr>
          <p:nvPr/>
        </p:nvSpPr>
        <p:spPr>
          <a:xfrm xmlns:a="http://schemas.openxmlformats.org/drawingml/2006/main">
            <a:off x="685800" y="5000625"/>
            <a:ext cx="50673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32A39"/>
                </a:solidFill>
                <a:latin typeface="Arial"/>
                <a:ea typeface="Arial"/>
                <a:cs typeface="Arial"/>
              </a:defRPr>
            </a:pPr>
            <a:r>
              <a:rPr sz="2175" b="0">
                <a:solidFill>
                  <a:srgbClr val="132A39"/>
                </a:solidFill>
                <a:latin typeface="Arial"/>
                <a:ea typeface="Arial"/>
                <a:cs typeface="Arial"/>
              </a:rPr>
              <a:t>Release anonymized data C</a:t>
            </a:r>
          </a:p>
          <a:p xmlns:a="http://schemas.openxmlformats.org/drawingml/2006/main">
            <a:pPr>
              <a:defRPr sz="2175" b="0">
                <a:solidFill>
                  <a:srgbClr val="132A39"/>
                </a:solidFill>
                <a:latin typeface="Arial"/>
                <a:ea typeface="Arial"/>
                <a:cs typeface="Arial"/>
              </a:defRPr>
            </a:pPr>
            <a:r>
              <a:rPr sz="2175" b="0">
                <a:solidFill>
                  <a:srgbClr val="132A39"/>
                </a:solidFill>
                <a:latin typeface="Arial"/>
                <a:ea typeface="Arial"/>
                <a:cs typeface="Arial"/>
              </a:rPr>
              <a:t>and stroke-risk model D</a:t>
            </a:r>
          </a:p>
        </p:txBody>
      </p:sp>
      <p:sp>
        <p:nvSpPr>
          <p:cNvPr id="8" name="">
            <a:extLst xmlns:a="http://schemas.openxmlformats.org/drawingml/2006/main">
              <a:ext uri="{FF2B5EF4-FFF2-40B4-BE49-F238E27FC236}">
                <a16:creationId xmlns:a16="http://schemas.microsoft.com/office/drawing/2014/main" id="{B63E54C3-A3E8-43A3-8566-5C19CB62DFB5}"/>
              </a:ext>
            </a:extLst>
          </p:cNvPr>
          <p:cNvSpPr>
            <a:spLocks xmlns:a="http://schemas.openxmlformats.org/drawingml/2006/main" noGrp="1"/>
          </p:cNvSpPr>
          <p:nvPr/>
        </p:nvSpPr>
        <p:spPr>
          <a:xfrm xmlns:a="http://schemas.openxmlformats.org/drawingml/2006/main">
            <a:off x="6477000" y="5000625"/>
            <a:ext cx="50673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32A39"/>
                </a:solidFill>
                <a:latin typeface="Arial"/>
                <a:ea typeface="Arial"/>
                <a:cs typeface="Arial"/>
              </a:defRPr>
            </a:pPr>
            <a:r>
              <a:rPr sz="2175" b="0">
                <a:solidFill>
                  <a:srgbClr val="132A39"/>
                </a:solidFill>
                <a:latin typeface="Arial"/>
                <a:ea typeface="Arial"/>
                <a:cs typeface="Arial"/>
              </a:rPr>
              <a:t>Infer which population records</a:t>
            </a:r>
          </a:p>
          <a:p xmlns:a="http://schemas.openxmlformats.org/drawingml/2006/main">
            <a:pPr>
              <a:defRPr sz="2175" b="0">
                <a:solidFill>
                  <a:srgbClr val="132A39"/>
                </a:solidFill>
                <a:latin typeface="Arial"/>
                <a:ea typeface="Arial"/>
                <a:cs typeface="Arial"/>
              </a:defRPr>
            </a:pPr>
            <a:r>
              <a:rPr sz="2175" b="0">
                <a:solidFill>
                  <a:srgbClr val="132A39"/>
                </a:solidFill>
                <a:latin typeface="Arial"/>
                <a:ea typeface="Arial"/>
                <a:cs typeface="Arial"/>
              </a:rPr>
              <a:t>belong to hidden sample B</a:t>
            </a:r>
          </a:p>
        </p:txBody>
      </p:sp>
      <p:sp>
        <p:nvSpPr>
          <p:cNvPr id="9" name="">
            <a:extLst xmlns:a="http://schemas.openxmlformats.org/drawingml/2006/main">
              <a:ext uri="{FF2B5EF4-FFF2-40B4-BE49-F238E27FC236}">
                <a16:creationId xmlns:a16="http://schemas.microsoft.com/office/drawing/2014/main" id="{2AC1954D-ECE5-48CF-9D85-0191E2B92312}"/>
              </a:ext>
            </a:extLst>
          </p:cNvPr>
          <p:cNvSpPr>
            <a:spLocks xmlns:a="http://schemas.openxmlformats.org/drawingml/2006/main" noGrp="1"/>
          </p:cNvSpPr>
          <p:nvPr/>
        </p:nvSpPr>
        <p:spPr>
          <a:xfrm xmlns:a="http://schemas.openxmlformats.org/drawingml/2006/main">
            <a:off x="685800" y="609600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566774"/>
                </a:solidFill>
                <a:latin typeface="Arial"/>
                <a:ea typeface="Arial"/>
                <a:cs typeface="Arial"/>
              </a:defRPr>
            </a:pPr>
            <a:r>
              <a:rPr sz="1650" b="0">
                <a:solidFill>
                  <a:srgbClr val="566774"/>
                </a:solidFill>
                <a:latin typeface="Arial"/>
                <a:ea typeface="Arial"/>
                <a:cs typeface="Arial"/>
              </a:rPr>
              <a:t>Population: 100,000 records. Hidden sample: 10,000. Synthetic health data, 18 variables.</a:t>
            </a:r>
          </a:p>
        </p:txBody>
      </p:sp>
    </p:spTree>
    <p:extLst>
      <p:ext uri="{BB962C8B-B14F-4D97-AF65-F5344CB8AC3E}">
        <p14:creationId xmlns:p14="http://schemas.microsoft.com/office/powerpoint/2010/main" val="1143512425"/>
      </p:ext>
    </p:extLst>
  </p:cSld>
</p:sld>
</file>

<file path=ppt/slides/slide14.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8EF089C-82F3-43D6-BB5A-84E3F3786917}"/>
              </a:ext>
            </a:extLst>
          </p:cNvPr>
          <p:cNvSpPr>
            <a:spLocks xmlns:a="http://schemas.openxmlformats.org/drawingml/2006/main" noGrp="1"/>
          </p:cNvSpPr>
          <p:nvPr/>
        </p:nvSpPr>
        <p:spPr>
          <a:xfrm xmlns:a="http://schemas.openxmlformats.org/drawingml/2006/main">
            <a:off x="685800" y="457200"/>
            <a:ext cx="108204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50" b="1">
                <a:solidFill>
                  <a:srgbClr val="132A39"/>
                </a:solidFill>
                <a:latin typeface="Arial"/>
                <a:ea typeface="Arial"/>
                <a:cs typeface="Arial"/>
              </a:defRPr>
            </a:pPr>
            <a:r>
              <a:rPr sz="3150" b="1">
                <a:solidFill>
                  <a:srgbClr val="132A39"/>
                </a:solidFill>
                <a:latin typeface="Arial"/>
                <a:ea typeface="Arial"/>
                <a:cs typeface="Arial"/>
              </a:rPr>
              <a:t>Q&amp;A: why 20 teams and 361 pairs?</a:t>
            </a:r>
          </a:p>
        </p:txBody>
      </p:sp>
      <p:sp>
        <p:nvSpPr>
          <p:cNvPr id="2" name="">
            <a:extLst xmlns:a="http://schemas.openxmlformats.org/drawingml/2006/main">
              <a:ext uri="{FF2B5EF4-FFF2-40B4-BE49-F238E27FC236}">
                <a16:creationId xmlns:a16="http://schemas.microsoft.com/office/drawing/2014/main" id="{C66B78C9-7977-4C77-AEB7-B9EC8FE45661}"/>
              </a:ext>
            </a:extLst>
          </p:cNvPr>
          <p:cNvSpPr>
            <a:spLocks xmlns:a="http://schemas.openxmlformats.org/drawingml/2006/main" noGrp="1"/>
          </p:cNvSpPr>
          <p:nvPr/>
        </p:nvSpPr>
        <p:spPr>
          <a:xfrm xmlns:a="http://schemas.openxmlformats.org/drawingml/2006/main">
            <a:off x="11087100" y="635317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566774"/>
                </a:solidFill>
                <a:latin typeface="Arial"/>
                <a:ea typeface="Arial"/>
                <a:cs typeface="Arial"/>
              </a:defRPr>
            </a:pPr>
            <a:r>
              <a:rPr sz="1200" b="0">
                <a:solidFill>
                  <a:srgbClr val="566774"/>
                </a:solidFill>
                <a:latin typeface="Arial"/>
                <a:ea typeface="Arial"/>
                <a:cs typeface="Arial"/>
              </a:rPr>
              <a:t>14</a:t>
            </a:r>
          </a:p>
        </p:txBody>
      </p:sp>
      <p:sp>
        <p:nvSpPr>
          <p:cNvPr id="3" name="">
            <a:extLst xmlns:a="http://schemas.openxmlformats.org/drawingml/2006/main">
              <a:ext uri="{FF2B5EF4-FFF2-40B4-BE49-F238E27FC236}">
                <a16:creationId xmlns:a16="http://schemas.microsoft.com/office/drawing/2014/main" id="{B0B19240-2FF8-4F63-A522-CCEB5BE448CB}"/>
              </a:ext>
            </a:extLst>
          </p:cNvPr>
          <p:cNvSpPr>
            <a:spLocks xmlns:a="http://schemas.openxmlformats.org/drawingml/2006/main" noGrp="1"/>
          </p:cNvSpPr>
          <p:nvPr/>
        </p:nvSpPr>
        <p:spPr>
          <a:xfrm xmlns:a="http://schemas.openxmlformats.org/drawingml/2006/main">
            <a:off x="685800" y="1600200"/>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75" b="1">
                <a:solidFill>
                  <a:srgbClr val="236FAA"/>
                </a:solidFill>
                <a:latin typeface="Arial"/>
                <a:ea typeface="Arial"/>
                <a:cs typeface="Arial"/>
              </a:defRPr>
            </a:pPr>
            <a:r>
              <a:rPr sz="3375" b="1">
                <a:solidFill>
                  <a:srgbClr val="236FAA"/>
                </a:solidFill>
                <a:latin typeface="Arial"/>
                <a:ea typeface="Arial"/>
                <a:cs typeface="Arial"/>
              </a:rPr>
              <a:t>24 registered  →  20 coded defenders</a:t>
            </a:r>
          </a:p>
        </p:txBody>
      </p:sp>
      <p:sp>
        <p:nvSpPr>
          <p:cNvPr id="4" name="">
            <a:extLst xmlns:a="http://schemas.openxmlformats.org/drawingml/2006/main">
              <a:ext uri="{FF2B5EF4-FFF2-40B4-BE49-F238E27FC236}">
                <a16:creationId xmlns:a16="http://schemas.microsoft.com/office/drawing/2014/main" id="{44834F82-9BDE-4CA4-AD32-6D8EBAE5C0A6}"/>
              </a:ext>
            </a:extLst>
          </p:cNvPr>
          <p:cNvSpPr>
            <a:spLocks xmlns:a="http://schemas.openxmlformats.org/drawingml/2006/main" noGrp="1"/>
          </p:cNvSpPr>
          <p:nvPr/>
        </p:nvSpPr>
        <p:spPr>
          <a:xfrm xmlns:a="http://schemas.openxmlformats.org/drawingml/2006/main">
            <a:off x="685800" y="2790825"/>
            <a:ext cx="108204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50" b="1">
                <a:solidFill>
                  <a:srgbClr val="132A39"/>
                </a:solidFill>
                <a:latin typeface="Arial"/>
                <a:ea typeface="Arial"/>
                <a:cs typeface="Arial"/>
              </a:defRPr>
            </a:pPr>
            <a:r>
              <a:rPr sz="3150" b="1">
                <a:solidFill>
                  <a:srgbClr val="132A39"/>
                </a:solidFill>
                <a:latin typeface="Arial"/>
                <a:ea typeface="Arial"/>
                <a:cs typeface="Arial"/>
              </a:rPr>
              <a:t>19 coded attackers</a:t>
            </a:r>
          </a:p>
        </p:txBody>
      </p:sp>
      <p:sp>
        <p:nvSpPr>
          <p:cNvPr id="5" name="">
            <a:extLst xmlns:a="http://schemas.openxmlformats.org/drawingml/2006/main">
              <a:ext uri="{FF2B5EF4-FFF2-40B4-BE49-F238E27FC236}">
                <a16:creationId xmlns:a16="http://schemas.microsoft.com/office/drawing/2014/main" id="{AC2EF366-826F-459C-9BDB-69C0F12A4815}"/>
              </a:ext>
            </a:extLst>
          </p:cNvPr>
          <p:cNvSpPr>
            <a:spLocks xmlns:a="http://schemas.openxmlformats.org/drawingml/2006/main" noGrp="1"/>
          </p:cNvSpPr>
          <p:nvPr/>
        </p:nvSpPr>
        <p:spPr>
          <a:xfrm xmlns:a="http://schemas.openxmlformats.org/drawingml/2006/main">
            <a:off x="685800" y="3971925"/>
            <a:ext cx="108204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75" b="1">
                <a:solidFill>
                  <a:srgbClr val="132A39"/>
                </a:solidFill>
                <a:latin typeface="Arial"/>
                <a:ea typeface="Arial"/>
                <a:cs typeface="Arial"/>
              </a:defRPr>
            </a:pPr>
            <a:r>
              <a:rPr sz="3675" b="1">
                <a:solidFill>
                  <a:srgbClr val="132A39"/>
                </a:solidFill>
                <a:latin typeface="Arial"/>
                <a:ea typeface="Arial"/>
                <a:cs typeface="Arial"/>
              </a:rPr>
              <a:t>20 × 19 − 19 self-pairs = 361</a:t>
            </a:r>
          </a:p>
        </p:txBody>
      </p:sp>
      <p:sp>
        <p:nvSpPr>
          <p:cNvPr id="6" name="">
            <a:extLst xmlns:a="http://schemas.openxmlformats.org/drawingml/2006/main">
              <a:ext uri="{FF2B5EF4-FFF2-40B4-BE49-F238E27FC236}">
                <a16:creationId xmlns:a16="http://schemas.microsoft.com/office/drawing/2014/main" id="{700822C6-8393-44D1-A4D5-BFE1A787868A}"/>
              </a:ext>
            </a:extLst>
          </p:cNvPr>
          <p:cNvSpPr>
            <a:spLocks xmlns:a="http://schemas.openxmlformats.org/drawingml/2006/main" noGrp="1"/>
          </p:cNvSpPr>
          <p:nvPr/>
        </p:nvSpPr>
        <p:spPr>
          <a:xfrm xmlns:a="http://schemas.openxmlformats.org/drawingml/2006/main">
            <a:off x="685800" y="535305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566774"/>
                </a:solidFill>
                <a:latin typeface="Arial"/>
                <a:ea typeface="Arial"/>
                <a:cs typeface="Arial"/>
              </a:defRPr>
            </a:pPr>
            <a:r>
              <a:rPr sz="2025" b="0">
                <a:solidFill>
                  <a:srgbClr val="566774"/>
                </a:solidFill>
                <a:latin typeface="Arial"/>
                <a:ea typeface="Arial"/>
                <a:cs typeface="Arial"/>
              </a:rPr>
              <a:t>Team 10 submitted no attack. Team 21 withdrew.</a:t>
            </a:r>
          </a:p>
          <a:p xmlns:a="http://schemas.openxmlformats.org/drawingml/2006/main">
            <a:pPr>
              <a:defRPr sz="2025" b="0">
                <a:solidFill>
                  <a:srgbClr val="566774"/>
                </a:solidFill>
                <a:latin typeface="Arial"/>
                <a:ea typeface="Arial"/>
                <a:cs typeface="Arial"/>
              </a:defRPr>
            </a:pPr>
            <a:r>
              <a:rPr sz="2025" b="0">
                <a:solidFill>
                  <a:srgbClr val="566774"/>
                </a:solidFill>
                <a:latin typeface="Arial"/>
                <a:ea typeface="Arial"/>
                <a:cs typeface="Arial"/>
              </a:rPr>
              <a:t>The pair observations are not independent; uncertainty is clustered by both teams.</a:t>
            </a:r>
          </a:p>
        </p:txBody>
      </p:sp>
    </p:spTree>
    <p:extLst>
      <p:ext uri="{BB962C8B-B14F-4D97-AF65-F5344CB8AC3E}">
        <p14:creationId xmlns:p14="http://schemas.microsoft.com/office/powerpoint/2010/main" val="2105451576"/>
      </p:ext>
    </p:extLst>
  </p:cSld>
</p:sld>
</file>

<file path=ppt/slides/slide15.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3583041-A0CB-4064-92F1-2B5D22E71FA3}"/>
              </a:ext>
            </a:extLst>
          </p:cNvPr>
          <p:cNvSpPr>
            <a:spLocks xmlns:a="http://schemas.openxmlformats.org/drawingml/2006/main" noGrp="1"/>
          </p:cNvSpPr>
          <p:nvPr/>
        </p:nvSpPr>
        <p:spPr>
          <a:xfrm xmlns:a="http://schemas.openxmlformats.org/drawingml/2006/main">
            <a:off x="685800" y="457200"/>
            <a:ext cx="108204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50" b="1">
                <a:solidFill>
                  <a:srgbClr val="132A39"/>
                </a:solidFill>
                <a:latin typeface="Arial"/>
                <a:ea typeface="Arial"/>
                <a:cs typeface="Arial"/>
              </a:defRPr>
            </a:pPr>
            <a:r>
              <a:rPr sz="3150" b="1">
                <a:solidFill>
                  <a:srgbClr val="132A39"/>
                </a:solidFill>
                <a:latin typeface="Arial"/>
                <a:ea typeface="Arial"/>
                <a:cs typeface="Arial"/>
              </a:rPr>
              <a:t>Q&amp;A: the Netflix evidence and its scope</a:t>
            </a:r>
          </a:p>
        </p:txBody>
      </p:sp>
      <p:sp>
        <p:nvSpPr>
          <p:cNvPr id="2" name="">
            <a:extLst xmlns:a="http://schemas.openxmlformats.org/drawingml/2006/main">
              <a:ext uri="{FF2B5EF4-FFF2-40B4-BE49-F238E27FC236}">
                <a16:creationId xmlns:a16="http://schemas.microsoft.com/office/drawing/2014/main" id="{BFE77D1D-1D86-4BB3-90A0-DFBA39CDEED3}"/>
              </a:ext>
            </a:extLst>
          </p:cNvPr>
          <p:cNvSpPr>
            <a:spLocks xmlns:a="http://schemas.openxmlformats.org/drawingml/2006/main" noGrp="1"/>
          </p:cNvSpPr>
          <p:nvPr/>
        </p:nvSpPr>
        <p:spPr>
          <a:xfrm xmlns:a="http://schemas.openxmlformats.org/drawingml/2006/main">
            <a:off x="11087100" y="635317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566774"/>
                </a:solidFill>
                <a:latin typeface="Arial"/>
                <a:ea typeface="Arial"/>
                <a:cs typeface="Arial"/>
              </a:defRPr>
            </a:pPr>
            <a:r>
              <a:rPr sz="1200" b="0">
                <a:solidFill>
                  <a:srgbClr val="566774"/>
                </a:solidFill>
                <a:latin typeface="Arial"/>
                <a:ea typeface="Arial"/>
                <a:cs typeface="Arial"/>
              </a:rPr>
              <a:t>15</a:t>
            </a:r>
          </a:p>
        </p:txBody>
      </p:sp>
      <p:sp>
        <p:nvSpPr>
          <p:cNvPr id="3" name="">
            <a:extLst xmlns:a="http://schemas.openxmlformats.org/drawingml/2006/main">
              <a:ext uri="{FF2B5EF4-FFF2-40B4-BE49-F238E27FC236}">
                <a16:creationId xmlns:a16="http://schemas.microsoft.com/office/drawing/2014/main" id="{E1DA1D0E-42CC-4282-9F57-FF4C1D3D70B8}"/>
              </a:ext>
            </a:extLst>
          </p:cNvPr>
          <p:cNvSpPr>
            <a:spLocks xmlns:a="http://schemas.openxmlformats.org/drawingml/2006/main" noGrp="1"/>
          </p:cNvSpPr>
          <p:nvPr/>
        </p:nvSpPr>
        <p:spPr>
          <a:xfrm xmlns:a="http://schemas.openxmlformats.org/drawingml/2006/main">
            <a:off x="685800" y="1685925"/>
            <a:ext cx="10820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625" b="1">
                <a:solidFill>
                  <a:srgbClr val="132A39"/>
                </a:solidFill>
                <a:latin typeface="Arial"/>
                <a:ea typeface="Arial"/>
                <a:cs typeface="Arial"/>
              </a:defRPr>
            </a:pPr>
            <a:r>
              <a:rPr sz="2625" b="1">
                <a:solidFill>
                  <a:srgbClr val="132A39"/>
                </a:solidFill>
                <a:latin typeface="Arial"/>
                <a:ea typeface="Arial"/>
                <a:cs typeface="Arial"/>
              </a:rPr>
              <a:t>Narayanan &amp; Shmatikov</a:t>
            </a:r>
          </a:p>
        </p:txBody>
      </p:sp>
      <p:sp>
        <p:nvSpPr>
          <p:cNvPr id="4" name="">
            <a:extLst xmlns:a="http://schemas.openxmlformats.org/drawingml/2006/main">
              <a:ext uri="{FF2B5EF4-FFF2-40B4-BE49-F238E27FC236}">
                <a16:creationId xmlns:a16="http://schemas.microsoft.com/office/drawing/2014/main" id="{DA739882-7B83-42DC-962F-A7BAEFD1968E}"/>
              </a:ext>
            </a:extLst>
          </p:cNvPr>
          <p:cNvSpPr>
            <a:spLocks xmlns:a="http://schemas.openxmlformats.org/drawingml/2006/main" noGrp="1"/>
          </p:cNvSpPr>
          <p:nvPr/>
        </p:nvSpPr>
        <p:spPr>
          <a:xfrm xmlns:a="http://schemas.openxmlformats.org/drawingml/2006/main">
            <a:off x="685800" y="2409825"/>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32A39"/>
                </a:solidFill>
                <a:latin typeface="Arial"/>
                <a:ea typeface="Arial"/>
                <a:cs typeface="Arial"/>
              </a:defRPr>
            </a:pPr>
            <a:r>
              <a:rPr sz="2100" b="0">
                <a:solidFill>
                  <a:srgbClr val="132A39"/>
                </a:solidFill>
                <a:latin typeface="Arial"/>
                <a:ea typeface="Arial"/>
                <a:cs typeface="Arial"/>
              </a:rPr>
              <a:t>Public auxiliary information enabled identification of some Netflix records.</a:t>
            </a:r>
          </a:p>
          <a:p xmlns:a="http://schemas.openxmlformats.org/drawingml/2006/main">
            <a:pPr>
              <a:defRPr sz="2100" b="0">
                <a:solidFill>
                  <a:srgbClr val="132A39"/>
                </a:solidFill>
                <a:latin typeface="Arial"/>
                <a:ea typeface="Arial"/>
                <a:cs typeface="Arial"/>
              </a:defRPr>
            </a:pPr>
            <a:r>
              <a:rPr sz="2100" b="0">
                <a:solidFill>
                  <a:srgbClr val="132A39"/>
                </a:solidFill>
                <a:latin typeface="Arial"/>
                <a:ea typeface="Arial"/>
                <a:cs typeface="Arial"/>
              </a:rPr>
              <a:t>How To Break Anonymity of the Netflix Prize Dataset (2006 / 2007)</a:t>
            </a:r>
          </a:p>
        </p:txBody>
      </p:sp>
      <p:sp>
        <p:nvSpPr>
          <p:cNvPr id="5" name="">
            <a:extLst xmlns:a="http://schemas.openxmlformats.org/drawingml/2006/main">
              <a:ext uri="{FF2B5EF4-FFF2-40B4-BE49-F238E27FC236}">
                <a16:creationId xmlns:a16="http://schemas.microsoft.com/office/drawing/2014/main" id="{192BAAEC-CBAD-470B-A268-2C7814D04E1A}"/>
              </a:ext>
            </a:extLst>
          </p:cNvPr>
          <p:cNvSpPr>
            <a:spLocks xmlns:a="http://schemas.openxmlformats.org/drawingml/2006/main" noGrp="1"/>
          </p:cNvSpPr>
          <p:nvPr/>
        </p:nvSpPr>
        <p:spPr>
          <a:xfrm xmlns:a="http://schemas.openxmlformats.org/drawingml/2006/main">
            <a:off x="685800" y="3733800"/>
            <a:ext cx="10820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625" b="1">
                <a:solidFill>
                  <a:srgbClr val="132A39"/>
                </a:solidFill>
                <a:latin typeface="Arial"/>
                <a:ea typeface="Arial"/>
                <a:cs typeface="Arial"/>
              </a:defRPr>
            </a:pPr>
            <a:r>
              <a:rPr sz="2625" b="1">
                <a:solidFill>
                  <a:srgbClr val="132A39"/>
                </a:solidFill>
                <a:latin typeface="Arial"/>
                <a:ea typeface="Arial"/>
                <a:cs typeface="Arial"/>
              </a:rPr>
              <a:t>FTC closing letter · 12 March 2010</a:t>
            </a:r>
          </a:p>
        </p:txBody>
      </p:sp>
      <p:sp>
        <p:nvSpPr>
          <p:cNvPr id="6" name="">
            <a:extLst xmlns:a="http://schemas.openxmlformats.org/drawingml/2006/main">
              <a:ext uri="{FF2B5EF4-FFF2-40B4-BE49-F238E27FC236}">
                <a16:creationId xmlns:a16="http://schemas.microsoft.com/office/drawing/2014/main" id="{F6A60C81-4EBB-4674-85C4-B21F5C65A00F}"/>
              </a:ext>
            </a:extLst>
          </p:cNvPr>
          <p:cNvSpPr>
            <a:spLocks xmlns:a="http://schemas.openxmlformats.org/drawingml/2006/main" noGrp="1"/>
          </p:cNvSpPr>
          <p:nvPr/>
        </p:nvSpPr>
        <p:spPr>
          <a:xfrm xmlns:a="http://schemas.openxmlformats.org/drawingml/2006/main">
            <a:off x="685800" y="4448175"/>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32A39"/>
                </a:solidFill>
                <a:latin typeface="Arial"/>
                <a:ea typeface="Arial"/>
                <a:cs typeface="Arial"/>
              </a:defRPr>
            </a:pPr>
            <a:r>
              <a:rPr sz="2100" b="0">
                <a:solidFill>
                  <a:srgbClr val="132A39"/>
                </a:solidFill>
                <a:latin typeface="Arial"/>
                <a:ea typeface="Arial"/>
                <a:cs typeface="Arial"/>
              </a:rPr>
              <a:t>The FTC raised concerns about the planned richer dataset.</a:t>
            </a:r>
          </a:p>
          <a:p xmlns:a="http://schemas.openxmlformats.org/drawingml/2006/main">
            <a:pPr>
              <a:defRPr sz="2100" b="0">
                <a:solidFill>
                  <a:srgbClr val="132A39"/>
                </a:solidFill>
                <a:latin typeface="Arial"/>
                <a:ea typeface="Arial"/>
                <a:cs typeface="Arial"/>
              </a:defRPr>
            </a:pPr>
            <a:r>
              <a:rPr sz="2100" b="0">
                <a:solidFill>
                  <a:srgbClr val="132A39"/>
                </a:solidFill>
                <a:latin typeface="Arial"/>
                <a:ea typeface="Arial"/>
                <a:cs typeface="Arial"/>
              </a:rPr>
              <a:t>After discussions, Netflix notified the FTC that Prize 2 would be suspended.</a:t>
            </a:r>
          </a:p>
        </p:txBody>
      </p:sp>
      <p:sp>
        <p:nvSpPr>
          <p:cNvPr id="7" name="">
            <a:extLst xmlns:a="http://schemas.openxmlformats.org/drawingml/2006/main">
              <a:ext uri="{FF2B5EF4-FFF2-40B4-BE49-F238E27FC236}">
                <a16:creationId xmlns:a16="http://schemas.microsoft.com/office/drawing/2014/main" id="{EFBA3167-D754-43EA-8559-456F5685B3DD}"/>
              </a:ext>
            </a:extLst>
          </p:cNvPr>
          <p:cNvSpPr>
            <a:spLocks xmlns:a="http://schemas.openxmlformats.org/drawingml/2006/main" noGrp="1"/>
          </p:cNvSpPr>
          <p:nvPr/>
        </p:nvSpPr>
        <p:spPr>
          <a:xfrm xmlns:a="http://schemas.openxmlformats.org/drawingml/2006/main">
            <a:off x="685800" y="5943600"/>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236FAA"/>
                </a:solidFill>
                <a:latin typeface="Arial"/>
                <a:ea typeface="Arial"/>
                <a:cs typeface="Arial"/>
              </a:defRPr>
            </a:pPr>
            <a:r>
              <a:rPr sz="1875" b="1">
                <a:solidFill>
                  <a:srgbClr val="236FAA"/>
                </a:solidFill>
                <a:latin typeface="Arial"/>
                <a:ea typeface="Arial"/>
                <a:cs typeface="Arial"/>
              </a:rPr>
              <a:t>A data-disclosure case; it does not establish why PWS teams withheld source code.</a:t>
            </a:r>
          </a:p>
        </p:txBody>
      </p:sp>
    </p:spTree>
    <p:extLst>
      <p:ext uri="{BB962C8B-B14F-4D97-AF65-F5344CB8AC3E}">
        <p14:creationId xmlns:p14="http://schemas.microsoft.com/office/powerpoint/2010/main" val="164577349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2026-09-25T09:17:26.3080000Z</dcterms:created>
  <dcterms:modified xsi:type="dcterms:W3CDTF">2026-09-25T09:17:26.3080000Z</dcterms:modified>
</coreProperties>
</file>