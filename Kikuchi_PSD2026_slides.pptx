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 25 sec]
Good afternoon. I am Hinata Kikuchi from the Institute of Statistical Mathematics. This is joint work with Hajime Ono and Kazuhiro Minami.
In ten minutes I want to convince you of one thing: you can learn something from a competition even when you only ever see what type of method each team used.
---
(JP) 25秒。名乗り＋一文のフック。原稿を読まず聴衆を見る。ここで速度を決める。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[0:25-1:25 | 60 sec]
Red-teaming is now the accepted way to check whether anonymization really protects people, and competitions are where that happens in public. But notice what a competition actually leaves behind.
In PWS Cup 2025, every team presented its approach at the final showcase. So the family of method is public - you know a team used a copula, or added noise, or matched records by distance. What is not public is the detail: the parameters, the implementation, where they stopped tuning. Two of the twenty-four teams released code.
And that is not a defect peculiar to this contest. It is the normal situation. A breach report, a news story, a vendor statement - they tell you what kind of anonymization was in place and what kind of attack was run. The detail almost never appears.
So the question is: how far can type-level descriptions alone take us?
---
(JP) 60秒。ここが talk 全体の入口。「コードが無い」ではなく「詳細が無く類型だけがある」という状況を、PSD 参加者自身が日常的に直面する問題として置く。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[1:25-2:35 | 70 sec]
PWS Cup is a Japanese anonymization contest, run every year since 2015, and every team plays both roles.
Follow the letters, because I will use them for the rest of the talk. The organizer generates a population A - a hundred thousand Synthea health records. From A it draws a sample B of ten thousand rows and gives it to one team. B is never published. The team turns B into anonymized data C, and trains an XGBoost stroke-risk model D on it. C and D are what it submits.
Then everyone attacks everyone. Each team receives the A, the C and the D of every other team, and has to say which rows of A were in that team's hidden B. That is a membership inference attack.
Utility is scored from C and D, out of a hundred. Your anonymization score is what your best attacker could not do to you, minus a penalty if the same record was found by many attackers.
---
(JP) 70秒。図の A→B→C,D を指でなぞる。A⊃B の包含関係が伝われば残りは速い。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[2:35-3:25 | 50 sec]
So we went and recovered it. We attended the final showcase and documented, team by team, how they anonymized, how they trained their model, and how they attacked - from the posters, the spotlight talks, and conversations in the room.
That gave us usable summaries for twenty of the twenty-four teams. We encoded each approach as categorical features, and kept a feature only if at least four teams used it, so nothing we report rests on one or two idiosyncratic teams.
To be clear about the resolution: what we recovered is the family of each method. Not its parameters, and not its code.
---
(JP) 50秒。「精度＝類型レベル」であることを事実として言い切る。謝罪口調にしない。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[3:25-4:15 | 50 sec]
These are the features that survived, with the split across their two values, and the arrow tells you which direction I will report: every number later is for the right-hand category.
Five on the defender side. The one that matters most is Base: did the team start from the sample B it was given, or build its dataset from somewhere else. Then synthesis, explicit noise, an optimization loop, and row swapping afterwards. Three on the attacker side: did the attack also use the released model D, did the attacker train its own membership model, did it go beyond plain Manhattan distance.
The two boxes at the bottom make it concrete. Team 18 won overall: it did not use B at all - it inferred Synthea's parameters with a generative model, built its own pseudo-population, and picked the best ten thousand rows by simulated annealing. Team 8 was the strongest attacker: a Gaussian LiRA combined with a distance attack on covariance-augmented data.
---
(JP) 50秒。表は読み上げない。矢印の意味を一度だけ言い、Ex の2チームを具体例として語る。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[4:15-5:15 | 60 sec]
Three questions came out of the showcase. H1 is the oldest argument in this room: does building a fresh dataset actually beat perturbing the real one? Then two separate attack questions, and they are genuinely different. H2-1: does a design become vulnerable when the attacker also exploits the released XGBoost model - external information the defender handed over? H2-2: does it become vulnerable when the attacker instead trains its own membership model on the anonymized data, LiRA or RMIA style?
Twenty teams, so the method has to suit that. We lead with effect sizes. Then a regression model search - and the reason is specific: with features this correlated, a large univariate effect can simply be another feature showing through, so the AICc search asks whether it survives when the others are in the model. And for the attack questions we keep the pairing: a dyadic model over all 361 ordered pairs, with errors clustered by attacker and by victim.
---
(JP) 60秒。H2 を 2 つに割ったことを明確に。回帰探索の目的＝交絡・相関の確認、と一言で言う。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[5:15-6:35 | 80 sec]
Here is H1. Orange is the utility score, blue is the anonymization score; the dashed lines are the conventional threshold for a large effect.
The strongest single effect is Base. Teams that did not start from the sample they were given, but rebuilt a dataset from elsewhere, scored higher on every utility component - g of one point five five. Synthesis is next, and this is the interesting one: large for utility at plus one point two six, and large for anonymization too at plus one point zero one. Adding explicit noise went the other way on both. Row swapping did nothing for utility but helped anonymization.
The AICc search agrees, and it adds one thing the effect sizes hide: swapping helps most on top of a non-synthetic design - about thirty-two points of anonymization score there, and essentially nothing for designs that were already synthetic.
So the highest scores in this contest did not come from carefully perturbing the real sample. They came from rebuilding a fresh one that reproduced the target statistics. And note: synthesis moved both scores in the same direction.
---
(JP) 80秒。最初の10秒で色の対応(橙=有用性/青=匿名性)を言う。Groundhog Day との緊張関係はここでは触れず、質疑で出させる (backup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[6:35-8:05 | 90 sec]
Now the two attack questions. The chart is H2-1. Every bar is an incidence rate ratio: the expected number of one victim's records that one attacker found, with one meaning no design and no model use. Blue is an attacker working from the anonymized data alone, red is an attacker that also used the released XGBoost model.
Read the top row first. Against a victim that used none of these designs, the attacker who reached for the released model did worse, not better - fourteen to eighteen percent fewer hits. That surprised us.
Now the four rows below. Each design on its own cuts exposure to roughly 0.63 to 0.73, all significant. And look at the red bars there: 0.72 down to 0.69, 0.63 down to 0.61. Against a victim that used the design, using the model bought the attacker essentially nothing. So the pairing does matter, but only in that one direction: the model channel is worth something to the attacker only where the anonymization was weak to begin with.
H2-2 is quicker, and it is a null result. Attackers who trained their own membership model on the anonymized data - LiRA, RMIA, classifiers - show an IRR of about 1.04, p between 0.31 and 0.59. The interactions were not estimable. We found no evidence that any design was specifically vulnerable to them.
---
(JP) 90秒。上段(防御なし)→下段(防御あり)の順で読ませる。赤棒が下段でほぼ動かない点が要。H2-2 は図にせず、右下の黒カードを指して10秒で言い切る。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[8:05-8:50 | 45 sec]
Let me be straight about the scope. Twenty teams, observed and not assigned - so associations, not causal effects. The coding is at the level of the method family, not its parameters. And it is one contest, one Synthea population, one scoring rule.
But within PWS Cup 2025, these are the patterns the data show. And the part I would like you to take away is this: type-level descriptions, with almost no code anywhere, were still enough to produce specific, quantified hypotheses. The same coding applies to any contest - or any setting - that reports approaches at that level of detail. You do not need the code to start asking the right questions.
---
(JP) 45秒。制約は事実として速く。右カードが本題 - PWS Cup を知らない聴衆に「あなたの状況でも使える」と渡す。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[8:50-9:40 | 50 sec]
To close. Three findings. H1: generation- and reconstruction-based designs scored higher on both. H2-1: exploiting the released model cost the attacker, and bought nothing once the victim used one of these designs. H2-2: attacker-trained membership models showed no effect against any design.
And one ask. Requiring source code is not always possible - industrial and privacy constraints are real, and this contest shows what that looks like: two teams out of twenty-four. But a short questionnaire, answered by every team, costs almost nothing, and might already yield insight of the kind you see on the left. Then the next analysis can start from what teams reported, instead of what we had to reconstruct.
---
(JP) 50秒。右カードが会場(組織委員・NSI関係者)への唯一の要求。控えめな言い方のまま、最後の一行で締める。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[9:40-10:00 | 20 sec]
Everything is on GitHub - the reconstructed feature table, the codebook and the analysis code - so every coding decision is inspectable, and you can disagree with any of them. Thank you.
---
(JP) 20秒。ここで止める。質疑5分は発表の半分 - backup を使い切るつもりで。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 do not show unless a question needs it.
(JP) B1 結果表 / B2 特徴量ツリー / B3 AICc回帰 / B4 チーム別コーディング / B5 全dyadicモデル / B6 Groundhog Day 対比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18 won overall; team 8 was the strongest attacker (121.13); teams 14, 17, 22 and 24 were the vulnerable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exactly did you code the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'did the multivariate analysis agree' and 'why did optimization drop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'which team did what'. Same table is in the paper's appendix and in the public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anyone who wants the coefficient decomposition behind the H2-1 chart, or the H2-2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Groundhog Day question is the one this audience is most likely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p:bgPr>
    </p:bg>
    <p:spTree>
      <p:nvGrpSpPr>
        <p:cNvPr id="1" name=""/>
        <p:cNvGrpSpPr/>
        <p:nvPr/>
      </p:nvGrpSpPr>
      <p:grpSpPr>
        <a:xfrm>
          <a:off x="0" y="0"/>
          <a:ext cx="0" cy="0"/>
          <a:chOff x="0" y="0"/>
          <a:chExt cx="0" cy="0"/>
        </a:xfrm>
      </p:grpSpPr>
      <p:sp>
        <p:nvSpPr>
          <p:cNvPr id="2" name="Shape 0"/>
          <p:cNvSpPr/>
          <p:nvPr/>
        </p:nvSpPr>
        <p:spPr>
          <a:xfrm>
            <a:off x="548640" y="932688"/>
            <a:ext cx="182880" cy="182880"/>
          </a:xfrm>
          <a:prstGeom prst="ellipse">
            <a:avLst/>
          </a:prstGeom>
          <a:solidFill>
            <a:srgbClr val="9E1B32"/>
          </a:solidFill>
          <a:ln w="12700">
            <a:solidFill>
              <a:srgbClr val="9E1B32"/>
            </a:solidFill>
            <a:prstDash val="solid"/>
          </a:ln>
        </p:spPr>
      </p:sp>
      <p:sp>
        <p:nvSpPr>
          <p:cNvPr id="3" name="Text 1"/>
          <p:cNvSpPr txBox="1"/>
          <p:nvPr/>
        </p:nvSpPr>
        <p:spPr>
          <a:xfrm>
            <a:off x="548640" y="932688"/>
            <a:ext cx="182880" cy="182880"/>
          </a:xfrm>
          <a:prstGeom prst="rect">
            <a:avLst/>
          </a:prstGeom>
          <a:noFill/>
          <a:ln/>
        </p:spPr>
        <p:txBody>
          <a:bodyPr wrap="square" lIns="0" tIns="0" rIns="0" bIns="0" rtlCol="0" anchor="ctr"/>
          <a:lstStyle/>
          <a:p>
            <a:pPr algn="ctr" indent="0" marL="0">
              <a:buNone/>
            </a:pPr>
            <a:endParaRPr lang="en-US" sz="1500" dirty="0"/>
          </a:p>
        </p:txBody>
      </p:sp>
      <p:sp>
        <p:nvSpPr>
          <p:cNvPr id="4" name="Text 2"/>
          <p:cNvSpPr txBox="1"/>
          <p:nvPr/>
        </p:nvSpPr>
        <p:spPr>
          <a:xfrm>
            <a:off x="868680" y="868680"/>
            <a:ext cx="10058400" cy="310896"/>
          </a:xfrm>
          <a:prstGeom prst="rect">
            <a:avLst/>
          </a:prstGeom>
          <a:noFill/>
          <a:ln/>
        </p:spPr>
        <p:txBody>
          <a:bodyPr wrap="square" lIns="0" tIns="0" rIns="0" bIns="0" rtlCol="0" anchor="ctr"/>
          <a:lstStyle/>
          <a:p>
            <a:pPr indent="0" marL="0">
              <a:buNone/>
            </a:pPr>
            <a:r>
              <a:rPr lang="en-US" sz="1200" b="1" spc="200" kern="0" dirty="0">
                <a:solidFill>
                  <a:srgbClr val="D8798A"/>
                </a:solidFill>
                <a:latin typeface="Calibri" pitchFamily="34" charset="0"/>
                <a:ea typeface="Calibri" pitchFamily="34" charset="-122"/>
                <a:cs typeface="Calibri" pitchFamily="34" charset="-120"/>
              </a:rPr>
              <a:t>PSD 2026  ·  CADIZ, SPAIN  ·  SESSION: SYNTHETIC DATA I</a:t>
            </a:r>
            <a:endParaRPr lang="en-US" sz="1200" dirty="0"/>
          </a:p>
        </p:txBody>
      </p:sp>
      <p:sp>
        <p:nvSpPr>
          <p:cNvPr id="5" name="Text 3"/>
          <p:cNvSpPr txBox="1"/>
          <p:nvPr/>
        </p:nvSpPr>
        <p:spPr>
          <a:xfrm>
            <a:off x="548640" y="1417320"/>
            <a:ext cx="11091672"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Patterns Without Source</a:t>
            </a:r>
            <a:endParaRPr lang="en-US" sz="4600" dirty="0"/>
          </a:p>
        </p:txBody>
      </p:sp>
      <p:sp>
        <p:nvSpPr>
          <p:cNvPr id="6" name="Text 4"/>
          <p:cNvSpPr txBox="1"/>
          <p:nvPr/>
        </p:nvSpPr>
        <p:spPr>
          <a:xfrm>
            <a:off x="548640" y="2304288"/>
            <a:ext cx="11091672" cy="548640"/>
          </a:xfrm>
          <a:prstGeom prst="rect">
            <a:avLst/>
          </a:prstGeom>
          <a:noFill/>
          <a:ln/>
        </p:spPr>
        <p:txBody>
          <a:bodyPr wrap="square" lIns="0" tIns="0" rIns="0" bIns="0" rtlCol="0" anchor="ctr"/>
          <a:lstStyle/>
          <a:p>
            <a:pPr indent="0" marL="0">
              <a:buNone/>
            </a:pPr>
            <a:r>
              <a:rPr lang="en-US" sz="2500" i="1" dirty="0">
                <a:solidFill>
                  <a:srgbClr val="E1E7EA"/>
                </a:solidFill>
                <a:latin typeface="Cambria" pitchFamily="34" charset="0"/>
                <a:ea typeface="Cambria" pitchFamily="34" charset="-122"/>
                <a:cs typeface="Cambria" pitchFamily="34" charset="-120"/>
              </a:rPr>
              <a:t>A Meta-Analysis of PWS Cup 2025</a:t>
            </a:r>
            <a:endParaRPr lang="en-US" sz="2500" dirty="0"/>
          </a:p>
        </p:txBody>
      </p:sp>
      <p:sp>
        <p:nvSpPr>
          <p:cNvPr id="7" name="Text 5"/>
          <p:cNvSpPr txBox="1"/>
          <p:nvPr/>
        </p:nvSpPr>
        <p:spPr>
          <a:xfrm>
            <a:off x="548640" y="3429000"/>
            <a:ext cx="11091672" cy="38404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Hinata Kikuchi  ·  Hajime Ono  ·  Kazuhiro Minami</a:t>
            </a:r>
            <a:endParaRPr lang="en-US" sz="1800" dirty="0"/>
          </a:p>
        </p:txBody>
      </p:sp>
      <p:sp>
        <p:nvSpPr>
          <p:cNvPr id="8" name="Text 6"/>
          <p:cNvSpPr txBox="1"/>
          <p:nvPr/>
        </p:nvSpPr>
        <p:spPr>
          <a:xfrm>
            <a:off x="548640" y="3822192"/>
            <a:ext cx="11091672" cy="329184"/>
          </a:xfrm>
          <a:prstGeom prst="rect">
            <a:avLst/>
          </a:prstGeom>
          <a:noFill/>
          <a:ln/>
        </p:spPr>
        <p:txBody>
          <a:bodyPr wrap="square" lIns="0" tIns="0" rIns="0" bIns="0" rtlCol="0" anchor="ctr"/>
          <a:lstStyle/>
          <a:p>
            <a:pPr indent="0" marL="0">
              <a:buNone/>
            </a:pPr>
            <a:r>
              <a:rPr lang="en-US" sz="1100" dirty="0">
                <a:solidFill>
                  <a:srgbClr val="93A5AD"/>
                </a:solidFill>
                <a:latin typeface="Calibri" pitchFamily="34" charset="0"/>
                <a:ea typeface="Calibri" pitchFamily="34" charset="-122"/>
                <a:cs typeface="Calibri" pitchFamily="34" charset="-120"/>
              </a:rPr>
              <a:t>Research Organization of Information and Systems  ·  Chuo University  ·  The Institute of Statistical Mathematics  ·  Kanazawa University</a:t>
            </a:r>
            <a:endParaRPr lang="en-US" sz="1100" dirty="0"/>
          </a:p>
        </p:txBody>
      </p:sp>
      <p:sp>
        <p:nvSpPr>
          <p:cNvPr id="9" name="Shape 7"/>
          <p:cNvSpPr/>
          <p:nvPr/>
        </p:nvSpPr>
        <p:spPr>
          <a:xfrm>
            <a:off x="548640" y="4617720"/>
            <a:ext cx="6675120" cy="749808"/>
          </a:xfrm>
          <a:prstGeom prst="roundRect">
            <a:avLst>
              <a:gd name="adj" fmla="val 8537"/>
            </a:avLst>
          </a:prstGeom>
          <a:solidFill>
            <a:srgbClr val="24363F"/>
          </a:solidFill>
          <a:ln w="12700">
            <a:solidFill>
              <a:srgbClr val="24363F"/>
            </a:solidFill>
            <a:prstDash val="solid"/>
          </a:ln>
        </p:spPr>
      </p:sp>
      <p:sp>
        <p:nvSpPr>
          <p:cNvPr id="10" name="Text 8"/>
          <p:cNvSpPr txBox="1"/>
          <p:nvPr/>
        </p:nvSpPr>
        <p:spPr>
          <a:xfrm>
            <a:off x="822960" y="4617720"/>
            <a:ext cx="6217920" cy="749808"/>
          </a:xfrm>
          <a:prstGeom prst="rect">
            <a:avLst/>
          </a:prstGeom>
          <a:noFill/>
          <a:ln/>
        </p:spPr>
        <p:txBody>
          <a:bodyPr wrap="square" lIns="0" tIns="0" rIns="0" bIns="0" rtlCol="0" anchor="ctr"/>
          <a:lstStyle/>
          <a:p>
            <a:pPr indent="0" marL="0">
              <a:buNone/>
            </a:pPr>
            <a:r>
              <a:rPr lang="en-US" sz="1300" dirty="0">
                <a:solidFill>
                  <a:srgbClr val="E1E7EA"/>
                </a:solidFill>
                <a:latin typeface="Calibri" pitchFamily="34" charset="0"/>
                <a:ea typeface="Calibri" pitchFamily="34" charset="-122"/>
                <a:cs typeface="Calibri" pitchFamily="34" charset="-120"/>
              </a:rPr>
              <a:t>30 September 2026, 16:15  ·  Short presentation  ·  Paper in USB proceedings</a:t>
            </a:r>
            <a:endParaRPr lang="en-US" sz="1300" dirty="0"/>
          </a:p>
        </p:txBody>
      </p:sp>
      <p:sp>
        <p:nvSpPr>
          <p:cNvPr id="11" name="Text 9"/>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5E7480"/>
                </a:solidFill>
                <a:latin typeface="Calibri" pitchFamily="34" charset="0"/>
                <a:ea typeface="Calibri" pitchFamily="34" charset="-122"/>
                <a:cs typeface="Calibri" pitchFamily="34" charset="-120"/>
              </a:rPr>
              <a:t>Patterns Without Source  ·  PSD 2026, Cadiz</a:t>
            </a:r>
            <a:endParaRPr lang="en-US" sz="900" dirty="0"/>
          </a:p>
        </p:txBody>
      </p:sp>
      <p:sp>
        <p:nvSpPr>
          <p:cNvPr id="12" name="Text 10"/>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5E74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We usually learn the type of method, never the detail</a:t>
            </a:r>
            <a:endParaRPr lang="en-US" sz="2700" dirty="0"/>
          </a:p>
        </p:txBody>
      </p:sp>
      <p:sp>
        <p:nvSpPr>
          <p:cNvPr id="3" name="Shape 1"/>
          <p:cNvSpPr/>
          <p:nvPr/>
        </p:nvSpPr>
        <p:spPr>
          <a:xfrm>
            <a:off x="548640" y="1325880"/>
            <a:ext cx="5349240" cy="2606040"/>
          </a:xfrm>
          <a:prstGeom prst="roundRect">
            <a:avLst>
              <a:gd name="adj" fmla="val 2456"/>
            </a:avLst>
          </a:prstGeom>
          <a:solidFill>
            <a:srgbClr val="EEF1F3"/>
          </a:solidFill>
          <a:ln w="12700">
            <a:solidFill>
              <a:srgbClr val="EEF1F3"/>
            </a:solidFill>
            <a:prstDash val="solid"/>
          </a:ln>
        </p:spPr>
      </p:sp>
      <p:sp>
        <p:nvSpPr>
          <p:cNvPr id="4" name="Text 2"/>
          <p:cNvSpPr txBox="1"/>
          <p:nvPr/>
        </p:nvSpPr>
        <p:spPr>
          <a:xfrm>
            <a:off x="868680" y="1481328"/>
            <a:ext cx="475488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In PWS Cup 2025</a:t>
            </a:r>
            <a:endParaRPr lang="en-US" sz="1700" dirty="0"/>
          </a:p>
        </p:txBody>
      </p:sp>
      <p:sp>
        <p:nvSpPr>
          <p:cNvPr id="5" name="Text 3"/>
          <p:cNvSpPr txBox="1"/>
          <p:nvPr/>
        </p:nvSpPr>
        <p:spPr>
          <a:xfrm>
            <a:off x="868680" y="1956816"/>
            <a:ext cx="4754880" cy="18288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16232B"/>
                </a:solidFill>
                <a:latin typeface="Calibri" pitchFamily="34" charset="0"/>
                <a:ea typeface="Calibri" pitchFamily="34" charset="-122"/>
                <a:cs typeface="Calibri" pitchFamily="34" charset="-120"/>
              </a:rPr>
              <a:t>Every team presents its approach at the final showcase, so the family of method is public</a:t>
            </a:r>
            <a:endParaRPr lang="en-US" sz="1300" dirty="0"/>
          </a:p>
          <a:p>
            <a:pPr marL="342900" indent="-342900">
              <a:lnSpc>
                <a:spcPts val="1700"/>
              </a:lnSpc>
              <a:spcAft>
                <a:spcPts val="900"/>
              </a:spcAft>
              <a:buSzPct val="100000"/>
              <a:buChar char="•"/>
            </a:pPr>
            <a:r>
              <a:rPr lang="en-US" sz="1300" dirty="0">
                <a:solidFill>
                  <a:srgbClr val="16232B"/>
                </a:solidFill>
                <a:latin typeface="Calibri" pitchFamily="34" charset="0"/>
                <a:ea typeface="Calibri" pitchFamily="34" charset="-122"/>
                <a:cs typeface="Calibri" pitchFamily="34" charset="-120"/>
              </a:rPr>
              <a:t>Parameters, implementation and stopping rules are not — and only 2 of 24 teams released code</a:t>
            </a:r>
            <a:endParaRPr lang="en-US" sz="1300" dirty="0"/>
          </a:p>
        </p:txBody>
      </p:sp>
      <p:sp>
        <p:nvSpPr>
          <p:cNvPr id="6" name="Shape 4"/>
          <p:cNvSpPr/>
          <p:nvPr/>
        </p:nvSpPr>
        <p:spPr>
          <a:xfrm>
            <a:off x="6291072" y="1325880"/>
            <a:ext cx="5349240" cy="2606040"/>
          </a:xfrm>
          <a:prstGeom prst="roundRect">
            <a:avLst>
              <a:gd name="adj" fmla="val 2456"/>
            </a:avLst>
          </a:prstGeom>
          <a:solidFill>
            <a:srgbClr val="16232B"/>
          </a:solidFill>
          <a:ln w="12700">
            <a:solidFill>
              <a:srgbClr val="16232B"/>
            </a:solidFill>
            <a:prstDash val="solid"/>
          </a:ln>
        </p:spPr>
      </p:sp>
      <p:sp>
        <p:nvSpPr>
          <p:cNvPr id="7" name="Text 5"/>
          <p:cNvSpPr txBox="1"/>
          <p:nvPr/>
        </p:nvSpPr>
        <p:spPr>
          <a:xfrm>
            <a:off x="6611112" y="1481328"/>
            <a:ext cx="475488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And outside the contest</a:t>
            </a:r>
            <a:endParaRPr lang="en-US" sz="1700" dirty="0"/>
          </a:p>
        </p:txBody>
      </p:sp>
      <p:sp>
        <p:nvSpPr>
          <p:cNvPr id="8" name="Text 6"/>
          <p:cNvSpPr txBox="1"/>
          <p:nvPr/>
        </p:nvSpPr>
        <p:spPr>
          <a:xfrm>
            <a:off x="6611112" y="1956816"/>
            <a:ext cx="4754880" cy="18288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E1E7EA"/>
                </a:solidFill>
                <a:latin typeface="Calibri" pitchFamily="34" charset="0"/>
                <a:ea typeface="Calibri" pitchFamily="34" charset="-122"/>
                <a:cs typeface="Calibri" pitchFamily="34" charset="-120"/>
              </a:rPr>
              <a:t>Breach reports, news coverage and vendor statements name the type of anonymization and the type of attack</a:t>
            </a:r>
            <a:endParaRPr lang="en-US" sz="1300" dirty="0"/>
          </a:p>
          <a:p>
            <a:pPr marL="342900" indent="-342900">
              <a:lnSpc>
                <a:spcPts val="1700"/>
              </a:lnSpc>
              <a:spcAft>
                <a:spcPts val="900"/>
              </a:spcAft>
              <a:buSzPct val="100000"/>
              <a:buChar char="•"/>
            </a:pPr>
            <a:r>
              <a:rPr lang="en-US" sz="1300" dirty="0">
                <a:solidFill>
                  <a:srgbClr val="E1E7EA"/>
                </a:solidFill>
                <a:latin typeface="Calibri" pitchFamily="34" charset="0"/>
                <a:ea typeface="Calibri" pitchFamily="34" charset="-122"/>
                <a:cs typeface="Calibri" pitchFamily="34" charset="-120"/>
              </a:rPr>
              <a:t>The detail behind them is almost never published</a:t>
            </a:r>
            <a:endParaRPr lang="en-US" sz="1300" dirty="0"/>
          </a:p>
        </p:txBody>
      </p:sp>
      <p:sp>
        <p:nvSpPr>
          <p:cNvPr id="9" name="Shape 7"/>
          <p:cNvSpPr/>
          <p:nvPr/>
        </p:nvSpPr>
        <p:spPr>
          <a:xfrm>
            <a:off x="548640" y="4617720"/>
            <a:ext cx="402336" cy="402336"/>
          </a:xfrm>
          <a:prstGeom prst="ellipse">
            <a:avLst/>
          </a:prstGeom>
          <a:solidFill>
            <a:srgbClr val="9E1B32"/>
          </a:solidFill>
          <a:ln w="12700">
            <a:solidFill>
              <a:srgbClr val="9E1B32"/>
            </a:solidFill>
            <a:prstDash val="solid"/>
          </a:ln>
        </p:spPr>
      </p:sp>
      <p:sp>
        <p:nvSpPr>
          <p:cNvPr id="10" name="Text 8"/>
          <p:cNvSpPr txBox="1"/>
          <p:nvPr/>
        </p:nvSpPr>
        <p:spPr>
          <a:xfrm>
            <a:off x="548640" y="46177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1" name="Text 9"/>
          <p:cNvSpPr txBox="1"/>
          <p:nvPr/>
        </p:nvSpPr>
        <p:spPr>
          <a:xfrm>
            <a:off x="1097280" y="4507992"/>
            <a:ext cx="10424160" cy="640080"/>
          </a:xfrm>
          <a:prstGeom prst="rect">
            <a:avLst/>
          </a:prstGeom>
          <a:noFill/>
          <a:ln/>
        </p:spPr>
        <p:txBody>
          <a:bodyPr wrap="square" lIns="0" tIns="0" rIns="0" bIns="0" rtlCol="0" anchor="ctr"/>
          <a:lstStyle/>
          <a:p>
            <a:pPr indent="0" marL="0">
              <a:buNone/>
            </a:pPr>
            <a:r>
              <a:rPr lang="en-US" sz="2400" b="1" i="1" dirty="0">
                <a:solidFill>
                  <a:srgbClr val="9E1B32"/>
                </a:solidFill>
                <a:latin typeface="Cambria" pitchFamily="34" charset="0"/>
                <a:ea typeface="Cambria" pitchFamily="34" charset="-122"/>
                <a:cs typeface="Cambria" pitchFamily="34" charset="-120"/>
              </a:rPr>
              <a:t>How far can type-level descriptions alone take us?</a:t>
            </a:r>
            <a:endParaRPr lang="en-US" sz="2400" dirty="0"/>
          </a:p>
        </p:txBody>
      </p:sp>
      <p:sp>
        <p:nvSpPr>
          <p:cNvPr id="12" name="Text 10"/>
          <p:cNvSpPr txBox="1"/>
          <p:nvPr/>
        </p:nvSpPr>
        <p:spPr>
          <a:xfrm>
            <a:off x="1097280" y="5166360"/>
            <a:ext cx="10424160" cy="365760"/>
          </a:xfrm>
          <a:prstGeom prst="rect">
            <a:avLst/>
          </a:prstGeom>
          <a:noFill/>
          <a:ln/>
        </p:spPr>
        <p:txBody>
          <a:bodyPr wrap="square" lIns="0" tIns="0" rIns="0" bIns="0" rtlCol="0" anchor="ctr"/>
          <a:lstStyle/>
          <a:p>
            <a:pPr indent="0" marL="0">
              <a:buNone/>
            </a:pPr>
            <a:r>
              <a:rPr lang="en-US" sz="1300" dirty="0">
                <a:solidFill>
                  <a:srgbClr val="56666E"/>
                </a:solidFill>
                <a:latin typeface="Calibri" pitchFamily="34" charset="0"/>
                <a:ea typeface="Calibri" pitchFamily="34" charset="-122"/>
                <a:cs typeface="Calibri" pitchFamily="34" charset="-120"/>
              </a:rPr>
              <a:t>PWS Cup 2025 gives us 24 teams' outcomes, and a type-level description of how each of them got there.</a:t>
            </a:r>
            <a:endParaRPr lang="en-US" sz="1300" dirty="0"/>
          </a:p>
        </p:txBody>
      </p:sp>
      <p:sp>
        <p:nvSpPr>
          <p:cNvPr id="13" name="Text 11"/>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4" name="Text 12"/>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PWS Cup 2025: every team is both defender and attacker</a:t>
            </a:r>
            <a:endParaRPr lang="en-US" sz="2700" dirty="0"/>
          </a:p>
        </p:txBody>
      </p:sp>
      <p:sp>
        <p:nvSpPr>
          <p:cNvPr id="3" name="Shape 1"/>
          <p:cNvSpPr/>
          <p:nvPr/>
        </p:nvSpPr>
        <p:spPr>
          <a:xfrm>
            <a:off x="548640" y="1261872"/>
            <a:ext cx="365760" cy="365760"/>
          </a:xfrm>
          <a:prstGeom prst="ellipse">
            <a:avLst/>
          </a:prstGeom>
          <a:solidFill>
            <a:srgbClr val="9E1B32"/>
          </a:solidFill>
          <a:ln w="12700">
            <a:solidFill>
              <a:srgbClr val="9E1B32"/>
            </a:solidFill>
            <a:prstDash val="solid"/>
          </a:ln>
        </p:spPr>
      </p:sp>
      <p:sp>
        <p:nvSpPr>
          <p:cNvPr id="4" name="Text 2"/>
          <p:cNvSpPr txBox="1"/>
          <p:nvPr/>
        </p:nvSpPr>
        <p:spPr>
          <a:xfrm>
            <a:off x="548640" y="1261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024128" y="1225296"/>
            <a:ext cx="3657600" cy="438912"/>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Anonymization phase</a:t>
            </a:r>
            <a:endParaRPr lang="en-US" sz="1700" dirty="0"/>
          </a:p>
        </p:txBody>
      </p:sp>
      <p:sp>
        <p:nvSpPr>
          <p:cNvPr id="6" name="Shape 4"/>
          <p:cNvSpPr/>
          <p:nvPr/>
        </p:nvSpPr>
        <p:spPr>
          <a:xfrm>
            <a:off x="548640" y="1828800"/>
            <a:ext cx="2852928" cy="2331720"/>
          </a:xfrm>
          <a:prstGeom prst="roundRect">
            <a:avLst>
              <a:gd name="adj" fmla="val 2745"/>
            </a:avLst>
          </a:prstGeom>
          <a:solidFill>
            <a:srgbClr val="EEF1F3"/>
          </a:solidFill>
          <a:ln w="12700">
            <a:solidFill>
              <a:srgbClr val="EEF1F3"/>
            </a:solidFill>
            <a:prstDash val="solid"/>
          </a:ln>
        </p:spPr>
      </p:sp>
      <p:sp>
        <p:nvSpPr>
          <p:cNvPr id="7" name="Text 5"/>
          <p:cNvSpPr txBox="1"/>
          <p:nvPr/>
        </p:nvSpPr>
        <p:spPr>
          <a:xfrm>
            <a:off x="777240" y="1956816"/>
            <a:ext cx="2423160" cy="310896"/>
          </a:xfrm>
          <a:prstGeom prst="rect">
            <a:avLst/>
          </a:prstGeom>
          <a:noFill/>
          <a:ln/>
        </p:spPr>
        <p:txBody>
          <a:bodyPr wrap="square" lIns="0" tIns="0" rIns="0" bIns="0" rtlCol="0" anchor="ctr"/>
          <a:lstStyle/>
          <a:p>
            <a:pPr indent="0" marL="0">
              <a:buNone/>
            </a:pPr>
            <a:r>
              <a:rPr lang="en-US" sz="1900" b="1" dirty="0">
                <a:solidFill>
                  <a:srgbClr val="16232B"/>
                </a:solidFill>
                <a:latin typeface="Cambria" pitchFamily="34" charset="0"/>
                <a:ea typeface="Cambria" pitchFamily="34" charset="-122"/>
                <a:cs typeface="Cambria" pitchFamily="34" charset="-120"/>
              </a:rPr>
              <a:t>A</a:t>
            </a:r>
            <a:pPr indent="0" marL="0">
              <a:buNone/>
            </a:pPr>
            <a:r>
              <a:rPr lang="en-US" sz="1350" dirty="0">
                <a:solidFill>
                  <a:srgbClr val="16232B"/>
                </a:solidFill>
                <a:latin typeface="Calibri" pitchFamily="34" charset="0"/>
                <a:ea typeface="Calibri" pitchFamily="34" charset="-122"/>
                <a:cs typeface="Calibri" pitchFamily="34" charset="-120"/>
              </a:rPr>
              <a:t>   population</a:t>
            </a:r>
            <a:endParaRPr lang="en-US" sz="1900" dirty="0"/>
          </a:p>
        </p:txBody>
      </p:sp>
      <p:sp>
        <p:nvSpPr>
          <p:cNvPr id="8" name="Text 6"/>
          <p:cNvSpPr txBox="1"/>
          <p:nvPr/>
        </p:nvSpPr>
        <p:spPr>
          <a:xfrm>
            <a:off x="777240" y="2267712"/>
            <a:ext cx="2423160" cy="502920"/>
          </a:xfrm>
          <a:prstGeom prst="rect">
            <a:avLst/>
          </a:prstGeom>
          <a:noFill/>
          <a:ln/>
        </p:spPr>
        <p:txBody>
          <a:bodyPr wrap="square" lIns="0" tIns="0" rIns="0" bIns="0" rtlCol="0" anchor="t"/>
          <a:lstStyle/>
          <a:p>
            <a:pPr indent="0" marL="0">
              <a:lnSpc>
                <a:spcPts val="1300"/>
              </a:lnSpc>
              <a:buNone/>
            </a:pPr>
            <a:r>
              <a:rPr lang="en-US" sz="1100" dirty="0">
                <a:solidFill>
                  <a:srgbClr val="56666E"/>
                </a:solidFill>
                <a:latin typeface="Calibri" pitchFamily="34" charset="0"/>
                <a:ea typeface="Calibri" pitchFamily="34" charset="-122"/>
                <a:cs typeface="Calibri" pitchFamily="34" charset="-120"/>
              </a:rPr>
              <a:t>100,000 rows  ·  Synthea health data  ·  18 variables</a:t>
            </a:r>
            <a:endParaRPr lang="en-US" sz="1100" dirty="0"/>
          </a:p>
        </p:txBody>
      </p:sp>
      <p:sp>
        <p:nvSpPr>
          <p:cNvPr id="9" name="Shape 7"/>
          <p:cNvSpPr/>
          <p:nvPr/>
        </p:nvSpPr>
        <p:spPr>
          <a:xfrm>
            <a:off x="777240" y="2834640"/>
            <a:ext cx="2395728" cy="1097280"/>
          </a:xfrm>
          <a:prstGeom prst="roundRect">
            <a:avLst>
              <a:gd name="adj" fmla="val 5833"/>
            </a:avLst>
          </a:prstGeom>
          <a:solidFill>
            <a:srgbClr val="16232B"/>
          </a:solidFill>
          <a:ln w="12700">
            <a:solidFill>
              <a:srgbClr val="16232B"/>
            </a:solidFill>
            <a:prstDash val="solid"/>
          </a:ln>
        </p:spPr>
      </p:sp>
      <p:sp>
        <p:nvSpPr>
          <p:cNvPr id="10" name="Text 8"/>
          <p:cNvSpPr txBox="1"/>
          <p:nvPr/>
        </p:nvSpPr>
        <p:spPr>
          <a:xfrm>
            <a:off x="960120" y="2962656"/>
            <a:ext cx="2057400" cy="31089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a:t>
            </a:r>
            <a:pPr indent="0" marL="0">
              <a:buNone/>
            </a:pPr>
            <a:r>
              <a:rPr lang="en-US" sz="1350" dirty="0">
                <a:solidFill>
                  <a:srgbClr val="FFFFFF"/>
                </a:solidFill>
                <a:latin typeface="Calibri" pitchFamily="34" charset="0"/>
                <a:ea typeface="Calibri" pitchFamily="34" charset="-122"/>
                <a:cs typeface="Calibri" pitchFamily="34" charset="-120"/>
              </a:rPr>
              <a:t>   hidden sample</a:t>
            </a:r>
            <a:endParaRPr lang="en-US" sz="1900" dirty="0"/>
          </a:p>
        </p:txBody>
      </p:sp>
      <p:sp>
        <p:nvSpPr>
          <p:cNvPr id="11" name="Text 9"/>
          <p:cNvSpPr txBox="1"/>
          <p:nvPr/>
        </p:nvSpPr>
        <p:spPr>
          <a:xfrm>
            <a:off x="960120" y="3273552"/>
            <a:ext cx="2057400" cy="548640"/>
          </a:xfrm>
          <a:prstGeom prst="rect">
            <a:avLst/>
          </a:prstGeom>
          <a:noFill/>
          <a:ln/>
        </p:spPr>
        <p:txBody>
          <a:bodyPr wrap="square" lIns="0" tIns="0" rIns="0" bIns="0" rtlCol="0" anchor="t"/>
          <a:lstStyle/>
          <a:p>
            <a:pPr indent="0" marL="0">
              <a:lnSpc>
                <a:spcPts val="1200"/>
              </a:lnSpc>
              <a:buNone/>
            </a:pPr>
            <a:r>
              <a:rPr lang="en-US" sz="1050" dirty="0">
                <a:solidFill>
                  <a:srgbClr val="E1E7EA"/>
                </a:solidFill>
                <a:latin typeface="Calibri" pitchFamily="34" charset="0"/>
                <a:ea typeface="Calibri" pitchFamily="34" charset="-122"/>
                <a:cs typeface="Calibri" pitchFamily="34" charset="-120"/>
              </a:rPr>
              <a:t>10,000 rows drawn from A — never published</a:t>
            </a:r>
            <a:endParaRPr lang="en-US" sz="1050" dirty="0"/>
          </a:p>
        </p:txBody>
      </p:sp>
      <p:sp>
        <p:nvSpPr>
          <p:cNvPr id="12" name="Shape 10"/>
          <p:cNvSpPr/>
          <p:nvPr/>
        </p:nvSpPr>
        <p:spPr>
          <a:xfrm flipV="1">
            <a:off x="3246120" y="2633472"/>
            <a:ext cx="868680" cy="566928"/>
          </a:xfrm>
          <a:prstGeom prst="line">
            <a:avLst/>
          </a:prstGeom>
          <a:noFill/>
          <a:ln w="22225">
            <a:solidFill>
              <a:srgbClr val="56666E"/>
            </a:solidFill>
            <a:prstDash val="solid"/>
            <a:tailEnd type="triangle"/>
          </a:ln>
        </p:spPr>
      </p:sp>
      <p:sp>
        <p:nvSpPr>
          <p:cNvPr id="13" name="Shape 11"/>
          <p:cNvSpPr/>
          <p:nvPr/>
        </p:nvSpPr>
        <p:spPr>
          <a:xfrm>
            <a:off x="3246120" y="3474720"/>
            <a:ext cx="868680" cy="502920"/>
          </a:xfrm>
          <a:prstGeom prst="line">
            <a:avLst/>
          </a:prstGeom>
          <a:noFill/>
          <a:ln w="22225">
            <a:solidFill>
              <a:srgbClr val="56666E"/>
            </a:solidFill>
            <a:prstDash val="solid"/>
            <a:tailEnd type="triangle"/>
          </a:ln>
        </p:spPr>
      </p:sp>
      <p:sp>
        <p:nvSpPr>
          <p:cNvPr id="14" name="Text 12"/>
          <p:cNvSpPr txBox="1"/>
          <p:nvPr/>
        </p:nvSpPr>
        <p:spPr>
          <a:xfrm>
            <a:off x="3200400" y="2395728"/>
            <a:ext cx="1005840" cy="256032"/>
          </a:xfrm>
          <a:prstGeom prst="rect">
            <a:avLst/>
          </a:prstGeom>
          <a:noFill/>
          <a:ln/>
        </p:spPr>
        <p:txBody>
          <a:bodyPr wrap="square" lIns="0" tIns="0" rIns="0" bIns="0" rtlCol="0" anchor="ctr"/>
          <a:lstStyle/>
          <a:p>
            <a:pPr algn="ctr" indent="0" marL="0">
              <a:buNone/>
            </a:pPr>
            <a:r>
              <a:rPr lang="en-US" sz="1000" i="1" dirty="0">
                <a:solidFill>
                  <a:srgbClr val="56666E"/>
                </a:solidFill>
                <a:latin typeface="Calibri" pitchFamily="34" charset="0"/>
                <a:ea typeface="Calibri" pitchFamily="34" charset="-122"/>
                <a:cs typeface="Calibri" pitchFamily="34" charset="-120"/>
              </a:rPr>
              <a:t>anonymize</a:t>
            </a:r>
            <a:endParaRPr lang="en-US" sz="1000" dirty="0"/>
          </a:p>
        </p:txBody>
      </p:sp>
      <p:sp>
        <p:nvSpPr>
          <p:cNvPr id="15" name="Text 13"/>
          <p:cNvSpPr txBox="1"/>
          <p:nvPr/>
        </p:nvSpPr>
        <p:spPr>
          <a:xfrm>
            <a:off x="3200400" y="3968496"/>
            <a:ext cx="1005840" cy="256032"/>
          </a:xfrm>
          <a:prstGeom prst="rect">
            <a:avLst/>
          </a:prstGeom>
          <a:noFill/>
          <a:ln/>
        </p:spPr>
        <p:txBody>
          <a:bodyPr wrap="square" lIns="0" tIns="0" rIns="0" bIns="0" rtlCol="0" anchor="ctr"/>
          <a:lstStyle/>
          <a:p>
            <a:pPr algn="ctr" indent="0" marL="0">
              <a:buNone/>
            </a:pPr>
            <a:r>
              <a:rPr lang="en-US" sz="1000" i="1" dirty="0">
                <a:solidFill>
                  <a:srgbClr val="56666E"/>
                </a:solidFill>
                <a:latin typeface="Calibri" pitchFamily="34" charset="0"/>
                <a:ea typeface="Calibri" pitchFamily="34" charset="-122"/>
                <a:cs typeface="Calibri" pitchFamily="34" charset="-120"/>
              </a:rPr>
              <a:t>train</a:t>
            </a:r>
            <a:endParaRPr lang="en-US" sz="1000" dirty="0"/>
          </a:p>
        </p:txBody>
      </p:sp>
      <p:sp>
        <p:nvSpPr>
          <p:cNvPr id="16" name="Shape 14"/>
          <p:cNvSpPr/>
          <p:nvPr/>
        </p:nvSpPr>
        <p:spPr>
          <a:xfrm>
            <a:off x="4160520" y="2194560"/>
            <a:ext cx="2514600" cy="896112"/>
          </a:xfrm>
          <a:prstGeom prst="roundRect">
            <a:avLst>
              <a:gd name="adj" fmla="val 7143"/>
            </a:avLst>
          </a:prstGeom>
          <a:solidFill>
            <a:srgbClr val="FFFFFF"/>
          </a:solidFill>
          <a:ln w="12700">
            <a:solidFill>
              <a:srgbClr val="E1E7EA"/>
            </a:solidFill>
            <a:prstDash val="solid"/>
          </a:ln>
        </p:spPr>
      </p:sp>
      <p:sp>
        <p:nvSpPr>
          <p:cNvPr id="17" name="Text 15"/>
          <p:cNvSpPr txBox="1"/>
          <p:nvPr/>
        </p:nvSpPr>
        <p:spPr>
          <a:xfrm>
            <a:off x="4389120" y="2331720"/>
            <a:ext cx="2103120" cy="292608"/>
          </a:xfrm>
          <a:prstGeom prst="rect">
            <a:avLst/>
          </a:prstGeom>
          <a:noFill/>
          <a:ln/>
        </p:spPr>
        <p:txBody>
          <a:bodyPr wrap="square" lIns="0" tIns="0" rIns="0" bIns="0" rtlCol="0" anchor="ctr"/>
          <a:lstStyle/>
          <a:p>
            <a:pPr indent="0" marL="0">
              <a:buNone/>
            </a:pPr>
            <a:r>
              <a:rPr lang="en-US" sz="1800" b="1" dirty="0">
                <a:solidFill>
                  <a:srgbClr val="1F6FB2"/>
                </a:solidFill>
                <a:latin typeface="Cambria" pitchFamily="34" charset="0"/>
                <a:ea typeface="Cambria" pitchFamily="34" charset="-122"/>
                <a:cs typeface="Cambria" pitchFamily="34" charset="-120"/>
              </a:rPr>
              <a:t>C</a:t>
            </a:r>
            <a:pPr indent="0" marL="0">
              <a:buNone/>
            </a:pPr>
            <a:r>
              <a:rPr lang="en-US" sz="1300" dirty="0">
                <a:solidFill>
                  <a:srgbClr val="16232B"/>
                </a:solidFill>
                <a:latin typeface="Calibri" pitchFamily="34" charset="0"/>
                <a:ea typeface="Calibri" pitchFamily="34" charset="-122"/>
                <a:cs typeface="Calibri" pitchFamily="34" charset="-120"/>
              </a:rPr>
              <a:t>   anonymized data</a:t>
            </a:r>
            <a:endParaRPr lang="en-US" sz="1800" dirty="0"/>
          </a:p>
        </p:txBody>
      </p:sp>
      <p:sp>
        <p:nvSpPr>
          <p:cNvPr id="18" name="Text 16"/>
          <p:cNvSpPr txBox="1"/>
          <p:nvPr/>
        </p:nvSpPr>
        <p:spPr>
          <a:xfrm>
            <a:off x="4389120" y="2651760"/>
            <a:ext cx="2103120" cy="274320"/>
          </a:xfrm>
          <a:prstGeom prst="rect">
            <a:avLst/>
          </a:prstGeom>
          <a:noFill/>
          <a:ln/>
        </p:spPr>
        <p:txBody>
          <a:bodyPr wrap="square" lIns="0" tIns="0" rIns="0" bIns="0" rtlCol="0" anchor="ctr"/>
          <a:lstStyle/>
          <a:p>
            <a:pPr indent="0" marL="0">
              <a:buNone/>
            </a:pPr>
            <a:r>
              <a:rPr lang="en-US" sz="1050" dirty="0">
                <a:solidFill>
                  <a:srgbClr val="56666E"/>
                </a:solidFill>
                <a:latin typeface="Calibri" pitchFamily="34" charset="0"/>
                <a:ea typeface="Calibri" pitchFamily="34" charset="-122"/>
                <a:cs typeface="Calibri" pitchFamily="34" charset="-120"/>
              </a:rPr>
              <a:t>submitted</a:t>
            </a:r>
            <a:endParaRPr lang="en-US" sz="1050" dirty="0"/>
          </a:p>
        </p:txBody>
      </p:sp>
      <p:sp>
        <p:nvSpPr>
          <p:cNvPr id="19" name="Shape 17"/>
          <p:cNvSpPr/>
          <p:nvPr/>
        </p:nvSpPr>
        <p:spPr>
          <a:xfrm>
            <a:off x="4160520" y="3520440"/>
            <a:ext cx="2514600" cy="896112"/>
          </a:xfrm>
          <a:prstGeom prst="roundRect">
            <a:avLst>
              <a:gd name="adj" fmla="val 7143"/>
            </a:avLst>
          </a:prstGeom>
          <a:solidFill>
            <a:srgbClr val="FFFFFF"/>
          </a:solidFill>
          <a:ln w="12700">
            <a:solidFill>
              <a:srgbClr val="E1E7EA"/>
            </a:solidFill>
            <a:prstDash val="solid"/>
          </a:ln>
        </p:spPr>
      </p:sp>
      <p:sp>
        <p:nvSpPr>
          <p:cNvPr id="20" name="Text 18"/>
          <p:cNvSpPr txBox="1"/>
          <p:nvPr/>
        </p:nvSpPr>
        <p:spPr>
          <a:xfrm>
            <a:off x="4389120" y="3657600"/>
            <a:ext cx="2194560" cy="292608"/>
          </a:xfrm>
          <a:prstGeom prst="rect">
            <a:avLst/>
          </a:prstGeom>
          <a:noFill/>
          <a:ln/>
        </p:spPr>
        <p:txBody>
          <a:bodyPr wrap="square" lIns="0" tIns="0" rIns="0" bIns="0" rtlCol="0" anchor="ctr"/>
          <a:lstStyle/>
          <a:p>
            <a:pPr indent="0" marL="0">
              <a:buNone/>
            </a:pPr>
            <a:r>
              <a:rPr lang="en-US" sz="1800" b="1" dirty="0">
                <a:solidFill>
                  <a:srgbClr val="1F6FB2"/>
                </a:solidFill>
                <a:latin typeface="Cambria" pitchFamily="34" charset="0"/>
                <a:ea typeface="Cambria" pitchFamily="34" charset="-122"/>
                <a:cs typeface="Cambria" pitchFamily="34" charset="-120"/>
              </a:rPr>
              <a:t>D</a:t>
            </a:r>
            <a:pPr indent="0" marL="0">
              <a:buNone/>
            </a:pPr>
            <a:r>
              <a:rPr lang="en-US" sz="1300" dirty="0">
                <a:solidFill>
                  <a:srgbClr val="16232B"/>
                </a:solidFill>
                <a:latin typeface="Calibri" pitchFamily="34" charset="0"/>
                <a:ea typeface="Calibri" pitchFamily="34" charset="-122"/>
                <a:cs typeface="Calibri" pitchFamily="34" charset="-120"/>
              </a:rPr>
              <a:t>   XGBoost stroke model</a:t>
            </a:r>
            <a:endParaRPr lang="en-US" sz="1800" dirty="0"/>
          </a:p>
        </p:txBody>
      </p:sp>
      <p:sp>
        <p:nvSpPr>
          <p:cNvPr id="21" name="Text 19"/>
          <p:cNvSpPr txBox="1"/>
          <p:nvPr/>
        </p:nvSpPr>
        <p:spPr>
          <a:xfrm>
            <a:off x="4389120" y="3977640"/>
            <a:ext cx="2103120" cy="274320"/>
          </a:xfrm>
          <a:prstGeom prst="rect">
            <a:avLst/>
          </a:prstGeom>
          <a:noFill/>
          <a:ln/>
        </p:spPr>
        <p:txBody>
          <a:bodyPr wrap="square" lIns="0" tIns="0" rIns="0" bIns="0" rtlCol="0" anchor="ctr"/>
          <a:lstStyle/>
          <a:p>
            <a:pPr indent="0" marL="0">
              <a:buNone/>
            </a:pPr>
            <a:r>
              <a:rPr lang="en-US" sz="1050" dirty="0">
                <a:solidFill>
                  <a:srgbClr val="56666E"/>
                </a:solidFill>
                <a:latin typeface="Calibri" pitchFamily="34" charset="0"/>
                <a:ea typeface="Calibri" pitchFamily="34" charset="-122"/>
                <a:cs typeface="Calibri" pitchFamily="34" charset="-120"/>
              </a:rPr>
              <a:t>submitted</a:t>
            </a:r>
            <a:endParaRPr lang="en-US" sz="1050" dirty="0"/>
          </a:p>
        </p:txBody>
      </p:sp>
      <p:sp>
        <p:nvSpPr>
          <p:cNvPr id="22" name="Shape 20"/>
          <p:cNvSpPr/>
          <p:nvPr/>
        </p:nvSpPr>
        <p:spPr>
          <a:xfrm>
            <a:off x="7635240" y="1261872"/>
            <a:ext cx="365760" cy="365760"/>
          </a:xfrm>
          <a:prstGeom prst="ellipse">
            <a:avLst/>
          </a:prstGeom>
          <a:solidFill>
            <a:srgbClr val="9E1B32"/>
          </a:solidFill>
          <a:ln w="12700">
            <a:solidFill>
              <a:srgbClr val="9E1B32"/>
            </a:solidFill>
            <a:prstDash val="solid"/>
          </a:ln>
        </p:spPr>
      </p:sp>
      <p:sp>
        <p:nvSpPr>
          <p:cNvPr id="23" name="Text 21"/>
          <p:cNvSpPr txBox="1"/>
          <p:nvPr/>
        </p:nvSpPr>
        <p:spPr>
          <a:xfrm>
            <a:off x="7635240" y="12618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4" name="Text 22"/>
          <p:cNvSpPr txBox="1"/>
          <p:nvPr/>
        </p:nvSpPr>
        <p:spPr>
          <a:xfrm>
            <a:off x="8110728" y="1225296"/>
            <a:ext cx="3474720" cy="438912"/>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Attack phase</a:t>
            </a:r>
            <a:endParaRPr lang="en-US" sz="1700" dirty="0"/>
          </a:p>
        </p:txBody>
      </p:sp>
      <p:sp>
        <p:nvSpPr>
          <p:cNvPr id="25" name="Shape 23"/>
          <p:cNvSpPr/>
          <p:nvPr/>
        </p:nvSpPr>
        <p:spPr>
          <a:xfrm>
            <a:off x="6784848" y="2999232"/>
            <a:ext cx="777240" cy="0"/>
          </a:xfrm>
          <a:prstGeom prst="line">
            <a:avLst/>
          </a:prstGeom>
          <a:noFill/>
          <a:ln w="22225">
            <a:solidFill>
              <a:srgbClr val="56666E"/>
            </a:solidFill>
            <a:prstDash val="solid"/>
            <a:tailEnd type="triangle"/>
          </a:ln>
        </p:spPr>
      </p:sp>
      <p:sp>
        <p:nvSpPr>
          <p:cNvPr id="26" name="Shape 24"/>
          <p:cNvSpPr/>
          <p:nvPr/>
        </p:nvSpPr>
        <p:spPr>
          <a:xfrm>
            <a:off x="7635240" y="1828800"/>
            <a:ext cx="4005072" cy="2331720"/>
          </a:xfrm>
          <a:prstGeom prst="roundRect">
            <a:avLst>
              <a:gd name="adj" fmla="val 2745"/>
            </a:avLst>
          </a:prstGeom>
          <a:solidFill>
            <a:srgbClr val="16232B"/>
          </a:solidFill>
          <a:ln w="12700">
            <a:solidFill>
              <a:srgbClr val="16232B"/>
            </a:solidFill>
            <a:prstDash val="solid"/>
          </a:ln>
        </p:spPr>
      </p:sp>
      <p:sp>
        <p:nvSpPr>
          <p:cNvPr id="27" name="Text 25"/>
          <p:cNvSpPr txBox="1"/>
          <p:nvPr/>
        </p:nvSpPr>
        <p:spPr>
          <a:xfrm>
            <a:off x="7882128" y="2011680"/>
            <a:ext cx="3520440" cy="566928"/>
          </a:xfrm>
          <a:prstGeom prst="rect">
            <a:avLst/>
          </a:prstGeom>
          <a:noFill/>
          <a:ln/>
        </p:spPr>
        <p:txBody>
          <a:bodyPr wrap="square" lIns="0" tIns="0" rIns="0" bIns="0" rtlCol="0" anchor="t"/>
          <a:lstStyle/>
          <a:p>
            <a:pPr indent="0" marL="0">
              <a:lnSpc>
                <a:spcPts val="1700"/>
              </a:lnSpc>
              <a:buNone/>
            </a:pPr>
            <a:r>
              <a:rPr lang="en-US" sz="1300" dirty="0">
                <a:solidFill>
                  <a:srgbClr val="E1E7EA"/>
                </a:solidFill>
                <a:latin typeface="Calibri" pitchFamily="34" charset="0"/>
                <a:ea typeface="Calibri" pitchFamily="34" charset="-122"/>
                <a:cs typeface="Calibri" pitchFamily="34" charset="-120"/>
              </a:rPr>
              <a:t>Every team receives A, C and D of every other team.</a:t>
            </a:r>
            <a:endParaRPr lang="en-US" sz="1300" dirty="0"/>
          </a:p>
        </p:txBody>
      </p:sp>
      <p:sp>
        <p:nvSpPr>
          <p:cNvPr id="28" name="Text 26"/>
          <p:cNvSpPr txBox="1"/>
          <p:nvPr/>
        </p:nvSpPr>
        <p:spPr>
          <a:xfrm>
            <a:off x="7882128" y="2697480"/>
            <a:ext cx="3520440" cy="777240"/>
          </a:xfrm>
          <a:prstGeom prst="rect">
            <a:avLst/>
          </a:prstGeom>
          <a:noFill/>
          <a:ln/>
        </p:spPr>
        <p:txBody>
          <a:bodyPr wrap="square" lIns="0" tIns="0" rIns="0" bIns="0" rtlCol="0" anchor="t"/>
          <a:lstStyle/>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Which 10,000 rows of A</a:t>
            </a:r>
            <a:endParaRPr lang="en-US" sz="1700" dirty="0"/>
          </a:p>
          <a:p>
            <a:pPr indent="0" marL="0">
              <a:lnSpc>
                <a:spcPts val="2200"/>
              </a:lnSpc>
              <a:buNone/>
            </a:pPr>
            <a:r>
              <a:rPr lang="en-US" sz="1700" b="1" dirty="0">
                <a:solidFill>
                  <a:srgbClr val="FFFFFF"/>
                </a:solidFill>
                <a:latin typeface="Cambria" pitchFamily="34" charset="0"/>
                <a:ea typeface="Cambria" pitchFamily="34" charset="-122"/>
                <a:cs typeface="Cambria" pitchFamily="34" charset="-120"/>
              </a:rPr>
              <a:t>were in that team's B?</a:t>
            </a:r>
            <a:endParaRPr lang="en-US" sz="1700" dirty="0"/>
          </a:p>
        </p:txBody>
      </p:sp>
      <p:sp>
        <p:nvSpPr>
          <p:cNvPr id="29" name="Text 27"/>
          <p:cNvSpPr txBox="1"/>
          <p:nvPr/>
        </p:nvSpPr>
        <p:spPr>
          <a:xfrm>
            <a:off x="7882128" y="3520440"/>
            <a:ext cx="3520440" cy="548640"/>
          </a:xfrm>
          <a:prstGeom prst="rect">
            <a:avLst/>
          </a:prstGeom>
          <a:noFill/>
          <a:ln/>
        </p:spPr>
        <p:txBody>
          <a:bodyPr wrap="square" lIns="0" tIns="0" rIns="0" bIns="0" rtlCol="0" anchor="t"/>
          <a:lstStyle/>
          <a:p>
            <a:pPr indent="0" marL="0">
              <a:lnSpc>
                <a:spcPts val="1300"/>
              </a:lnSpc>
              <a:buNone/>
            </a:pPr>
            <a:r>
              <a:rPr lang="en-US" sz="1100" dirty="0">
                <a:solidFill>
                  <a:srgbClr val="93A5AD"/>
                </a:solidFill>
                <a:latin typeface="Calibri" pitchFamily="34" charset="0"/>
                <a:ea typeface="Calibri" pitchFamily="34" charset="-122"/>
                <a:cs typeface="Calibri" pitchFamily="34" charset="-120"/>
              </a:rPr>
              <a:t>Membership inference — one guess set per victim, 24 teams attacking each other.</a:t>
            </a:r>
            <a:endParaRPr lang="en-US" sz="1100" dirty="0"/>
          </a:p>
        </p:txBody>
      </p:sp>
      <p:sp>
        <p:nvSpPr>
          <p:cNvPr id="30" name="Shape 28"/>
          <p:cNvSpPr/>
          <p:nvPr/>
        </p:nvSpPr>
        <p:spPr>
          <a:xfrm>
            <a:off x="548640" y="4526280"/>
            <a:ext cx="11091672" cy="868680"/>
          </a:xfrm>
          <a:prstGeom prst="roundRect">
            <a:avLst>
              <a:gd name="adj" fmla="val 7368"/>
            </a:avLst>
          </a:prstGeom>
          <a:solidFill>
            <a:srgbClr val="F8EBEE"/>
          </a:solidFill>
          <a:ln w="12700">
            <a:solidFill>
              <a:srgbClr val="F8EBEE"/>
            </a:solidFill>
            <a:prstDash val="solid"/>
          </a:ln>
        </p:spPr>
      </p:sp>
      <p:sp>
        <p:nvSpPr>
          <p:cNvPr id="31" name="Text 29"/>
          <p:cNvSpPr txBox="1"/>
          <p:nvPr/>
        </p:nvSpPr>
        <p:spPr>
          <a:xfrm>
            <a:off x="868680" y="4526280"/>
            <a:ext cx="10515600" cy="868680"/>
          </a:xfrm>
          <a:prstGeom prst="rect">
            <a:avLst/>
          </a:prstGeom>
          <a:noFill/>
          <a:ln/>
        </p:spPr>
        <p:txBody>
          <a:bodyPr wrap="square" lIns="0" tIns="0" rIns="0" bIns="0" rtlCol="0" anchor="ctr"/>
          <a:lstStyle/>
          <a:p>
            <a:pPr indent="0" marL="0">
              <a:buNone/>
            </a:pPr>
            <a:r>
              <a:rPr lang="en-US" sz="1350" b="1" dirty="0">
                <a:solidFill>
                  <a:srgbClr val="9E1B32"/>
                </a:solidFill>
                <a:latin typeface="Calibri" pitchFamily="34" charset="0"/>
                <a:ea typeface="Calibri" pitchFamily="34" charset="-122"/>
                <a:cs typeface="Calibri" pitchFamily="34" charset="-120"/>
              </a:rPr>
              <a:t>Utility score</a:t>
            </a:r>
            <a:pPr indent="0" marL="0">
              <a:buNone/>
            </a:pPr>
            <a:r>
              <a:rPr lang="en-US" sz="1350" dirty="0">
                <a:solidFill>
                  <a:srgbClr val="16232B"/>
                </a:solidFill>
                <a:latin typeface="Calibri" pitchFamily="34" charset="0"/>
                <a:ea typeface="Calibri" pitchFamily="34" charset="-122"/>
                <a:cs typeface="Calibri" pitchFamily="34" charset="-120"/>
              </a:rPr>
              <a:t>  from C and D, up to 100     </a:t>
            </a:r>
            <a:pPr indent="0" marL="0">
              <a:buNone/>
            </a:pPr>
            <a:r>
              <a:rPr lang="en-US" sz="1350" b="1" dirty="0">
                <a:solidFill>
                  <a:srgbClr val="9E1B32"/>
                </a:solidFill>
                <a:latin typeface="Calibri" pitchFamily="34" charset="0"/>
                <a:ea typeface="Calibri" pitchFamily="34" charset="-122"/>
                <a:cs typeface="Calibri" pitchFamily="34" charset="-120"/>
              </a:rPr>
              <a:t>Anonymization score</a:t>
            </a:r>
            <a:pPr indent="0" marL="0">
              <a:buNone/>
            </a:pPr>
            <a:r>
              <a:rPr lang="en-US" sz="1350" dirty="0">
                <a:solidFill>
                  <a:srgbClr val="16232B"/>
                </a:solidFill>
                <a:latin typeface="Calibri" pitchFamily="34" charset="0"/>
                <a:ea typeface="Calibri" pitchFamily="34" charset="-122"/>
                <a:cs typeface="Calibri" pitchFamily="34" charset="-120"/>
              </a:rPr>
              <a:t>  = (10,000 − best attacker's correct guesses) / 100, minus a penalty</a:t>
            </a:r>
            <a:endParaRPr lang="en-US" sz="1350" dirty="0"/>
          </a:p>
        </p:txBody>
      </p:sp>
      <p:sp>
        <p:nvSpPr>
          <p:cNvPr id="32" name="Text 30"/>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33" name="Text 31"/>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We recovered each team's approach by hand, at the showcase</a:t>
            </a:r>
            <a:endParaRPr lang="en-US" sz="2700" dirty="0"/>
          </a:p>
        </p:txBody>
      </p:sp>
      <p:sp>
        <p:nvSpPr>
          <p:cNvPr id="3" name="Shape 1"/>
          <p:cNvSpPr/>
          <p:nvPr/>
        </p:nvSpPr>
        <p:spPr>
          <a:xfrm>
            <a:off x="548640" y="1298448"/>
            <a:ext cx="3538728" cy="1298448"/>
          </a:xfrm>
          <a:prstGeom prst="roundRect">
            <a:avLst>
              <a:gd name="adj" fmla="val 4930"/>
            </a:avLst>
          </a:prstGeom>
          <a:solidFill>
            <a:srgbClr val="EEF1F3"/>
          </a:solidFill>
          <a:ln w="12700">
            <a:solidFill>
              <a:srgbClr val="EEF1F3"/>
            </a:solidFill>
            <a:prstDash val="solid"/>
          </a:ln>
        </p:spPr>
      </p:sp>
      <p:sp>
        <p:nvSpPr>
          <p:cNvPr id="4" name="Text 2"/>
          <p:cNvSpPr txBox="1"/>
          <p:nvPr/>
        </p:nvSpPr>
        <p:spPr>
          <a:xfrm>
            <a:off x="822960" y="1371600"/>
            <a:ext cx="1371600" cy="1152144"/>
          </a:xfrm>
          <a:prstGeom prst="rect">
            <a:avLst/>
          </a:prstGeom>
          <a:noFill/>
          <a:ln/>
        </p:spPr>
        <p:txBody>
          <a:bodyPr wrap="square" lIns="0" tIns="0" rIns="0" bIns="0" rtlCol="0" anchor="ctr"/>
          <a:lstStyle/>
          <a:p>
            <a:pPr indent="0" marL="0">
              <a:buNone/>
            </a:pPr>
            <a:r>
              <a:rPr lang="en-US" sz="5000" b="1" dirty="0">
                <a:solidFill>
                  <a:srgbClr val="16232B"/>
                </a:solidFill>
                <a:latin typeface="Cambria" pitchFamily="34" charset="0"/>
                <a:ea typeface="Cambria" pitchFamily="34" charset="-122"/>
                <a:cs typeface="Cambria" pitchFamily="34" charset="-120"/>
              </a:rPr>
              <a:t>24</a:t>
            </a:r>
            <a:endParaRPr lang="en-US" sz="5000" dirty="0"/>
          </a:p>
        </p:txBody>
      </p:sp>
      <p:sp>
        <p:nvSpPr>
          <p:cNvPr id="5" name="Text 3"/>
          <p:cNvSpPr txBox="1"/>
          <p:nvPr/>
        </p:nvSpPr>
        <p:spPr>
          <a:xfrm>
            <a:off x="2148840" y="1371600"/>
            <a:ext cx="1737360" cy="1152144"/>
          </a:xfrm>
          <a:prstGeom prst="rect">
            <a:avLst/>
          </a:prstGeom>
          <a:noFill/>
          <a:ln/>
        </p:spPr>
        <p:txBody>
          <a:bodyPr wrap="square" lIns="0" tIns="0" rIns="0" bIns="0" rtlCol="0" anchor="ctr"/>
          <a:lstStyle/>
          <a:p>
            <a:pPr indent="0" marL="0">
              <a:buNone/>
            </a:pPr>
            <a:r>
              <a:rPr lang="en-US" sz="1250" dirty="0">
                <a:solidFill>
                  <a:srgbClr val="56666E"/>
                </a:solidFill>
                <a:latin typeface="Calibri" pitchFamily="34" charset="0"/>
                <a:ea typeface="Calibri" pitchFamily="34" charset="-122"/>
                <a:cs typeface="Calibri" pitchFamily="34" charset="-120"/>
              </a:rPr>
              <a:t>teams registered</a:t>
            </a:r>
            <a:endParaRPr lang="en-US" sz="1250" dirty="0"/>
          </a:p>
        </p:txBody>
      </p:sp>
      <p:sp>
        <p:nvSpPr>
          <p:cNvPr id="6" name="Shape 4"/>
          <p:cNvSpPr/>
          <p:nvPr/>
        </p:nvSpPr>
        <p:spPr>
          <a:xfrm>
            <a:off x="4325112" y="1298448"/>
            <a:ext cx="3538728" cy="1298448"/>
          </a:xfrm>
          <a:prstGeom prst="roundRect">
            <a:avLst>
              <a:gd name="adj" fmla="val 4930"/>
            </a:avLst>
          </a:prstGeom>
          <a:solidFill>
            <a:srgbClr val="EEF1F3"/>
          </a:solidFill>
          <a:ln w="12700">
            <a:solidFill>
              <a:srgbClr val="EEF1F3"/>
            </a:solidFill>
            <a:prstDash val="solid"/>
          </a:ln>
        </p:spPr>
      </p:sp>
      <p:sp>
        <p:nvSpPr>
          <p:cNvPr id="7" name="Text 5"/>
          <p:cNvSpPr txBox="1"/>
          <p:nvPr/>
        </p:nvSpPr>
        <p:spPr>
          <a:xfrm>
            <a:off x="4599432" y="1371600"/>
            <a:ext cx="1371600" cy="1152144"/>
          </a:xfrm>
          <a:prstGeom prst="rect">
            <a:avLst/>
          </a:prstGeom>
          <a:noFill/>
          <a:ln/>
        </p:spPr>
        <p:txBody>
          <a:bodyPr wrap="square" lIns="0" tIns="0" rIns="0" bIns="0" rtlCol="0" anchor="ctr"/>
          <a:lstStyle/>
          <a:p>
            <a:pPr indent="0" marL="0">
              <a:buNone/>
            </a:pPr>
            <a:r>
              <a:rPr lang="en-US" sz="5000" b="1" dirty="0">
                <a:solidFill>
                  <a:srgbClr val="9E1B32"/>
                </a:solidFill>
                <a:latin typeface="Cambria" pitchFamily="34" charset="0"/>
                <a:ea typeface="Cambria" pitchFamily="34" charset="-122"/>
                <a:cs typeface="Cambria" pitchFamily="34" charset="-120"/>
              </a:rPr>
              <a:t>20</a:t>
            </a:r>
            <a:endParaRPr lang="en-US" sz="5000" dirty="0"/>
          </a:p>
        </p:txBody>
      </p:sp>
      <p:sp>
        <p:nvSpPr>
          <p:cNvPr id="8" name="Text 6"/>
          <p:cNvSpPr txBox="1"/>
          <p:nvPr/>
        </p:nvSpPr>
        <p:spPr>
          <a:xfrm>
            <a:off x="5925312" y="1371600"/>
            <a:ext cx="1737360" cy="1152144"/>
          </a:xfrm>
          <a:prstGeom prst="rect">
            <a:avLst/>
          </a:prstGeom>
          <a:noFill/>
          <a:ln/>
        </p:spPr>
        <p:txBody>
          <a:bodyPr wrap="square" lIns="0" tIns="0" rIns="0" bIns="0" rtlCol="0" anchor="ctr"/>
          <a:lstStyle/>
          <a:p>
            <a:pPr indent="0" marL="0">
              <a:buNone/>
            </a:pPr>
            <a:r>
              <a:rPr lang="en-US" sz="1250" dirty="0">
                <a:solidFill>
                  <a:srgbClr val="56666E"/>
                </a:solidFill>
                <a:latin typeface="Calibri" pitchFamily="34" charset="0"/>
                <a:ea typeface="Calibri" pitchFamily="34" charset="-122"/>
                <a:cs typeface="Calibri" pitchFamily="34" charset="-120"/>
              </a:rPr>
              <a:t>approaches we could reconstruct</a:t>
            </a:r>
            <a:endParaRPr lang="en-US" sz="1250" dirty="0"/>
          </a:p>
        </p:txBody>
      </p:sp>
      <p:sp>
        <p:nvSpPr>
          <p:cNvPr id="9" name="Shape 7"/>
          <p:cNvSpPr/>
          <p:nvPr/>
        </p:nvSpPr>
        <p:spPr>
          <a:xfrm>
            <a:off x="8101584" y="1298448"/>
            <a:ext cx="3538728" cy="1298448"/>
          </a:xfrm>
          <a:prstGeom prst="roundRect">
            <a:avLst>
              <a:gd name="adj" fmla="val 4930"/>
            </a:avLst>
          </a:prstGeom>
          <a:solidFill>
            <a:srgbClr val="EEF1F3"/>
          </a:solidFill>
          <a:ln w="12700">
            <a:solidFill>
              <a:srgbClr val="EEF1F3"/>
            </a:solidFill>
            <a:prstDash val="solid"/>
          </a:ln>
        </p:spPr>
      </p:sp>
      <p:sp>
        <p:nvSpPr>
          <p:cNvPr id="10" name="Text 8"/>
          <p:cNvSpPr txBox="1"/>
          <p:nvPr/>
        </p:nvSpPr>
        <p:spPr>
          <a:xfrm>
            <a:off x="8375904" y="1371600"/>
            <a:ext cx="1371600" cy="1152144"/>
          </a:xfrm>
          <a:prstGeom prst="rect">
            <a:avLst/>
          </a:prstGeom>
          <a:noFill/>
          <a:ln/>
        </p:spPr>
        <p:txBody>
          <a:bodyPr wrap="square" lIns="0" tIns="0" rIns="0" bIns="0" rtlCol="0" anchor="ctr"/>
          <a:lstStyle/>
          <a:p>
            <a:pPr indent="0" marL="0">
              <a:buNone/>
            </a:pPr>
            <a:r>
              <a:rPr lang="en-US" sz="5000" b="1" dirty="0">
                <a:solidFill>
                  <a:srgbClr val="56666E"/>
                </a:solidFill>
                <a:latin typeface="Cambria" pitchFamily="34" charset="0"/>
                <a:ea typeface="Cambria" pitchFamily="34" charset="-122"/>
                <a:cs typeface="Cambria" pitchFamily="34" charset="-120"/>
              </a:rPr>
              <a:t>2</a:t>
            </a:r>
            <a:endParaRPr lang="en-US" sz="5000" dirty="0"/>
          </a:p>
        </p:txBody>
      </p:sp>
      <p:sp>
        <p:nvSpPr>
          <p:cNvPr id="11" name="Text 9"/>
          <p:cNvSpPr txBox="1"/>
          <p:nvPr/>
        </p:nvSpPr>
        <p:spPr>
          <a:xfrm>
            <a:off x="9701784" y="1371600"/>
            <a:ext cx="1737360" cy="1152144"/>
          </a:xfrm>
          <a:prstGeom prst="rect">
            <a:avLst/>
          </a:prstGeom>
          <a:noFill/>
          <a:ln/>
        </p:spPr>
        <p:txBody>
          <a:bodyPr wrap="square" lIns="0" tIns="0" rIns="0" bIns="0" rtlCol="0" anchor="ctr"/>
          <a:lstStyle/>
          <a:p>
            <a:pPr indent="0" marL="0">
              <a:buNone/>
            </a:pPr>
            <a:r>
              <a:rPr lang="en-US" sz="1250" dirty="0">
                <a:solidFill>
                  <a:srgbClr val="56666E"/>
                </a:solidFill>
                <a:latin typeface="Calibri" pitchFamily="34" charset="0"/>
                <a:ea typeface="Calibri" pitchFamily="34" charset="-122"/>
                <a:cs typeface="Calibri" pitchFamily="34" charset="-120"/>
              </a:rPr>
              <a:t>teams that released code</a:t>
            </a:r>
            <a:endParaRPr lang="en-US" sz="1250" dirty="0"/>
          </a:p>
        </p:txBody>
      </p:sp>
      <p:sp>
        <p:nvSpPr>
          <p:cNvPr id="12" name="Shape 10"/>
          <p:cNvSpPr/>
          <p:nvPr/>
        </p:nvSpPr>
        <p:spPr>
          <a:xfrm>
            <a:off x="548640" y="2907792"/>
            <a:ext cx="3538728" cy="1627632"/>
          </a:xfrm>
          <a:prstGeom prst="roundRect">
            <a:avLst>
              <a:gd name="adj" fmla="val 3933"/>
            </a:avLst>
          </a:prstGeom>
          <a:solidFill>
            <a:srgbClr val="FFFFFF"/>
          </a:solidFill>
          <a:ln w="12700">
            <a:solidFill>
              <a:srgbClr val="E1E7EA"/>
            </a:solidFill>
            <a:prstDash val="solid"/>
          </a:ln>
        </p:spPr>
      </p:sp>
      <p:sp>
        <p:nvSpPr>
          <p:cNvPr id="13" name="Shape 11"/>
          <p:cNvSpPr/>
          <p:nvPr/>
        </p:nvSpPr>
        <p:spPr>
          <a:xfrm>
            <a:off x="804672" y="3127248"/>
            <a:ext cx="365760" cy="365760"/>
          </a:xfrm>
          <a:prstGeom prst="ellipse">
            <a:avLst/>
          </a:prstGeom>
          <a:solidFill>
            <a:srgbClr val="9E1B32"/>
          </a:solidFill>
          <a:ln w="12700">
            <a:solidFill>
              <a:srgbClr val="9E1B32"/>
            </a:solidFill>
            <a:prstDash val="solid"/>
          </a:ln>
        </p:spPr>
      </p:sp>
      <p:sp>
        <p:nvSpPr>
          <p:cNvPr id="14" name="Text 12"/>
          <p:cNvSpPr txBox="1"/>
          <p:nvPr/>
        </p:nvSpPr>
        <p:spPr>
          <a:xfrm>
            <a:off x="804672" y="3127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Text 13"/>
          <p:cNvSpPr txBox="1"/>
          <p:nvPr/>
        </p:nvSpPr>
        <p:spPr>
          <a:xfrm>
            <a:off x="1280160" y="3090672"/>
            <a:ext cx="2606040" cy="438912"/>
          </a:xfrm>
          <a:prstGeom prst="rect">
            <a:avLst/>
          </a:prstGeom>
          <a:noFill/>
          <a:ln/>
        </p:spPr>
        <p:txBody>
          <a:bodyPr wrap="square" lIns="0" tIns="0" rIns="0" bIns="0" rtlCol="0" anchor="ctr"/>
          <a:lstStyle/>
          <a:p>
            <a:pPr indent="0" marL="0">
              <a:buNone/>
            </a:pPr>
            <a:r>
              <a:rPr lang="en-US" sz="1500" b="1" dirty="0">
                <a:solidFill>
                  <a:srgbClr val="16232B"/>
                </a:solidFill>
                <a:latin typeface="Cambria" pitchFamily="34" charset="0"/>
                <a:ea typeface="Cambria" pitchFamily="34" charset="-122"/>
                <a:cs typeface="Cambria" pitchFamily="34" charset="-120"/>
              </a:rPr>
              <a:t>Attend the showcase</a:t>
            </a:r>
            <a:endParaRPr lang="en-US" sz="1500" dirty="0"/>
          </a:p>
        </p:txBody>
      </p:sp>
      <p:sp>
        <p:nvSpPr>
          <p:cNvPr id="16" name="Text 14"/>
          <p:cNvSpPr txBox="1"/>
          <p:nvPr/>
        </p:nvSpPr>
        <p:spPr>
          <a:xfrm>
            <a:off x="804672" y="3639312"/>
            <a:ext cx="3063240" cy="777240"/>
          </a:xfrm>
          <a:prstGeom prst="rect">
            <a:avLst/>
          </a:prstGeom>
          <a:noFill/>
          <a:ln/>
        </p:spPr>
        <p:txBody>
          <a:bodyPr wrap="square" lIns="0" tIns="0" rIns="0" bIns="0" rtlCol="0" anchor="t"/>
          <a:lstStyle/>
          <a:p>
            <a:pPr indent="0" marL="0">
              <a:lnSpc>
                <a:spcPts val="1500"/>
              </a:lnSpc>
              <a:buNone/>
            </a:pPr>
            <a:r>
              <a:rPr lang="en-US" sz="1200" dirty="0">
                <a:solidFill>
                  <a:srgbClr val="56666E"/>
                </a:solidFill>
                <a:latin typeface="Calibri" pitchFamily="34" charset="0"/>
                <a:ea typeface="Calibri" pitchFamily="34" charset="-122"/>
                <a:cs typeface="Calibri" pitchFamily="34" charset="-120"/>
              </a:rPr>
              <a:t>Posters, spotlight talks and follow-up discussions - the only public record of each team's approach.</a:t>
            </a:r>
            <a:endParaRPr lang="en-US" sz="1200" dirty="0"/>
          </a:p>
        </p:txBody>
      </p:sp>
      <p:sp>
        <p:nvSpPr>
          <p:cNvPr id="17" name="Shape 15"/>
          <p:cNvSpPr/>
          <p:nvPr/>
        </p:nvSpPr>
        <p:spPr>
          <a:xfrm>
            <a:off x="4325112" y="2907792"/>
            <a:ext cx="3538728" cy="1627632"/>
          </a:xfrm>
          <a:prstGeom prst="roundRect">
            <a:avLst>
              <a:gd name="adj" fmla="val 3933"/>
            </a:avLst>
          </a:prstGeom>
          <a:solidFill>
            <a:srgbClr val="FFFFFF"/>
          </a:solidFill>
          <a:ln w="12700">
            <a:solidFill>
              <a:srgbClr val="E1E7EA"/>
            </a:solidFill>
            <a:prstDash val="solid"/>
          </a:ln>
        </p:spPr>
      </p:sp>
      <p:sp>
        <p:nvSpPr>
          <p:cNvPr id="18" name="Shape 16"/>
          <p:cNvSpPr/>
          <p:nvPr/>
        </p:nvSpPr>
        <p:spPr>
          <a:xfrm>
            <a:off x="4581144" y="3127248"/>
            <a:ext cx="365760" cy="365760"/>
          </a:xfrm>
          <a:prstGeom prst="ellipse">
            <a:avLst/>
          </a:prstGeom>
          <a:solidFill>
            <a:srgbClr val="9E1B32"/>
          </a:solidFill>
          <a:ln w="12700">
            <a:solidFill>
              <a:srgbClr val="9E1B32"/>
            </a:solidFill>
            <a:prstDash val="solid"/>
          </a:ln>
        </p:spPr>
      </p:sp>
      <p:sp>
        <p:nvSpPr>
          <p:cNvPr id="19" name="Text 17"/>
          <p:cNvSpPr txBox="1"/>
          <p:nvPr/>
        </p:nvSpPr>
        <p:spPr>
          <a:xfrm>
            <a:off x="4581144" y="3127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0" name="Text 18"/>
          <p:cNvSpPr txBox="1"/>
          <p:nvPr/>
        </p:nvSpPr>
        <p:spPr>
          <a:xfrm>
            <a:off x="5056632" y="3090672"/>
            <a:ext cx="2606040" cy="438912"/>
          </a:xfrm>
          <a:prstGeom prst="rect">
            <a:avLst/>
          </a:prstGeom>
          <a:noFill/>
          <a:ln/>
        </p:spPr>
        <p:txBody>
          <a:bodyPr wrap="square" lIns="0" tIns="0" rIns="0" bIns="0" rtlCol="0" anchor="ctr"/>
          <a:lstStyle/>
          <a:p>
            <a:pPr indent="0" marL="0">
              <a:buNone/>
            </a:pPr>
            <a:r>
              <a:rPr lang="en-US" sz="1500" b="1" dirty="0">
                <a:solidFill>
                  <a:srgbClr val="16232B"/>
                </a:solidFill>
                <a:latin typeface="Cambria" pitchFamily="34" charset="0"/>
                <a:ea typeface="Cambria" pitchFamily="34" charset="-122"/>
                <a:cs typeface="Cambria" pitchFamily="34" charset="-120"/>
              </a:rPr>
              <a:t>Write the approaches down</a:t>
            </a:r>
            <a:endParaRPr lang="en-US" sz="1500" dirty="0"/>
          </a:p>
        </p:txBody>
      </p:sp>
      <p:sp>
        <p:nvSpPr>
          <p:cNvPr id="21" name="Text 19"/>
          <p:cNvSpPr txBox="1"/>
          <p:nvPr/>
        </p:nvSpPr>
        <p:spPr>
          <a:xfrm>
            <a:off x="4581144" y="3639312"/>
            <a:ext cx="3063240" cy="777240"/>
          </a:xfrm>
          <a:prstGeom prst="rect">
            <a:avLst/>
          </a:prstGeom>
          <a:noFill/>
          <a:ln/>
        </p:spPr>
        <p:txBody>
          <a:bodyPr wrap="square" lIns="0" tIns="0" rIns="0" bIns="0" rtlCol="0" anchor="t"/>
          <a:lstStyle/>
          <a:p>
            <a:pPr indent="0" marL="0">
              <a:lnSpc>
                <a:spcPts val="1500"/>
              </a:lnSpc>
              <a:buNone/>
            </a:pPr>
            <a:r>
              <a:rPr lang="en-US" sz="1200" dirty="0">
                <a:solidFill>
                  <a:srgbClr val="56666E"/>
                </a:solidFill>
                <a:latin typeface="Calibri" pitchFamily="34" charset="0"/>
                <a:ea typeface="Calibri" pitchFamily="34" charset="-122"/>
                <a:cs typeface="Calibri" pitchFamily="34" charset="-120"/>
              </a:rPr>
              <a:t>Anonymization, model training and attack, documented team by team.</a:t>
            </a:r>
            <a:endParaRPr lang="en-US" sz="1200" dirty="0"/>
          </a:p>
        </p:txBody>
      </p:sp>
      <p:sp>
        <p:nvSpPr>
          <p:cNvPr id="22" name="Shape 20"/>
          <p:cNvSpPr/>
          <p:nvPr/>
        </p:nvSpPr>
        <p:spPr>
          <a:xfrm>
            <a:off x="8101584" y="2907792"/>
            <a:ext cx="3538728" cy="1627632"/>
          </a:xfrm>
          <a:prstGeom prst="roundRect">
            <a:avLst>
              <a:gd name="adj" fmla="val 3933"/>
            </a:avLst>
          </a:prstGeom>
          <a:solidFill>
            <a:srgbClr val="FFFFFF"/>
          </a:solidFill>
          <a:ln w="12700">
            <a:solidFill>
              <a:srgbClr val="E1E7EA"/>
            </a:solidFill>
            <a:prstDash val="solid"/>
          </a:ln>
        </p:spPr>
      </p:sp>
      <p:sp>
        <p:nvSpPr>
          <p:cNvPr id="23" name="Shape 21"/>
          <p:cNvSpPr/>
          <p:nvPr/>
        </p:nvSpPr>
        <p:spPr>
          <a:xfrm>
            <a:off x="8357616" y="3127248"/>
            <a:ext cx="365760" cy="365760"/>
          </a:xfrm>
          <a:prstGeom prst="ellipse">
            <a:avLst/>
          </a:prstGeom>
          <a:solidFill>
            <a:srgbClr val="9E1B32"/>
          </a:solidFill>
          <a:ln w="12700">
            <a:solidFill>
              <a:srgbClr val="9E1B32"/>
            </a:solidFill>
            <a:prstDash val="solid"/>
          </a:ln>
        </p:spPr>
      </p:sp>
      <p:sp>
        <p:nvSpPr>
          <p:cNvPr id="24" name="Text 22"/>
          <p:cNvSpPr txBox="1"/>
          <p:nvPr/>
        </p:nvSpPr>
        <p:spPr>
          <a:xfrm>
            <a:off x="8357616" y="3127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5" name="Text 23"/>
          <p:cNvSpPr txBox="1"/>
          <p:nvPr/>
        </p:nvSpPr>
        <p:spPr>
          <a:xfrm>
            <a:off x="8833104" y="3090672"/>
            <a:ext cx="2606040" cy="438912"/>
          </a:xfrm>
          <a:prstGeom prst="rect">
            <a:avLst/>
          </a:prstGeom>
          <a:noFill/>
          <a:ln/>
        </p:spPr>
        <p:txBody>
          <a:bodyPr wrap="square" lIns="0" tIns="0" rIns="0" bIns="0" rtlCol="0" anchor="ctr"/>
          <a:lstStyle/>
          <a:p>
            <a:pPr indent="0" marL="0">
              <a:buNone/>
            </a:pPr>
            <a:r>
              <a:rPr lang="en-US" sz="1500" b="1" dirty="0">
                <a:solidFill>
                  <a:srgbClr val="16232B"/>
                </a:solidFill>
                <a:latin typeface="Cambria" pitchFamily="34" charset="0"/>
                <a:ea typeface="Cambria" pitchFamily="34" charset="-122"/>
                <a:cs typeface="Cambria" pitchFamily="34" charset="-120"/>
              </a:rPr>
              <a:t>Code them as categories</a:t>
            </a:r>
            <a:endParaRPr lang="en-US" sz="1500" dirty="0"/>
          </a:p>
        </p:txBody>
      </p:sp>
      <p:sp>
        <p:nvSpPr>
          <p:cNvPr id="26" name="Text 24"/>
          <p:cNvSpPr txBox="1"/>
          <p:nvPr/>
        </p:nvSpPr>
        <p:spPr>
          <a:xfrm>
            <a:off x="8357616" y="3639312"/>
            <a:ext cx="3063240" cy="777240"/>
          </a:xfrm>
          <a:prstGeom prst="rect">
            <a:avLst/>
          </a:prstGeom>
          <a:noFill/>
          <a:ln/>
        </p:spPr>
        <p:txBody>
          <a:bodyPr wrap="square" lIns="0" tIns="0" rIns="0" bIns="0" rtlCol="0" anchor="t"/>
          <a:lstStyle/>
          <a:p>
            <a:pPr indent="0" marL="0">
              <a:lnSpc>
                <a:spcPts val="1500"/>
              </a:lnSpc>
              <a:buNone/>
            </a:pPr>
            <a:r>
              <a:rPr lang="en-US" sz="1200" dirty="0">
                <a:solidFill>
                  <a:srgbClr val="56666E"/>
                </a:solidFill>
                <a:latin typeface="Calibri" pitchFamily="34" charset="0"/>
                <a:ea typeface="Calibri" pitchFamily="34" charset="-122"/>
                <a:cs typeface="Calibri" pitchFamily="34" charset="-120"/>
              </a:rPr>
              <a:t>Keep a feature only if at least four teams used it, so no effect rests on one or two teams.</a:t>
            </a:r>
            <a:endParaRPr lang="en-US" sz="1200" dirty="0"/>
          </a:p>
        </p:txBody>
      </p:sp>
      <p:sp>
        <p:nvSpPr>
          <p:cNvPr id="27" name="Text 25"/>
          <p:cNvSpPr txBox="1"/>
          <p:nvPr/>
        </p:nvSpPr>
        <p:spPr>
          <a:xfrm>
            <a:off x="548640" y="4892040"/>
            <a:ext cx="11091672" cy="502920"/>
          </a:xfrm>
          <a:prstGeom prst="rect">
            <a:avLst/>
          </a:prstGeom>
          <a:noFill/>
          <a:ln/>
        </p:spPr>
        <p:txBody>
          <a:bodyPr wrap="square" lIns="0" tIns="0" rIns="0" bIns="0" rtlCol="0" anchor="ctr"/>
          <a:lstStyle/>
          <a:p>
            <a:pPr indent="0" marL="0">
              <a:buNone/>
            </a:pPr>
            <a:r>
              <a:rPr lang="en-US" sz="1500" b="1" i="1" dirty="0">
                <a:solidFill>
                  <a:srgbClr val="9E1B32"/>
                </a:solidFill>
                <a:latin typeface="Cambria" pitchFamily="34" charset="0"/>
                <a:ea typeface="Cambria" pitchFamily="34" charset="-122"/>
                <a:cs typeface="Cambria" pitchFamily="34" charset="-120"/>
              </a:rPr>
              <a:t>What we recovered is the family of each team's method — not its parameters, and not its code.</a:t>
            </a:r>
            <a:endParaRPr lang="en-US" sz="1500" dirty="0"/>
          </a:p>
        </p:txBody>
      </p:sp>
      <p:sp>
        <p:nvSpPr>
          <p:cNvPr id="28" name="Text 26"/>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29" name="Text 27"/>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Eight categorical features — and what the two winners chose</a:t>
            </a:r>
            <a:endParaRPr lang="en-US" sz="2700" dirty="0"/>
          </a:p>
        </p:txBody>
      </p:sp>
      <p:sp>
        <p:nvSpPr>
          <p:cNvPr id="3" name="Shape 1"/>
          <p:cNvSpPr/>
          <p:nvPr/>
        </p:nvSpPr>
        <p:spPr>
          <a:xfrm>
            <a:off x="548640" y="1280160"/>
            <a:ext cx="5349240" cy="3017520"/>
          </a:xfrm>
          <a:prstGeom prst="roundRect">
            <a:avLst>
              <a:gd name="adj" fmla="val 2121"/>
            </a:avLst>
          </a:prstGeom>
          <a:solidFill>
            <a:srgbClr val="EEF1F3"/>
          </a:solidFill>
          <a:ln w="12700">
            <a:solidFill>
              <a:srgbClr val="EEF1F3"/>
            </a:solidFill>
            <a:prstDash val="solid"/>
          </a:ln>
        </p:spPr>
      </p:sp>
      <p:sp>
        <p:nvSpPr>
          <p:cNvPr id="4" name="Text 2"/>
          <p:cNvSpPr txBox="1"/>
          <p:nvPr/>
        </p:nvSpPr>
        <p:spPr>
          <a:xfrm>
            <a:off x="868680" y="1417320"/>
            <a:ext cx="329184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Defender</a:t>
            </a:r>
            <a:endParaRPr lang="en-US" sz="1700" dirty="0"/>
          </a:p>
        </p:txBody>
      </p:sp>
      <p:sp>
        <p:nvSpPr>
          <p:cNvPr id="5" name="Text 3"/>
          <p:cNvSpPr txBox="1"/>
          <p:nvPr/>
        </p:nvSpPr>
        <p:spPr>
          <a:xfrm>
            <a:off x="868680" y="1783080"/>
            <a:ext cx="4709160" cy="274320"/>
          </a:xfrm>
          <a:prstGeom prst="rect">
            <a:avLst/>
          </a:prstGeom>
          <a:noFill/>
          <a:ln/>
        </p:spPr>
        <p:txBody>
          <a:bodyPr wrap="square" lIns="0" tIns="0" rIns="0" bIns="0" rtlCol="0" anchor="ctr"/>
          <a:lstStyle/>
          <a:p>
            <a:pPr indent="0" marL="0">
              <a:buNone/>
            </a:pPr>
            <a:r>
              <a:rPr lang="en-US" sz="1150" dirty="0">
                <a:solidFill>
                  <a:srgbClr val="56666E"/>
                </a:solidFill>
                <a:latin typeface="Calibri" pitchFamily="34" charset="0"/>
                <a:ea typeface="Calibri" pitchFamily="34" charset="-122"/>
                <a:cs typeface="Calibri" pitchFamily="34" charset="-120"/>
              </a:rPr>
              <a:t>20 teams</a:t>
            </a:r>
            <a:endParaRPr lang="en-US" sz="1150" dirty="0"/>
          </a:p>
        </p:txBody>
      </p:sp>
      <p:sp>
        <p:nvSpPr>
          <p:cNvPr id="6" name="Text 4"/>
          <p:cNvSpPr txBox="1"/>
          <p:nvPr/>
        </p:nvSpPr>
        <p:spPr>
          <a:xfrm>
            <a:off x="868680" y="212140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Base</a:t>
            </a:r>
            <a:endParaRPr lang="en-US" sz="1300" dirty="0"/>
          </a:p>
        </p:txBody>
      </p:sp>
      <p:sp>
        <p:nvSpPr>
          <p:cNvPr id="7" name="Text 5"/>
          <p:cNvSpPr txBox="1"/>
          <p:nvPr/>
        </p:nvSpPr>
        <p:spPr>
          <a:xfrm>
            <a:off x="2788920" y="212140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B  (13)</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elsewhere  (7)</a:t>
            </a:r>
            <a:endParaRPr lang="en-US" sz="1200" dirty="0"/>
          </a:p>
        </p:txBody>
      </p:sp>
      <p:sp>
        <p:nvSpPr>
          <p:cNvPr id="8" name="Text 6"/>
          <p:cNvSpPr txBox="1"/>
          <p:nvPr/>
        </p:nvSpPr>
        <p:spPr>
          <a:xfrm>
            <a:off x="868680" y="253288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Synthesis</a:t>
            </a:r>
            <a:endParaRPr lang="en-US" sz="1300" dirty="0"/>
          </a:p>
        </p:txBody>
      </p:sp>
      <p:sp>
        <p:nvSpPr>
          <p:cNvPr id="9" name="Text 7"/>
          <p:cNvSpPr txBox="1"/>
          <p:nvPr/>
        </p:nvSpPr>
        <p:spPr>
          <a:xfrm>
            <a:off x="2788920" y="253288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(9)</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(11)</a:t>
            </a:r>
            <a:endParaRPr lang="en-US" sz="1200" dirty="0"/>
          </a:p>
        </p:txBody>
      </p:sp>
      <p:sp>
        <p:nvSpPr>
          <p:cNvPr id="10" name="Text 8"/>
          <p:cNvSpPr txBox="1"/>
          <p:nvPr/>
        </p:nvSpPr>
        <p:spPr>
          <a:xfrm>
            <a:off x="868680" y="294436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Noise</a:t>
            </a:r>
            <a:endParaRPr lang="en-US" sz="1300" dirty="0"/>
          </a:p>
        </p:txBody>
      </p:sp>
      <p:sp>
        <p:nvSpPr>
          <p:cNvPr id="11" name="Text 9"/>
          <p:cNvSpPr txBox="1"/>
          <p:nvPr/>
        </p:nvSpPr>
        <p:spPr>
          <a:xfrm>
            <a:off x="2788920" y="294436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(14)</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12" name="Text 10"/>
          <p:cNvSpPr txBox="1"/>
          <p:nvPr/>
        </p:nvSpPr>
        <p:spPr>
          <a:xfrm>
            <a:off x="868680" y="335584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Optimization</a:t>
            </a:r>
            <a:endParaRPr lang="en-US" sz="1300" dirty="0"/>
          </a:p>
        </p:txBody>
      </p:sp>
      <p:sp>
        <p:nvSpPr>
          <p:cNvPr id="13" name="Text 11"/>
          <p:cNvSpPr txBox="1"/>
          <p:nvPr/>
        </p:nvSpPr>
        <p:spPr>
          <a:xfrm>
            <a:off x="2788920" y="335584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(14)</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14" name="Text 12"/>
          <p:cNvSpPr txBox="1"/>
          <p:nvPr/>
        </p:nvSpPr>
        <p:spPr>
          <a:xfrm>
            <a:off x="868680" y="376732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Row swapping</a:t>
            </a:r>
            <a:endParaRPr lang="en-US" sz="1300" dirty="0"/>
          </a:p>
        </p:txBody>
      </p:sp>
      <p:sp>
        <p:nvSpPr>
          <p:cNvPr id="15" name="Text 13"/>
          <p:cNvSpPr txBox="1"/>
          <p:nvPr/>
        </p:nvSpPr>
        <p:spPr>
          <a:xfrm>
            <a:off x="2788920" y="376732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(10)</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(10)</a:t>
            </a:r>
            <a:endParaRPr lang="en-US" sz="1200" dirty="0"/>
          </a:p>
        </p:txBody>
      </p:sp>
      <p:sp>
        <p:nvSpPr>
          <p:cNvPr id="16" name="Shape 14"/>
          <p:cNvSpPr/>
          <p:nvPr/>
        </p:nvSpPr>
        <p:spPr>
          <a:xfrm>
            <a:off x="6291072" y="1280160"/>
            <a:ext cx="5349240" cy="3017520"/>
          </a:xfrm>
          <a:prstGeom prst="roundRect">
            <a:avLst>
              <a:gd name="adj" fmla="val 2121"/>
            </a:avLst>
          </a:prstGeom>
          <a:solidFill>
            <a:srgbClr val="EEF1F3"/>
          </a:solidFill>
          <a:ln w="12700">
            <a:solidFill>
              <a:srgbClr val="EEF1F3"/>
            </a:solidFill>
            <a:prstDash val="solid"/>
          </a:ln>
        </p:spPr>
      </p:sp>
      <p:sp>
        <p:nvSpPr>
          <p:cNvPr id="17" name="Text 15"/>
          <p:cNvSpPr txBox="1"/>
          <p:nvPr/>
        </p:nvSpPr>
        <p:spPr>
          <a:xfrm>
            <a:off x="6611112" y="1417320"/>
            <a:ext cx="329184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Attacker</a:t>
            </a:r>
            <a:endParaRPr lang="en-US" sz="1700" dirty="0"/>
          </a:p>
        </p:txBody>
      </p:sp>
      <p:sp>
        <p:nvSpPr>
          <p:cNvPr id="18" name="Text 16"/>
          <p:cNvSpPr txBox="1"/>
          <p:nvPr/>
        </p:nvSpPr>
        <p:spPr>
          <a:xfrm>
            <a:off x="6611112" y="1783080"/>
            <a:ext cx="4709160" cy="274320"/>
          </a:xfrm>
          <a:prstGeom prst="rect">
            <a:avLst/>
          </a:prstGeom>
          <a:noFill/>
          <a:ln/>
        </p:spPr>
        <p:txBody>
          <a:bodyPr wrap="square" lIns="0" tIns="0" rIns="0" bIns="0" rtlCol="0" anchor="ctr"/>
          <a:lstStyle/>
          <a:p>
            <a:pPr indent="0" marL="0">
              <a:buNone/>
            </a:pPr>
            <a:r>
              <a:rPr lang="en-US" sz="1150" dirty="0">
                <a:solidFill>
                  <a:srgbClr val="56666E"/>
                </a:solidFill>
                <a:latin typeface="Calibri" pitchFamily="34" charset="0"/>
                <a:ea typeface="Calibri" pitchFamily="34" charset="-122"/>
                <a:cs typeface="Calibri" pitchFamily="34" charset="-120"/>
              </a:rPr>
              <a:t>19 teams</a:t>
            </a:r>
            <a:endParaRPr lang="en-US" sz="1150" dirty="0"/>
          </a:p>
        </p:txBody>
      </p:sp>
      <p:sp>
        <p:nvSpPr>
          <p:cNvPr id="19" name="Text 17"/>
          <p:cNvSpPr txBox="1"/>
          <p:nvPr/>
        </p:nvSpPr>
        <p:spPr>
          <a:xfrm>
            <a:off x="6611112" y="2121408"/>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Attack target</a:t>
            </a:r>
            <a:endParaRPr lang="en-US" sz="1300" dirty="0"/>
          </a:p>
        </p:txBody>
      </p:sp>
      <p:sp>
        <p:nvSpPr>
          <p:cNvPr id="20" name="Text 18"/>
          <p:cNvSpPr txBox="1"/>
          <p:nvPr/>
        </p:nvSpPr>
        <p:spPr>
          <a:xfrm>
            <a:off x="8531352" y="2121408"/>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anonymized data only  (15)</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also the released model  (4)</a:t>
            </a:r>
            <a:endParaRPr lang="en-US" sz="1200" dirty="0"/>
          </a:p>
        </p:txBody>
      </p:sp>
      <p:sp>
        <p:nvSpPr>
          <p:cNvPr id="21" name="Text 19"/>
          <p:cNvSpPr txBox="1"/>
          <p:nvPr/>
        </p:nvSpPr>
        <p:spPr>
          <a:xfrm>
            <a:off x="6611112" y="2688336"/>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Attacker-trained model</a:t>
            </a:r>
            <a:endParaRPr lang="en-US" sz="1300" dirty="0"/>
          </a:p>
        </p:txBody>
      </p:sp>
      <p:sp>
        <p:nvSpPr>
          <p:cNvPr id="22" name="Text 20"/>
          <p:cNvSpPr txBox="1"/>
          <p:nvPr/>
        </p:nvSpPr>
        <p:spPr>
          <a:xfrm>
            <a:off x="8531352" y="2688336"/>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(13)</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23" name="Text 21"/>
          <p:cNvSpPr txBox="1"/>
          <p:nvPr/>
        </p:nvSpPr>
        <p:spPr>
          <a:xfrm>
            <a:off x="6611112" y="3255264"/>
            <a:ext cx="1874520" cy="310896"/>
          </a:xfrm>
          <a:prstGeom prst="rect">
            <a:avLst/>
          </a:prstGeom>
          <a:noFill/>
          <a:ln/>
        </p:spPr>
        <p:txBody>
          <a:bodyPr wrap="square" lIns="0" tIns="0" rIns="0" bIns="0" rtlCol="0" anchor="ctr"/>
          <a:lstStyle/>
          <a:p>
            <a:pPr indent="0" marL="0">
              <a:buNone/>
            </a:pPr>
            <a:r>
              <a:rPr lang="en-US" sz="1300" b="1" dirty="0">
                <a:solidFill>
                  <a:srgbClr val="16232B"/>
                </a:solidFill>
                <a:latin typeface="Calibri" pitchFamily="34" charset="0"/>
                <a:ea typeface="Calibri" pitchFamily="34" charset="-122"/>
                <a:cs typeface="Calibri" pitchFamily="34" charset="-120"/>
              </a:rPr>
              <a:t>Non-default distance</a:t>
            </a:r>
            <a:endParaRPr lang="en-US" sz="1300" dirty="0"/>
          </a:p>
        </p:txBody>
      </p:sp>
      <p:sp>
        <p:nvSpPr>
          <p:cNvPr id="24" name="Text 22"/>
          <p:cNvSpPr txBox="1"/>
          <p:nvPr/>
        </p:nvSpPr>
        <p:spPr>
          <a:xfrm>
            <a:off x="8531352" y="3255264"/>
            <a:ext cx="2788920" cy="310896"/>
          </a:xfrm>
          <a:prstGeom prst="rect">
            <a:avLst/>
          </a:prstGeom>
          <a:noFill/>
          <a:ln/>
        </p:spPr>
        <p:txBody>
          <a:bodyPr wrap="square" lIns="0" tIns="0" rIns="0" bIns="0" rtlCol="0" anchor="ctr"/>
          <a:lstStyle/>
          <a:p>
            <a:pPr indent="0" marL="0">
              <a:buNone/>
            </a:pPr>
            <a:r>
              <a:rPr lang="en-US" sz="1200" dirty="0">
                <a:solidFill>
                  <a:srgbClr val="56666E"/>
                </a:solidFill>
                <a:latin typeface="Calibri" pitchFamily="34" charset="0"/>
                <a:ea typeface="Calibri" pitchFamily="34" charset="-122"/>
                <a:cs typeface="Calibri" pitchFamily="34" charset="-120"/>
              </a:rPr>
              <a:t>no  (11)</a:t>
            </a:r>
            <a:pPr indent="0" marL="0">
              <a:buNone/>
            </a:pPr>
            <a:r>
              <a:rPr lang="en-US" sz="1200" b="1" dirty="0">
                <a:solidFill>
                  <a:srgbClr val="9E1B32"/>
                </a:solidFill>
                <a:latin typeface="Calibri" pitchFamily="34" charset="0"/>
                <a:ea typeface="Calibri" pitchFamily="34" charset="-122"/>
                <a:cs typeface="Calibri" pitchFamily="34" charset="-120"/>
              </a:rPr>
              <a:t>   →   </a:t>
            </a:r>
            <a:pPr indent="0" marL="0">
              <a:buNone/>
            </a:pPr>
            <a:r>
              <a:rPr lang="en-US" sz="1200" b="1" dirty="0">
                <a:solidFill>
                  <a:srgbClr val="16232B"/>
                </a:solidFill>
                <a:latin typeface="Calibri" pitchFamily="34" charset="0"/>
                <a:ea typeface="Calibri" pitchFamily="34" charset="-122"/>
                <a:cs typeface="Calibri" pitchFamily="34" charset="-120"/>
              </a:rPr>
              <a:t>yes  (8)</a:t>
            </a:r>
            <a:endParaRPr lang="en-US" sz="1200" dirty="0"/>
          </a:p>
        </p:txBody>
      </p:sp>
      <p:sp>
        <p:nvSpPr>
          <p:cNvPr id="25" name="Text 23"/>
          <p:cNvSpPr txBox="1"/>
          <p:nvPr/>
        </p:nvSpPr>
        <p:spPr>
          <a:xfrm>
            <a:off x="6611112" y="3794760"/>
            <a:ext cx="4709160" cy="411480"/>
          </a:xfrm>
          <a:prstGeom prst="rect">
            <a:avLst/>
          </a:prstGeom>
          <a:noFill/>
          <a:ln/>
        </p:spPr>
        <p:txBody>
          <a:bodyPr wrap="square" lIns="0" tIns="0" rIns="0" bIns="0" rtlCol="0" anchor="t"/>
          <a:lstStyle/>
          <a:p>
            <a:pPr indent="0" marL="0">
              <a:lnSpc>
                <a:spcPts val="1400"/>
              </a:lnSpc>
              <a:buNone/>
            </a:pPr>
            <a:r>
              <a:rPr lang="en-US" sz="1150" i="1" dirty="0">
                <a:solidFill>
                  <a:srgbClr val="56666E"/>
                </a:solidFill>
                <a:latin typeface="Calibri" pitchFamily="34" charset="0"/>
                <a:ea typeface="Calibri" pitchFamily="34" charset="-122"/>
                <a:cs typeface="Calibri" pitchFamily="34" charset="-120"/>
              </a:rPr>
              <a:t>→  marks the contrast direction: every effect size and every IRR is reported for the right-hand category.</a:t>
            </a:r>
            <a:endParaRPr lang="en-US" sz="1150" dirty="0"/>
          </a:p>
        </p:txBody>
      </p:sp>
      <p:sp>
        <p:nvSpPr>
          <p:cNvPr id="26" name="Shape 24"/>
          <p:cNvSpPr/>
          <p:nvPr/>
        </p:nvSpPr>
        <p:spPr>
          <a:xfrm>
            <a:off x="548640" y="4480560"/>
            <a:ext cx="5349240" cy="1481328"/>
          </a:xfrm>
          <a:prstGeom prst="roundRect">
            <a:avLst>
              <a:gd name="adj" fmla="val 4321"/>
            </a:avLst>
          </a:prstGeom>
          <a:solidFill>
            <a:srgbClr val="F8EBEE"/>
          </a:solidFill>
          <a:ln w="12700">
            <a:solidFill>
              <a:srgbClr val="F8EBEE"/>
            </a:solidFill>
            <a:prstDash val="solid"/>
          </a:ln>
        </p:spPr>
      </p:sp>
      <p:sp>
        <p:nvSpPr>
          <p:cNvPr id="27" name="Text 25"/>
          <p:cNvSpPr txBox="1"/>
          <p:nvPr/>
        </p:nvSpPr>
        <p:spPr>
          <a:xfrm>
            <a:off x="868680" y="4590288"/>
            <a:ext cx="4709160" cy="292608"/>
          </a:xfrm>
          <a:prstGeom prst="rect">
            <a:avLst/>
          </a:prstGeom>
          <a:noFill/>
          <a:ln/>
        </p:spPr>
        <p:txBody>
          <a:bodyPr wrap="square" lIns="0" tIns="0" rIns="0" bIns="0" rtlCol="0" anchor="ctr"/>
          <a:lstStyle/>
          <a:p>
            <a:pPr indent="0" marL="0">
              <a:buNone/>
            </a:pPr>
            <a:r>
              <a:rPr lang="en-US" sz="1350" b="1" dirty="0">
                <a:solidFill>
                  <a:srgbClr val="9E1B32"/>
                </a:solidFill>
                <a:latin typeface="Cambria" pitchFamily="34" charset="0"/>
                <a:ea typeface="Cambria" pitchFamily="34" charset="-122"/>
                <a:cs typeface="Cambria" pitchFamily="34" charset="-120"/>
              </a:rPr>
              <a:t>Ex.  Team 18  —  overall rank 1</a:t>
            </a:r>
            <a:endParaRPr lang="en-US" sz="1350" dirty="0"/>
          </a:p>
        </p:txBody>
      </p:sp>
      <p:sp>
        <p:nvSpPr>
          <p:cNvPr id="28" name="Text 26"/>
          <p:cNvSpPr txBox="1"/>
          <p:nvPr/>
        </p:nvSpPr>
        <p:spPr>
          <a:xfrm>
            <a:off x="868680" y="4901184"/>
            <a:ext cx="4709160" cy="292608"/>
          </a:xfrm>
          <a:prstGeom prst="rect">
            <a:avLst/>
          </a:prstGeom>
          <a:noFill/>
          <a:ln/>
        </p:spPr>
        <p:txBody>
          <a:bodyPr wrap="square" lIns="0" tIns="0" rIns="0" bIns="0" rtlCol="0" anchor="ctr"/>
          <a:lstStyle/>
          <a:p>
            <a:pPr indent="0" marL="0">
              <a:buNone/>
            </a:pPr>
            <a:r>
              <a:rPr lang="en-US" sz="1150" b="1" dirty="0">
                <a:solidFill>
                  <a:srgbClr val="16232B"/>
                </a:solidFill>
                <a:latin typeface="Calibri" pitchFamily="34" charset="0"/>
                <a:ea typeface="Calibri" pitchFamily="34" charset="-122"/>
                <a:cs typeface="Calibri" pitchFamily="34" charset="-120"/>
              </a:rPr>
              <a:t>elsewhere · synthesis yes · noise no · optimization yes · swapping no</a:t>
            </a:r>
            <a:endParaRPr lang="en-US" sz="1150" dirty="0"/>
          </a:p>
        </p:txBody>
      </p:sp>
      <p:sp>
        <p:nvSpPr>
          <p:cNvPr id="29" name="Text 27"/>
          <p:cNvSpPr txBox="1"/>
          <p:nvPr/>
        </p:nvSpPr>
        <p:spPr>
          <a:xfrm>
            <a:off x="868680" y="5212080"/>
            <a:ext cx="4709160" cy="658368"/>
          </a:xfrm>
          <a:prstGeom prst="rect">
            <a:avLst/>
          </a:prstGeom>
          <a:noFill/>
          <a:ln/>
        </p:spPr>
        <p:txBody>
          <a:bodyPr wrap="square" lIns="0" tIns="0" rIns="0" bIns="0" rtlCol="0" anchor="t"/>
          <a:lstStyle/>
          <a:p>
            <a:pPr indent="0" marL="0">
              <a:lnSpc>
                <a:spcPts val="1400"/>
              </a:lnSpc>
              <a:buNone/>
            </a:pPr>
            <a:r>
              <a:rPr lang="en-US" sz="1150" dirty="0">
                <a:solidFill>
                  <a:srgbClr val="56666E"/>
                </a:solidFill>
                <a:latin typeface="Calibri" pitchFamily="34" charset="0"/>
                <a:ea typeface="Calibri" pitchFamily="34" charset="-122"/>
                <a:cs typeface="Calibri" pitchFamily="34" charset="-120"/>
              </a:rPr>
              <a:t>Inferred Synthea's parameters with a generative model, built a pseudo-population, then picked its best 10,000 rows by simulated annealing.</a:t>
            </a:r>
            <a:endParaRPr lang="en-US" sz="1150" dirty="0"/>
          </a:p>
        </p:txBody>
      </p:sp>
      <p:sp>
        <p:nvSpPr>
          <p:cNvPr id="30" name="Shape 28"/>
          <p:cNvSpPr/>
          <p:nvPr/>
        </p:nvSpPr>
        <p:spPr>
          <a:xfrm>
            <a:off x="6291072" y="4480560"/>
            <a:ext cx="5349240" cy="1481328"/>
          </a:xfrm>
          <a:prstGeom prst="roundRect">
            <a:avLst>
              <a:gd name="adj" fmla="val 4321"/>
            </a:avLst>
          </a:prstGeom>
          <a:solidFill>
            <a:srgbClr val="F8EBEE"/>
          </a:solidFill>
          <a:ln w="12700">
            <a:solidFill>
              <a:srgbClr val="F8EBEE"/>
            </a:solidFill>
            <a:prstDash val="solid"/>
          </a:ln>
        </p:spPr>
      </p:sp>
      <p:sp>
        <p:nvSpPr>
          <p:cNvPr id="31" name="Text 29"/>
          <p:cNvSpPr txBox="1"/>
          <p:nvPr/>
        </p:nvSpPr>
        <p:spPr>
          <a:xfrm>
            <a:off x="6611112" y="4590288"/>
            <a:ext cx="4709160" cy="292608"/>
          </a:xfrm>
          <a:prstGeom prst="rect">
            <a:avLst/>
          </a:prstGeom>
          <a:noFill/>
          <a:ln/>
        </p:spPr>
        <p:txBody>
          <a:bodyPr wrap="square" lIns="0" tIns="0" rIns="0" bIns="0" rtlCol="0" anchor="ctr"/>
          <a:lstStyle/>
          <a:p>
            <a:pPr indent="0" marL="0">
              <a:buNone/>
            </a:pPr>
            <a:r>
              <a:rPr lang="en-US" sz="1350" b="1" dirty="0">
                <a:solidFill>
                  <a:srgbClr val="9E1B32"/>
                </a:solidFill>
                <a:latin typeface="Cambria" pitchFamily="34" charset="0"/>
                <a:ea typeface="Cambria" pitchFamily="34" charset="-122"/>
                <a:cs typeface="Cambria" pitchFamily="34" charset="-120"/>
              </a:rPr>
              <a:t>Ex.  Team 8  —  best attack score</a:t>
            </a:r>
            <a:endParaRPr lang="en-US" sz="1350" dirty="0"/>
          </a:p>
        </p:txBody>
      </p:sp>
      <p:sp>
        <p:nvSpPr>
          <p:cNvPr id="32" name="Text 30"/>
          <p:cNvSpPr txBox="1"/>
          <p:nvPr/>
        </p:nvSpPr>
        <p:spPr>
          <a:xfrm>
            <a:off x="6611112" y="4901184"/>
            <a:ext cx="4709160" cy="292608"/>
          </a:xfrm>
          <a:prstGeom prst="rect">
            <a:avLst/>
          </a:prstGeom>
          <a:noFill/>
          <a:ln/>
        </p:spPr>
        <p:txBody>
          <a:bodyPr wrap="square" lIns="0" tIns="0" rIns="0" bIns="0" rtlCol="0" anchor="ctr"/>
          <a:lstStyle/>
          <a:p>
            <a:pPr indent="0" marL="0">
              <a:buNone/>
            </a:pPr>
            <a:r>
              <a:rPr lang="en-US" sz="1150" b="1" dirty="0">
                <a:solidFill>
                  <a:srgbClr val="16232B"/>
                </a:solidFill>
                <a:latin typeface="Calibri" pitchFamily="34" charset="0"/>
                <a:ea typeface="Calibri" pitchFamily="34" charset="-122"/>
                <a:cs typeface="Calibri" pitchFamily="34" charset="-120"/>
              </a:rPr>
              <a:t>anonymized data only · attacker-trained model yes · non-default distance no</a:t>
            </a:r>
            <a:endParaRPr lang="en-US" sz="1150" dirty="0"/>
          </a:p>
        </p:txBody>
      </p:sp>
      <p:sp>
        <p:nvSpPr>
          <p:cNvPr id="33" name="Text 31"/>
          <p:cNvSpPr txBox="1"/>
          <p:nvPr/>
        </p:nvSpPr>
        <p:spPr>
          <a:xfrm>
            <a:off x="6611112" y="5212080"/>
            <a:ext cx="4709160" cy="658368"/>
          </a:xfrm>
          <a:prstGeom prst="rect">
            <a:avLst/>
          </a:prstGeom>
          <a:noFill/>
          <a:ln/>
        </p:spPr>
        <p:txBody>
          <a:bodyPr wrap="square" lIns="0" tIns="0" rIns="0" bIns="0" rtlCol="0" anchor="t"/>
          <a:lstStyle/>
          <a:p>
            <a:pPr indent="0" marL="0">
              <a:lnSpc>
                <a:spcPts val="1400"/>
              </a:lnSpc>
              <a:buNone/>
            </a:pPr>
            <a:r>
              <a:rPr lang="en-US" sz="1150" dirty="0">
                <a:solidFill>
                  <a:srgbClr val="56666E"/>
                </a:solidFill>
                <a:latin typeface="Calibri" pitchFamily="34" charset="0"/>
                <a:ea typeface="Calibri" pitchFamily="34" charset="-122"/>
                <a:cs typeface="Calibri" pitchFamily="34" charset="-120"/>
              </a:rPr>
              <a:t>A Gaussian LiRA combined with a distance attack on covariance-augmented data.</a:t>
            </a:r>
            <a:endParaRPr lang="en-US" sz="1150" dirty="0"/>
          </a:p>
        </p:txBody>
      </p:sp>
      <p:sp>
        <p:nvSpPr>
          <p:cNvPr id="34" name="Text 32"/>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35" name="Text 33"/>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Three questions — and how we test them with n = 20</a:t>
            </a:r>
            <a:endParaRPr lang="en-US" sz="2700" dirty="0"/>
          </a:p>
        </p:txBody>
      </p:sp>
      <p:sp>
        <p:nvSpPr>
          <p:cNvPr id="3" name="Shape 1"/>
          <p:cNvSpPr/>
          <p:nvPr/>
        </p:nvSpPr>
        <p:spPr>
          <a:xfrm>
            <a:off x="548640" y="1280160"/>
            <a:ext cx="3538728" cy="1965960"/>
          </a:xfrm>
          <a:prstGeom prst="roundRect">
            <a:avLst>
              <a:gd name="adj" fmla="val 3256"/>
            </a:avLst>
          </a:prstGeom>
          <a:solidFill>
            <a:srgbClr val="16232B"/>
          </a:solidFill>
          <a:ln w="12700">
            <a:solidFill>
              <a:srgbClr val="16232B"/>
            </a:solidFill>
            <a:prstDash val="solid"/>
          </a:ln>
        </p:spPr>
      </p:sp>
      <p:sp>
        <p:nvSpPr>
          <p:cNvPr id="4" name="Text 2"/>
          <p:cNvSpPr txBox="1"/>
          <p:nvPr/>
        </p:nvSpPr>
        <p:spPr>
          <a:xfrm>
            <a:off x="804672" y="1426464"/>
            <a:ext cx="3017520" cy="384048"/>
          </a:xfrm>
          <a:prstGeom prst="rect">
            <a:avLst/>
          </a:prstGeom>
          <a:noFill/>
          <a:ln/>
        </p:spPr>
        <p:txBody>
          <a:bodyPr wrap="square" lIns="0" tIns="0" rIns="0" bIns="0" rtlCol="0" anchor="ctr"/>
          <a:lstStyle/>
          <a:p>
            <a:pPr indent="0" marL="0">
              <a:buNone/>
            </a:pPr>
            <a:r>
              <a:rPr lang="en-US" sz="1800" b="1" dirty="0">
                <a:solidFill>
                  <a:srgbClr val="D8798A"/>
                </a:solidFill>
                <a:latin typeface="Cambria" pitchFamily="34" charset="0"/>
                <a:ea typeface="Cambria" pitchFamily="34" charset="-122"/>
                <a:cs typeface="Cambria" pitchFamily="34" charset="-120"/>
              </a:rPr>
              <a:t>H1</a:t>
            </a:r>
            <a:endParaRPr lang="en-US" sz="1800" dirty="0"/>
          </a:p>
        </p:txBody>
      </p:sp>
      <p:sp>
        <p:nvSpPr>
          <p:cNvPr id="5" name="Text 3"/>
          <p:cNvSpPr txBox="1"/>
          <p:nvPr/>
        </p:nvSpPr>
        <p:spPr>
          <a:xfrm>
            <a:off x="804672" y="1883664"/>
            <a:ext cx="3063240" cy="123444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Do generation- and reconstruction-based designs beat direct perturbation — on utility and on anonymization?</a:t>
            </a:r>
            <a:endParaRPr lang="en-US" sz="1300" dirty="0"/>
          </a:p>
        </p:txBody>
      </p:sp>
      <p:sp>
        <p:nvSpPr>
          <p:cNvPr id="6" name="Shape 4"/>
          <p:cNvSpPr/>
          <p:nvPr/>
        </p:nvSpPr>
        <p:spPr>
          <a:xfrm>
            <a:off x="4325112" y="1280160"/>
            <a:ext cx="3538728" cy="1965960"/>
          </a:xfrm>
          <a:prstGeom prst="roundRect">
            <a:avLst>
              <a:gd name="adj" fmla="val 3256"/>
            </a:avLst>
          </a:prstGeom>
          <a:solidFill>
            <a:srgbClr val="16232B"/>
          </a:solidFill>
          <a:ln w="12700">
            <a:solidFill>
              <a:srgbClr val="16232B"/>
            </a:solidFill>
            <a:prstDash val="solid"/>
          </a:ln>
        </p:spPr>
      </p:sp>
      <p:sp>
        <p:nvSpPr>
          <p:cNvPr id="7" name="Text 5"/>
          <p:cNvSpPr txBox="1"/>
          <p:nvPr/>
        </p:nvSpPr>
        <p:spPr>
          <a:xfrm>
            <a:off x="4581144" y="1426464"/>
            <a:ext cx="3017520" cy="384048"/>
          </a:xfrm>
          <a:prstGeom prst="rect">
            <a:avLst/>
          </a:prstGeom>
          <a:noFill/>
          <a:ln/>
        </p:spPr>
        <p:txBody>
          <a:bodyPr wrap="square" lIns="0" tIns="0" rIns="0" bIns="0" rtlCol="0" anchor="ctr"/>
          <a:lstStyle/>
          <a:p>
            <a:pPr indent="0" marL="0">
              <a:buNone/>
            </a:pPr>
            <a:r>
              <a:rPr lang="en-US" sz="1800" b="1" dirty="0">
                <a:solidFill>
                  <a:srgbClr val="D8798A"/>
                </a:solidFill>
                <a:latin typeface="Cambria" pitchFamily="34" charset="0"/>
                <a:ea typeface="Cambria" pitchFamily="34" charset="-122"/>
                <a:cs typeface="Cambria" pitchFamily="34" charset="-120"/>
              </a:rPr>
              <a:t>H2-1</a:t>
            </a:r>
            <a:endParaRPr lang="en-US" sz="1800" dirty="0"/>
          </a:p>
        </p:txBody>
      </p:sp>
      <p:sp>
        <p:nvSpPr>
          <p:cNvPr id="8" name="Text 6"/>
          <p:cNvSpPr txBox="1"/>
          <p:nvPr/>
        </p:nvSpPr>
        <p:spPr>
          <a:xfrm>
            <a:off x="4581144" y="1883664"/>
            <a:ext cx="3063240" cy="123444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Does an anonymization design become vulnerable when the attacker also uses the released XGBoost model?</a:t>
            </a:r>
            <a:endParaRPr lang="en-US" sz="1300" dirty="0"/>
          </a:p>
        </p:txBody>
      </p:sp>
      <p:sp>
        <p:nvSpPr>
          <p:cNvPr id="9" name="Shape 7"/>
          <p:cNvSpPr/>
          <p:nvPr/>
        </p:nvSpPr>
        <p:spPr>
          <a:xfrm>
            <a:off x="8101584" y="1280160"/>
            <a:ext cx="3538728" cy="1965960"/>
          </a:xfrm>
          <a:prstGeom prst="roundRect">
            <a:avLst>
              <a:gd name="adj" fmla="val 3256"/>
            </a:avLst>
          </a:prstGeom>
          <a:solidFill>
            <a:srgbClr val="16232B"/>
          </a:solidFill>
          <a:ln w="12700">
            <a:solidFill>
              <a:srgbClr val="16232B"/>
            </a:solidFill>
            <a:prstDash val="solid"/>
          </a:ln>
        </p:spPr>
      </p:sp>
      <p:sp>
        <p:nvSpPr>
          <p:cNvPr id="10" name="Text 8"/>
          <p:cNvSpPr txBox="1"/>
          <p:nvPr/>
        </p:nvSpPr>
        <p:spPr>
          <a:xfrm>
            <a:off x="8357616" y="1426464"/>
            <a:ext cx="3017520" cy="384048"/>
          </a:xfrm>
          <a:prstGeom prst="rect">
            <a:avLst/>
          </a:prstGeom>
          <a:noFill/>
          <a:ln/>
        </p:spPr>
        <p:txBody>
          <a:bodyPr wrap="square" lIns="0" tIns="0" rIns="0" bIns="0" rtlCol="0" anchor="ctr"/>
          <a:lstStyle/>
          <a:p>
            <a:pPr indent="0" marL="0">
              <a:buNone/>
            </a:pPr>
            <a:r>
              <a:rPr lang="en-US" sz="1800" b="1" dirty="0">
                <a:solidFill>
                  <a:srgbClr val="D8798A"/>
                </a:solidFill>
                <a:latin typeface="Cambria" pitchFamily="34" charset="0"/>
                <a:ea typeface="Cambria" pitchFamily="34" charset="-122"/>
                <a:cs typeface="Cambria" pitchFamily="34" charset="-120"/>
              </a:rPr>
              <a:t>H2-2</a:t>
            </a:r>
            <a:endParaRPr lang="en-US" sz="1800" dirty="0"/>
          </a:p>
        </p:txBody>
      </p:sp>
      <p:sp>
        <p:nvSpPr>
          <p:cNvPr id="11" name="Text 9"/>
          <p:cNvSpPr txBox="1"/>
          <p:nvPr/>
        </p:nvSpPr>
        <p:spPr>
          <a:xfrm>
            <a:off x="8357616" y="1883664"/>
            <a:ext cx="3063240" cy="123444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Does it become vulnerable when the attacker trains its own membership model on the anonymized data — LiRA, RMIA?</a:t>
            </a:r>
            <a:endParaRPr lang="en-US" sz="1300" dirty="0"/>
          </a:p>
        </p:txBody>
      </p:sp>
      <p:sp>
        <p:nvSpPr>
          <p:cNvPr id="12" name="Shape 10"/>
          <p:cNvSpPr/>
          <p:nvPr/>
        </p:nvSpPr>
        <p:spPr>
          <a:xfrm>
            <a:off x="548640" y="3493008"/>
            <a:ext cx="3538728" cy="2103120"/>
          </a:xfrm>
          <a:prstGeom prst="roundRect">
            <a:avLst>
              <a:gd name="adj" fmla="val 3043"/>
            </a:avLst>
          </a:prstGeom>
          <a:solidFill>
            <a:srgbClr val="FFFFFF"/>
          </a:solidFill>
          <a:ln w="12700">
            <a:solidFill>
              <a:srgbClr val="E1E7EA"/>
            </a:solidFill>
            <a:prstDash val="solid"/>
          </a:ln>
        </p:spPr>
      </p:sp>
      <p:sp>
        <p:nvSpPr>
          <p:cNvPr id="13" name="Text 11"/>
          <p:cNvSpPr txBox="1"/>
          <p:nvPr/>
        </p:nvSpPr>
        <p:spPr>
          <a:xfrm>
            <a:off x="804672" y="3639312"/>
            <a:ext cx="3063240" cy="457200"/>
          </a:xfrm>
          <a:prstGeom prst="rect">
            <a:avLst/>
          </a:prstGeom>
          <a:noFill/>
          <a:ln/>
        </p:spPr>
        <p:txBody>
          <a:bodyPr wrap="square" lIns="0" tIns="0" rIns="0" bIns="0" rtlCol="0" anchor="ctr"/>
          <a:lstStyle/>
          <a:p>
            <a:pPr indent="0" marL="0">
              <a:buNone/>
            </a:pPr>
            <a:r>
              <a:rPr lang="en-US" sz="1500" b="1" dirty="0">
                <a:solidFill>
                  <a:srgbClr val="9E1B32"/>
                </a:solidFill>
                <a:latin typeface="Cambria" pitchFamily="34" charset="0"/>
                <a:ea typeface="Cambria" pitchFamily="34" charset="-122"/>
                <a:cs typeface="Cambria" pitchFamily="34" charset="-120"/>
              </a:rPr>
              <a:t>Effect sizes</a:t>
            </a:r>
            <a:endParaRPr lang="en-US" sz="1500" dirty="0"/>
          </a:p>
        </p:txBody>
      </p:sp>
      <p:sp>
        <p:nvSpPr>
          <p:cNvPr id="14" name="Text 12"/>
          <p:cNvSpPr txBox="1"/>
          <p:nvPr/>
        </p:nvSpPr>
        <p:spPr>
          <a:xfrm>
            <a:off x="804672" y="4133088"/>
            <a:ext cx="3063240" cy="1325880"/>
          </a:xfrm>
          <a:prstGeom prst="rect">
            <a:avLst/>
          </a:prstGeom>
          <a:noFill/>
          <a:ln/>
        </p:spPr>
        <p:txBody>
          <a:bodyPr wrap="square" lIns="0" tIns="0" rIns="0" bIns="0" rtlCol="0" anchor="t"/>
          <a:lstStyle/>
          <a:p>
            <a:pPr indent="0" marL="0">
              <a:lnSpc>
                <a:spcPts val="1500"/>
              </a:lnSpc>
              <a:buNone/>
            </a:pPr>
            <a:r>
              <a:rPr lang="en-US" sz="1200" dirty="0">
                <a:solidFill>
                  <a:srgbClr val="16232B"/>
                </a:solidFill>
                <a:latin typeface="Calibri" pitchFamily="34" charset="0"/>
                <a:ea typeface="Calibri" pitchFamily="34" charset="-122"/>
                <a:cs typeface="Calibri" pitchFamily="34" charset="-120"/>
              </a:rPr>
              <a:t>Hedges' g across the 20 teams, corrected for the small sample. |g| above 0.8 is a large effect.</a:t>
            </a:r>
            <a:endParaRPr lang="en-US" sz="1200" dirty="0"/>
          </a:p>
        </p:txBody>
      </p:sp>
      <p:sp>
        <p:nvSpPr>
          <p:cNvPr id="15" name="Shape 13"/>
          <p:cNvSpPr/>
          <p:nvPr/>
        </p:nvSpPr>
        <p:spPr>
          <a:xfrm>
            <a:off x="4325112" y="3493008"/>
            <a:ext cx="3538728" cy="2103120"/>
          </a:xfrm>
          <a:prstGeom prst="roundRect">
            <a:avLst>
              <a:gd name="adj" fmla="val 3043"/>
            </a:avLst>
          </a:prstGeom>
          <a:solidFill>
            <a:srgbClr val="FFFFFF"/>
          </a:solidFill>
          <a:ln w="12700">
            <a:solidFill>
              <a:srgbClr val="E1E7EA"/>
            </a:solidFill>
            <a:prstDash val="solid"/>
          </a:ln>
        </p:spPr>
      </p:sp>
      <p:sp>
        <p:nvSpPr>
          <p:cNvPr id="16" name="Text 14"/>
          <p:cNvSpPr txBox="1"/>
          <p:nvPr/>
        </p:nvSpPr>
        <p:spPr>
          <a:xfrm>
            <a:off x="4581144" y="3639312"/>
            <a:ext cx="3063240" cy="457200"/>
          </a:xfrm>
          <a:prstGeom prst="rect">
            <a:avLst/>
          </a:prstGeom>
          <a:noFill/>
          <a:ln/>
        </p:spPr>
        <p:txBody>
          <a:bodyPr wrap="square" lIns="0" tIns="0" rIns="0" bIns="0" rtlCol="0" anchor="ctr"/>
          <a:lstStyle/>
          <a:p>
            <a:pPr indent="0" marL="0">
              <a:buNone/>
            </a:pPr>
            <a:r>
              <a:rPr lang="en-US" sz="1500" b="1" dirty="0">
                <a:solidFill>
                  <a:srgbClr val="9E1B32"/>
                </a:solidFill>
                <a:latin typeface="Cambria" pitchFamily="34" charset="0"/>
                <a:ea typeface="Cambria" pitchFamily="34" charset="-122"/>
                <a:cs typeface="Cambria" pitchFamily="34" charset="-120"/>
              </a:rPr>
              <a:t>Regression model search</a:t>
            </a:r>
            <a:endParaRPr lang="en-US" sz="1500" dirty="0"/>
          </a:p>
        </p:txBody>
      </p:sp>
      <p:sp>
        <p:nvSpPr>
          <p:cNvPr id="17" name="Text 15"/>
          <p:cNvSpPr txBox="1"/>
          <p:nvPr/>
        </p:nvSpPr>
        <p:spPr>
          <a:xfrm>
            <a:off x="4581144" y="4133088"/>
            <a:ext cx="3063240" cy="1325880"/>
          </a:xfrm>
          <a:prstGeom prst="rect">
            <a:avLst/>
          </a:prstGeom>
          <a:noFill/>
          <a:ln/>
        </p:spPr>
        <p:txBody>
          <a:bodyPr wrap="square" lIns="0" tIns="0" rIns="0" bIns="0" rtlCol="0" anchor="t"/>
          <a:lstStyle/>
          <a:p>
            <a:pPr indent="0" marL="0">
              <a:lnSpc>
                <a:spcPts val="1500"/>
              </a:lnSpc>
              <a:buNone/>
            </a:pPr>
            <a:r>
              <a:rPr lang="en-US" sz="1200" dirty="0">
                <a:solidFill>
                  <a:srgbClr val="16232B"/>
                </a:solidFill>
                <a:latin typeface="Calibri" pitchFamily="34" charset="0"/>
                <a:ea typeface="Calibri" pitchFamily="34" charset="-122"/>
                <a:cs typeface="Calibri" pitchFamily="34" charset="-120"/>
              </a:rPr>
              <a:t>A large univariate effect can come from a feature's correlation with another coded feature. The AICc search checks whether it survives with the others in the model.</a:t>
            </a:r>
            <a:endParaRPr lang="en-US" sz="1200" dirty="0"/>
          </a:p>
        </p:txBody>
      </p:sp>
      <p:sp>
        <p:nvSpPr>
          <p:cNvPr id="18" name="Shape 16"/>
          <p:cNvSpPr/>
          <p:nvPr/>
        </p:nvSpPr>
        <p:spPr>
          <a:xfrm>
            <a:off x="8101584" y="3493008"/>
            <a:ext cx="3538728" cy="2103120"/>
          </a:xfrm>
          <a:prstGeom prst="roundRect">
            <a:avLst>
              <a:gd name="adj" fmla="val 3043"/>
            </a:avLst>
          </a:prstGeom>
          <a:solidFill>
            <a:srgbClr val="FFFFFF"/>
          </a:solidFill>
          <a:ln w="12700">
            <a:solidFill>
              <a:srgbClr val="E1E7EA"/>
            </a:solidFill>
            <a:prstDash val="solid"/>
          </a:ln>
        </p:spPr>
      </p:sp>
      <p:sp>
        <p:nvSpPr>
          <p:cNvPr id="19" name="Text 17"/>
          <p:cNvSpPr txBox="1"/>
          <p:nvPr/>
        </p:nvSpPr>
        <p:spPr>
          <a:xfrm>
            <a:off x="8357616" y="3639312"/>
            <a:ext cx="3063240" cy="457200"/>
          </a:xfrm>
          <a:prstGeom prst="rect">
            <a:avLst/>
          </a:prstGeom>
          <a:noFill/>
          <a:ln/>
        </p:spPr>
        <p:txBody>
          <a:bodyPr wrap="square" lIns="0" tIns="0" rIns="0" bIns="0" rtlCol="0" anchor="ctr"/>
          <a:lstStyle/>
          <a:p>
            <a:pPr indent="0" marL="0">
              <a:buNone/>
            </a:pPr>
            <a:r>
              <a:rPr lang="en-US" sz="1500" b="1" dirty="0">
                <a:solidFill>
                  <a:srgbClr val="9E1B32"/>
                </a:solidFill>
                <a:latin typeface="Cambria" pitchFamily="34" charset="0"/>
                <a:ea typeface="Cambria" pitchFamily="34" charset="-122"/>
                <a:cs typeface="Cambria" pitchFamily="34" charset="-120"/>
              </a:rPr>
              <a:t>Dyadic model</a:t>
            </a:r>
            <a:endParaRPr lang="en-US" sz="1500" dirty="0"/>
          </a:p>
        </p:txBody>
      </p:sp>
      <p:sp>
        <p:nvSpPr>
          <p:cNvPr id="20" name="Text 18"/>
          <p:cNvSpPr txBox="1"/>
          <p:nvPr/>
        </p:nvSpPr>
        <p:spPr>
          <a:xfrm>
            <a:off x="8357616" y="4133088"/>
            <a:ext cx="3063240" cy="1325880"/>
          </a:xfrm>
          <a:prstGeom prst="rect">
            <a:avLst/>
          </a:prstGeom>
          <a:noFill/>
          <a:ln/>
        </p:spPr>
        <p:txBody>
          <a:bodyPr wrap="square" lIns="0" tIns="0" rIns="0" bIns="0" rtlCol="0" anchor="t"/>
          <a:lstStyle/>
          <a:p>
            <a:pPr indent="0" marL="0">
              <a:lnSpc>
                <a:spcPts val="1500"/>
              </a:lnSpc>
              <a:buNone/>
            </a:pPr>
            <a:r>
              <a:rPr lang="en-US" sz="1200" dirty="0">
                <a:solidFill>
                  <a:srgbClr val="16232B"/>
                </a:solidFill>
                <a:latin typeface="Calibri" pitchFamily="34" charset="0"/>
                <a:ea typeface="Calibri" pitchFamily="34" charset="-122"/>
                <a:cs typeface="Calibri" pitchFamily="34" charset="-120"/>
              </a:rPr>
              <a:t>Negative binomial over all 361 ordered victim-attacker pairs, so the pairing itself is in the model. Errors clustered by attacker and by victim.</a:t>
            </a:r>
            <a:endParaRPr lang="en-US" sz="1200" dirty="0"/>
          </a:p>
        </p:txBody>
      </p:sp>
      <p:sp>
        <p:nvSpPr>
          <p:cNvPr id="21" name="Text 19"/>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22" name="Text 20"/>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H1: reconstructing beat perturbing — on both scores</a:t>
            </a:r>
            <a:endParaRPr lang="en-US" sz="2700" dirty="0"/>
          </a:p>
        </p:txBody>
      </p:sp>
      <p:sp>
        <p:nvSpPr>
          <p:cNvPr id="3" name="Shape 1"/>
          <p:cNvSpPr/>
          <p:nvPr/>
        </p:nvSpPr>
        <p:spPr>
          <a:xfrm>
            <a:off x="502920" y="1271016"/>
            <a:ext cx="7287768" cy="4215384"/>
          </a:xfrm>
          <a:prstGeom prst="roundRect">
            <a:avLst>
              <a:gd name="adj" fmla="val 1518"/>
            </a:avLst>
          </a:prstGeom>
          <a:solidFill>
            <a:srgbClr val="EEF1F3"/>
          </a:solidFill>
          <a:ln w="12700">
            <a:solidFill>
              <a:srgbClr val="EEF1F3"/>
            </a:solidFill>
            <a:prstDash val="solid"/>
          </a:ln>
        </p:spPr>
      </p:sp>
      <p:pic>
        <p:nvPicPr>
          <p:cNvPr id="4" name="Image 0" descr="C:/Users/kikus/OneDrive/20260904_PSD/slide_figs/h1_forest_color.png">    </p:cNvPr>
          <p:cNvPicPr>
            <a:picLocks noChangeAspect="1"/>
          </p:cNvPicPr>
          <p:nvPr/>
        </p:nvPicPr>
        <p:blipFill>
          <a:blip r:embed="rId1"/>
          <a:stretch>
            <a:fillRect/>
          </a:stretch>
        </p:blipFill>
        <p:spPr>
          <a:xfrm>
            <a:off x="603504" y="1371600"/>
            <a:ext cx="7086600" cy="4014216"/>
          </a:xfrm>
          <a:prstGeom prst="rect">
            <a:avLst/>
          </a:prstGeom>
        </p:spPr>
      </p:pic>
      <p:sp>
        <p:nvSpPr>
          <p:cNvPr id="5" name="Text 2"/>
          <p:cNvSpPr txBox="1"/>
          <p:nvPr/>
        </p:nvSpPr>
        <p:spPr>
          <a:xfrm>
            <a:off x="603504" y="5504688"/>
            <a:ext cx="7086600" cy="365760"/>
          </a:xfrm>
          <a:prstGeom prst="rect">
            <a:avLst/>
          </a:prstGeom>
          <a:noFill/>
          <a:ln/>
        </p:spPr>
        <p:txBody>
          <a:bodyPr wrap="square" lIns="0" tIns="0" rIns="0" bIns="0" rtlCol="0" anchor="t"/>
          <a:lstStyle/>
          <a:p>
            <a:pPr indent="0" marL="0">
              <a:lnSpc>
                <a:spcPts val="1300"/>
              </a:lnSpc>
              <a:buNone/>
            </a:pPr>
            <a:r>
              <a:rPr lang="en-US" sz="1050" dirty="0">
                <a:solidFill>
                  <a:srgbClr val="93A5AD"/>
                </a:solidFill>
                <a:latin typeface="Calibri" pitchFamily="34" charset="0"/>
                <a:ea typeface="Calibri" pitchFamily="34" charset="-122"/>
                <a:cs typeface="Calibri" pitchFamily="34" charset="-120"/>
              </a:rPr>
              <a:t>Hedges' g across 20 teams. Dashed lines mark |g| = 0.8, the conventional threshold for a large effect.</a:t>
            </a:r>
            <a:endParaRPr lang="en-US" sz="1050" dirty="0"/>
          </a:p>
        </p:txBody>
      </p:sp>
      <p:sp>
        <p:nvSpPr>
          <p:cNvPr id="6" name="Shape 3"/>
          <p:cNvSpPr/>
          <p:nvPr/>
        </p:nvSpPr>
        <p:spPr>
          <a:xfrm>
            <a:off x="7973568" y="1271016"/>
            <a:ext cx="3666744" cy="3611880"/>
          </a:xfrm>
          <a:prstGeom prst="roundRect">
            <a:avLst>
              <a:gd name="adj" fmla="val 1772"/>
            </a:avLst>
          </a:prstGeom>
          <a:solidFill>
            <a:srgbClr val="EEF1F3"/>
          </a:solidFill>
          <a:ln w="12700">
            <a:solidFill>
              <a:srgbClr val="EEF1F3"/>
            </a:solidFill>
            <a:prstDash val="solid"/>
          </a:ln>
        </p:spPr>
      </p:sp>
      <p:sp>
        <p:nvSpPr>
          <p:cNvPr id="7" name="Text 4"/>
          <p:cNvSpPr txBox="1"/>
          <p:nvPr/>
        </p:nvSpPr>
        <p:spPr>
          <a:xfrm>
            <a:off x="8229600" y="1463040"/>
            <a:ext cx="3154680" cy="274320"/>
          </a:xfrm>
          <a:prstGeom prst="rect">
            <a:avLst/>
          </a:prstGeom>
          <a:noFill/>
          <a:ln/>
        </p:spPr>
        <p:txBody>
          <a:bodyPr wrap="square" lIns="0" tIns="0" rIns="0" bIns="0" rtlCol="0" anchor="ctr"/>
          <a:lstStyle/>
          <a:p>
            <a:pPr indent="0" marL="0">
              <a:buNone/>
            </a:pPr>
            <a:r>
              <a:rPr lang="en-US" sz="1350" b="1" dirty="0">
                <a:solidFill>
                  <a:srgbClr val="16232B"/>
                </a:solidFill>
                <a:latin typeface="Calibri" pitchFamily="34" charset="0"/>
                <a:ea typeface="Calibri" pitchFamily="34" charset="-122"/>
                <a:cs typeface="Calibri" pitchFamily="34" charset="-120"/>
              </a:rPr>
              <a:t>Base  (B → elsewhere)</a:t>
            </a:r>
            <a:endParaRPr lang="en-US" sz="1350" dirty="0"/>
          </a:p>
        </p:txBody>
      </p:sp>
      <p:sp>
        <p:nvSpPr>
          <p:cNvPr id="8" name="Text 5"/>
          <p:cNvSpPr txBox="1"/>
          <p:nvPr/>
        </p:nvSpPr>
        <p:spPr>
          <a:xfrm>
            <a:off x="8229600" y="1709928"/>
            <a:ext cx="3154680" cy="274320"/>
          </a:xfrm>
          <a:prstGeom prst="rect">
            <a:avLst/>
          </a:prstGeom>
          <a:noFill/>
          <a:ln/>
        </p:spPr>
        <p:txBody>
          <a:bodyPr wrap="square" lIns="0" tIns="0" rIns="0" bIns="0" rtlCol="0" anchor="ctr"/>
          <a:lstStyle/>
          <a:p>
            <a:pPr indent="0" marL="0">
              <a:buNone/>
            </a:pPr>
            <a:r>
              <a:rPr lang="en-US" sz="1250" dirty="0">
                <a:solidFill>
                  <a:srgbClr val="9E1B32"/>
                </a:solidFill>
                <a:latin typeface="Calibri" pitchFamily="34" charset="0"/>
                <a:ea typeface="Calibri" pitchFamily="34" charset="-122"/>
                <a:cs typeface="Calibri" pitchFamily="34" charset="-120"/>
              </a:rPr>
              <a:t>utility  +1.55</a:t>
            </a:r>
            <a:endParaRPr lang="en-US" sz="1250" dirty="0"/>
          </a:p>
        </p:txBody>
      </p:sp>
      <p:sp>
        <p:nvSpPr>
          <p:cNvPr id="9" name="Text 6"/>
          <p:cNvSpPr txBox="1"/>
          <p:nvPr/>
        </p:nvSpPr>
        <p:spPr>
          <a:xfrm>
            <a:off x="8229600" y="2103120"/>
            <a:ext cx="3154680" cy="274320"/>
          </a:xfrm>
          <a:prstGeom prst="rect">
            <a:avLst/>
          </a:prstGeom>
          <a:noFill/>
          <a:ln/>
        </p:spPr>
        <p:txBody>
          <a:bodyPr wrap="square" lIns="0" tIns="0" rIns="0" bIns="0" rtlCol="0" anchor="ctr"/>
          <a:lstStyle/>
          <a:p>
            <a:pPr indent="0" marL="0">
              <a:buNone/>
            </a:pPr>
            <a:r>
              <a:rPr lang="en-US" sz="1350" b="1" dirty="0">
                <a:solidFill>
                  <a:srgbClr val="16232B"/>
                </a:solidFill>
                <a:latin typeface="Calibri" pitchFamily="34" charset="0"/>
                <a:ea typeface="Calibri" pitchFamily="34" charset="-122"/>
                <a:cs typeface="Calibri" pitchFamily="34" charset="-120"/>
              </a:rPr>
              <a:t>Synthesis</a:t>
            </a:r>
            <a:endParaRPr lang="en-US" sz="1350" dirty="0"/>
          </a:p>
        </p:txBody>
      </p:sp>
      <p:sp>
        <p:nvSpPr>
          <p:cNvPr id="10" name="Text 7"/>
          <p:cNvSpPr txBox="1"/>
          <p:nvPr/>
        </p:nvSpPr>
        <p:spPr>
          <a:xfrm>
            <a:off x="8229600" y="2350008"/>
            <a:ext cx="3154680" cy="274320"/>
          </a:xfrm>
          <a:prstGeom prst="rect">
            <a:avLst/>
          </a:prstGeom>
          <a:noFill/>
          <a:ln/>
        </p:spPr>
        <p:txBody>
          <a:bodyPr wrap="square" lIns="0" tIns="0" rIns="0" bIns="0" rtlCol="0" anchor="ctr"/>
          <a:lstStyle/>
          <a:p>
            <a:pPr indent="0" marL="0">
              <a:buNone/>
            </a:pPr>
            <a:r>
              <a:rPr lang="en-US" sz="1250" dirty="0">
                <a:solidFill>
                  <a:srgbClr val="9E1B32"/>
                </a:solidFill>
                <a:latin typeface="Calibri" pitchFamily="34" charset="0"/>
                <a:ea typeface="Calibri" pitchFamily="34" charset="-122"/>
                <a:cs typeface="Calibri" pitchFamily="34" charset="-120"/>
              </a:rPr>
              <a:t>utility  +1.26  ·  anon.  +1.01</a:t>
            </a:r>
            <a:endParaRPr lang="en-US" sz="1250" dirty="0"/>
          </a:p>
        </p:txBody>
      </p:sp>
      <p:sp>
        <p:nvSpPr>
          <p:cNvPr id="11" name="Text 8"/>
          <p:cNvSpPr txBox="1"/>
          <p:nvPr/>
        </p:nvSpPr>
        <p:spPr>
          <a:xfrm>
            <a:off x="8229600" y="2743200"/>
            <a:ext cx="3154680" cy="274320"/>
          </a:xfrm>
          <a:prstGeom prst="rect">
            <a:avLst/>
          </a:prstGeom>
          <a:noFill/>
          <a:ln/>
        </p:spPr>
        <p:txBody>
          <a:bodyPr wrap="square" lIns="0" tIns="0" rIns="0" bIns="0" rtlCol="0" anchor="ctr"/>
          <a:lstStyle/>
          <a:p>
            <a:pPr indent="0" marL="0">
              <a:buNone/>
            </a:pPr>
            <a:r>
              <a:rPr lang="en-US" sz="1350" b="1" dirty="0">
                <a:solidFill>
                  <a:srgbClr val="16232B"/>
                </a:solidFill>
                <a:latin typeface="Calibri" pitchFamily="34" charset="0"/>
                <a:ea typeface="Calibri" pitchFamily="34" charset="-122"/>
                <a:cs typeface="Calibri" pitchFamily="34" charset="-120"/>
              </a:rPr>
              <a:t>Explicit noise</a:t>
            </a:r>
            <a:endParaRPr lang="en-US" sz="1350" dirty="0"/>
          </a:p>
        </p:txBody>
      </p:sp>
      <p:sp>
        <p:nvSpPr>
          <p:cNvPr id="12" name="Text 9"/>
          <p:cNvSpPr txBox="1"/>
          <p:nvPr/>
        </p:nvSpPr>
        <p:spPr>
          <a:xfrm>
            <a:off x="8229600" y="2990088"/>
            <a:ext cx="3154680" cy="274320"/>
          </a:xfrm>
          <a:prstGeom prst="rect">
            <a:avLst/>
          </a:prstGeom>
          <a:noFill/>
          <a:ln/>
        </p:spPr>
        <p:txBody>
          <a:bodyPr wrap="square" lIns="0" tIns="0" rIns="0" bIns="0" rtlCol="0" anchor="ctr"/>
          <a:lstStyle/>
          <a:p>
            <a:pPr indent="0" marL="0">
              <a:buNone/>
            </a:pPr>
            <a:r>
              <a:rPr lang="en-US" sz="1250" dirty="0">
                <a:solidFill>
                  <a:srgbClr val="9E1B32"/>
                </a:solidFill>
                <a:latin typeface="Calibri" pitchFamily="34" charset="0"/>
                <a:ea typeface="Calibri" pitchFamily="34" charset="-122"/>
                <a:cs typeface="Calibri" pitchFamily="34" charset="-120"/>
              </a:rPr>
              <a:t>utility  -0.73  ·  anon.  -0.98</a:t>
            </a:r>
            <a:endParaRPr lang="en-US" sz="1250" dirty="0"/>
          </a:p>
        </p:txBody>
      </p:sp>
      <p:sp>
        <p:nvSpPr>
          <p:cNvPr id="13" name="Text 10"/>
          <p:cNvSpPr txBox="1"/>
          <p:nvPr/>
        </p:nvSpPr>
        <p:spPr>
          <a:xfrm>
            <a:off x="8229600" y="3383280"/>
            <a:ext cx="3154680" cy="274320"/>
          </a:xfrm>
          <a:prstGeom prst="rect">
            <a:avLst/>
          </a:prstGeom>
          <a:noFill/>
          <a:ln/>
        </p:spPr>
        <p:txBody>
          <a:bodyPr wrap="square" lIns="0" tIns="0" rIns="0" bIns="0" rtlCol="0" anchor="ctr"/>
          <a:lstStyle/>
          <a:p>
            <a:pPr indent="0" marL="0">
              <a:buNone/>
            </a:pPr>
            <a:r>
              <a:rPr lang="en-US" sz="1350" b="1" dirty="0">
                <a:solidFill>
                  <a:srgbClr val="16232B"/>
                </a:solidFill>
                <a:latin typeface="Calibri" pitchFamily="34" charset="0"/>
                <a:ea typeface="Calibri" pitchFamily="34" charset="-122"/>
                <a:cs typeface="Calibri" pitchFamily="34" charset="-120"/>
              </a:rPr>
              <a:t>Row swapping</a:t>
            </a:r>
            <a:endParaRPr lang="en-US" sz="1350" dirty="0"/>
          </a:p>
        </p:txBody>
      </p:sp>
      <p:sp>
        <p:nvSpPr>
          <p:cNvPr id="14" name="Text 11"/>
          <p:cNvSpPr txBox="1"/>
          <p:nvPr/>
        </p:nvSpPr>
        <p:spPr>
          <a:xfrm>
            <a:off x="8229600" y="3630168"/>
            <a:ext cx="3154680" cy="274320"/>
          </a:xfrm>
          <a:prstGeom prst="rect">
            <a:avLst/>
          </a:prstGeom>
          <a:noFill/>
          <a:ln/>
        </p:spPr>
        <p:txBody>
          <a:bodyPr wrap="square" lIns="0" tIns="0" rIns="0" bIns="0" rtlCol="0" anchor="ctr"/>
          <a:lstStyle/>
          <a:p>
            <a:pPr indent="0" marL="0">
              <a:buNone/>
            </a:pPr>
            <a:r>
              <a:rPr lang="en-US" sz="1250" dirty="0">
                <a:solidFill>
                  <a:srgbClr val="9E1B32"/>
                </a:solidFill>
                <a:latin typeface="Calibri" pitchFamily="34" charset="0"/>
                <a:ea typeface="Calibri" pitchFamily="34" charset="-122"/>
                <a:cs typeface="Calibri" pitchFamily="34" charset="-120"/>
              </a:rPr>
              <a:t>utility  -0.04  ·  anon.  +0.73</a:t>
            </a:r>
            <a:endParaRPr lang="en-US" sz="1250" dirty="0"/>
          </a:p>
        </p:txBody>
      </p:sp>
      <p:sp>
        <p:nvSpPr>
          <p:cNvPr id="15" name="Text 12"/>
          <p:cNvSpPr txBox="1"/>
          <p:nvPr/>
        </p:nvSpPr>
        <p:spPr>
          <a:xfrm>
            <a:off x="8229600" y="4041648"/>
            <a:ext cx="3154680" cy="731520"/>
          </a:xfrm>
          <a:prstGeom prst="rect">
            <a:avLst/>
          </a:prstGeom>
          <a:noFill/>
          <a:ln/>
        </p:spPr>
        <p:txBody>
          <a:bodyPr wrap="square" lIns="0" tIns="0" rIns="0" bIns="0" rtlCol="0" anchor="t"/>
          <a:lstStyle/>
          <a:p>
            <a:pPr indent="0" marL="0">
              <a:lnSpc>
                <a:spcPts val="1400"/>
              </a:lnSpc>
              <a:buNone/>
            </a:pPr>
            <a:r>
              <a:rPr lang="en-US" sz="1100" dirty="0">
                <a:solidFill>
                  <a:srgbClr val="56666E"/>
                </a:solidFill>
                <a:latin typeface="Calibri" pitchFamily="34" charset="0"/>
                <a:ea typeface="Calibri" pitchFamily="34" charset="-122"/>
                <a:cs typeface="Calibri" pitchFamily="34" charset="-120"/>
              </a:rPr>
              <a:t>The AICc search keeps Base for the statistics and Kruskal-Wallis parts, Synthesis for logistic regression.</a:t>
            </a:r>
            <a:endParaRPr lang="en-US" sz="1100" dirty="0"/>
          </a:p>
        </p:txBody>
      </p:sp>
      <p:sp>
        <p:nvSpPr>
          <p:cNvPr id="16" name="Shape 13"/>
          <p:cNvSpPr/>
          <p:nvPr/>
        </p:nvSpPr>
        <p:spPr>
          <a:xfrm>
            <a:off x="7973568" y="4992624"/>
            <a:ext cx="3666744" cy="960120"/>
          </a:xfrm>
          <a:prstGeom prst="roundRect">
            <a:avLst>
              <a:gd name="adj" fmla="val 6667"/>
            </a:avLst>
          </a:prstGeom>
          <a:solidFill>
            <a:srgbClr val="F8EBEE"/>
          </a:solidFill>
          <a:ln w="12700">
            <a:solidFill>
              <a:srgbClr val="F8EBEE"/>
            </a:solidFill>
            <a:prstDash val="solid"/>
          </a:ln>
        </p:spPr>
      </p:sp>
      <p:sp>
        <p:nvSpPr>
          <p:cNvPr id="17" name="Text 14"/>
          <p:cNvSpPr txBox="1"/>
          <p:nvPr/>
        </p:nvSpPr>
        <p:spPr>
          <a:xfrm>
            <a:off x="8229600" y="4992624"/>
            <a:ext cx="3154680" cy="960120"/>
          </a:xfrm>
          <a:prstGeom prst="rect">
            <a:avLst/>
          </a:prstGeom>
          <a:noFill/>
          <a:ln/>
        </p:spPr>
        <p:txBody>
          <a:bodyPr wrap="square" lIns="0" tIns="0" rIns="0" bIns="0" rtlCol="0" anchor="ctr"/>
          <a:lstStyle/>
          <a:p>
            <a:pPr indent="0" marL="0">
              <a:lnSpc>
                <a:spcPts val="1800"/>
              </a:lnSpc>
              <a:buNone/>
            </a:pPr>
            <a:r>
              <a:rPr lang="en-US" sz="1400" b="1" i="1" dirty="0">
                <a:solidFill>
                  <a:srgbClr val="9E1B32"/>
                </a:solidFill>
                <a:latin typeface="Cambria" pitchFamily="34" charset="0"/>
                <a:ea typeface="Cambria" pitchFamily="34" charset="-122"/>
                <a:cs typeface="Cambria" pitchFamily="34" charset="-120"/>
              </a:rPr>
              <a:t>Synthesis is the one choice that moved both scores at once.</a:t>
            </a:r>
            <a:endParaRPr lang="en-US" sz="1400" dirty="0"/>
          </a:p>
        </p:txBody>
      </p:sp>
      <p:sp>
        <p:nvSpPr>
          <p:cNvPr id="18" name="Text 15"/>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9" name="Text 16"/>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500" b="1" dirty="0">
                <a:solidFill>
                  <a:srgbClr val="16232B"/>
                </a:solidFill>
                <a:latin typeface="Cambria" pitchFamily="34" charset="0"/>
                <a:ea typeface="Cambria" pitchFamily="34" charset="-122"/>
                <a:cs typeface="Cambria" pitchFamily="34" charset="-120"/>
              </a:rPr>
              <a:t>H2-1: the released model cost attackers, and only against weak targets</a:t>
            </a:r>
            <a:endParaRPr lang="en-US" sz="2500" dirty="0"/>
          </a:p>
        </p:txBody>
      </p:sp>
      <p:sp>
        <p:nvSpPr>
          <p:cNvPr id="3" name="Shape 1"/>
          <p:cNvSpPr/>
          <p:nvPr/>
        </p:nvSpPr>
        <p:spPr>
          <a:xfrm>
            <a:off x="502920" y="1197864"/>
            <a:ext cx="6876288" cy="4224528"/>
          </a:xfrm>
          <a:prstGeom prst="roundRect">
            <a:avLst>
              <a:gd name="adj" fmla="val 1515"/>
            </a:avLst>
          </a:prstGeom>
          <a:solidFill>
            <a:srgbClr val="EEF1F3"/>
          </a:solidFill>
          <a:ln w="12700">
            <a:solidFill>
              <a:srgbClr val="EEF1F3"/>
            </a:solidFill>
            <a:prstDash val="solid"/>
          </a:ln>
        </p:spPr>
      </p:sp>
      <p:pic>
        <p:nvPicPr>
          <p:cNvPr id="4" name="Image 0" descr="C:/Users/kikus/OneDrive/20260904_PSD/slide_figs/h2_1_color.png">    </p:cNvPr>
          <p:cNvPicPr>
            <a:picLocks noChangeAspect="1"/>
          </p:cNvPicPr>
          <p:nvPr/>
        </p:nvPicPr>
        <p:blipFill>
          <a:blip r:embed="rId1"/>
          <a:stretch>
            <a:fillRect/>
          </a:stretch>
        </p:blipFill>
        <p:spPr>
          <a:xfrm>
            <a:off x="603504" y="1298448"/>
            <a:ext cx="6675120" cy="4023360"/>
          </a:xfrm>
          <a:prstGeom prst="rect">
            <a:avLst/>
          </a:prstGeom>
        </p:spPr>
      </p:pic>
      <p:sp>
        <p:nvSpPr>
          <p:cNvPr id="5" name="Text 2"/>
          <p:cNvSpPr txBox="1"/>
          <p:nvPr/>
        </p:nvSpPr>
        <p:spPr>
          <a:xfrm>
            <a:off x="603504" y="5468112"/>
            <a:ext cx="6675120" cy="548640"/>
          </a:xfrm>
          <a:prstGeom prst="rect">
            <a:avLst/>
          </a:prstGeom>
          <a:noFill/>
          <a:ln/>
        </p:spPr>
        <p:txBody>
          <a:bodyPr wrap="square" lIns="0" tIns="0" rIns="0" bIns="0" rtlCol="0" anchor="t"/>
          <a:lstStyle/>
          <a:p>
            <a:pPr indent="0" marL="0">
              <a:lnSpc>
                <a:spcPts val="1300"/>
              </a:lnSpc>
              <a:buNone/>
            </a:pPr>
            <a:r>
              <a:rPr lang="en-US" sz="1050" dirty="0">
                <a:solidFill>
                  <a:srgbClr val="93A5AD"/>
                </a:solidFill>
                <a:latin typeface="Calibri" pitchFamily="34" charset="0"/>
                <a:ea typeface="Calibri" pitchFamily="34" charset="-122"/>
                <a:cs typeface="Calibri" pitchFamily="34" charset="-120"/>
              </a:rPr>
              <a:t>IRR = expected number of one victim's records exposed to one attacker; 1.00 = no design and no model use. Negative binomial, 361 ordered pairs, errors clustered by attacker and by victim.</a:t>
            </a:r>
            <a:endParaRPr lang="en-US" sz="1050" dirty="0"/>
          </a:p>
        </p:txBody>
      </p:sp>
      <p:sp>
        <p:nvSpPr>
          <p:cNvPr id="6" name="Shape 3"/>
          <p:cNvSpPr/>
          <p:nvPr/>
        </p:nvSpPr>
        <p:spPr>
          <a:xfrm>
            <a:off x="7571232" y="1207008"/>
            <a:ext cx="4069080" cy="2788920"/>
          </a:xfrm>
          <a:prstGeom prst="roundRect">
            <a:avLst>
              <a:gd name="adj" fmla="val 2295"/>
            </a:avLst>
          </a:prstGeom>
          <a:solidFill>
            <a:srgbClr val="EEF1F3"/>
          </a:solidFill>
          <a:ln w="12700">
            <a:solidFill>
              <a:srgbClr val="EEF1F3"/>
            </a:solidFill>
            <a:prstDash val="solid"/>
          </a:ln>
        </p:spPr>
      </p:sp>
      <p:sp>
        <p:nvSpPr>
          <p:cNvPr id="7" name="Text 4"/>
          <p:cNvSpPr txBox="1"/>
          <p:nvPr/>
        </p:nvSpPr>
        <p:spPr>
          <a:xfrm>
            <a:off x="7845552" y="1316736"/>
            <a:ext cx="3657600" cy="402336"/>
          </a:xfrm>
          <a:prstGeom prst="rect">
            <a:avLst/>
          </a:prstGeom>
          <a:noFill/>
          <a:ln/>
        </p:spPr>
        <p:txBody>
          <a:bodyPr wrap="square" lIns="0" tIns="0" rIns="0" bIns="0" rtlCol="0" anchor="ctr"/>
          <a:lstStyle/>
          <a:p>
            <a:pPr indent="0" marL="0">
              <a:buNone/>
            </a:pPr>
            <a:r>
              <a:rPr lang="en-US" sz="1700" b="1" dirty="0">
                <a:solidFill>
                  <a:srgbClr val="9E1B32"/>
                </a:solidFill>
                <a:latin typeface="Cambria" pitchFamily="34" charset="0"/>
                <a:ea typeface="Cambria" pitchFamily="34" charset="-122"/>
                <a:cs typeface="Cambria" pitchFamily="34" charset="-120"/>
              </a:rPr>
              <a:t>H2-1  partly yes</a:t>
            </a:r>
            <a:endParaRPr lang="en-US" sz="1700" dirty="0"/>
          </a:p>
        </p:txBody>
      </p:sp>
      <p:sp>
        <p:nvSpPr>
          <p:cNvPr id="8" name="Text 5"/>
          <p:cNvSpPr txBox="1"/>
          <p:nvPr/>
        </p:nvSpPr>
        <p:spPr>
          <a:xfrm>
            <a:off x="7845552" y="1755648"/>
            <a:ext cx="3566160" cy="214884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200" dirty="0">
                <a:solidFill>
                  <a:srgbClr val="16232B"/>
                </a:solidFill>
                <a:latin typeface="Calibri" pitchFamily="34" charset="0"/>
                <a:ea typeface="Calibri" pitchFamily="34" charset="-122"/>
                <a:cs typeface="Calibri" pitchFamily="34" charset="-120"/>
              </a:rPr>
              <a:t>Every design cut exposure on its own: IRR 0.63-0.73, all p &lt; 0.05</a:t>
            </a:r>
            <a:endParaRPr lang="en-US" sz="1200" dirty="0"/>
          </a:p>
          <a:p>
            <a:pPr marL="342900" indent="-342900">
              <a:lnSpc>
                <a:spcPts val="1500"/>
              </a:lnSpc>
              <a:spcAft>
                <a:spcPts val="700"/>
              </a:spcAft>
              <a:buSzPct val="100000"/>
              <a:buChar char="•"/>
            </a:pPr>
            <a:r>
              <a:rPr lang="en-US" sz="1200" dirty="0">
                <a:solidFill>
                  <a:srgbClr val="16232B"/>
                </a:solidFill>
                <a:latin typeface="Calibri" pitchFamily="34" charset="0"/>
                <a:ea typeface="Calibri" pitchFamily="34" charset="-122"/>
                <a:cs typeface="Calibri" pitchFamily="34" charset="-120"/>
              </a:rPr>
              <a:t>Attackers who also used the released model landed 14-18% fewer hits — against victims using none of these designs</a:t>
            </a:r>
            <a:endParaRPr lang="en-US" sz="1200" dirty="0"/>
          </a:p>
          <a:p>
            <a:pPr marL="342900" indent="-342900">
              <a:lnSpc>
                <a:spcPts val="1500"/>
              </a:lnSpc>
              <a:spcAft>
                <a:spcPts val="700"/>
              </a:spcAft>
              <a:buSzPct val="100000"/>
              <a:buChar char="•"/>
            </a:pPr>
            <a:r>
              <a:rPr lang="en-US" sz="1200" dirty="0">
                <a:solidFill>
                  <a:srgbClr val="16232B"/>
                </a:solidFill>
                <a:latin typeface="Calibri" pitchFamily="34" charset="0"/>
                <a:ea typeface="Calibri" pitchFamily="34" charset="-122"/>
                <a:cs typeface="Calibri" pitchFamily="34" charset="-120"/>
              </a:rPr>
              <a:t>Against victims that used them, the model bought nothing: 0.72 → 0.69, 0.63 → 0.61</a:t>
            </a:r>
            <a:endParaRPr lang="en-US" sz="1200" dirty="0"/>
          </a:p>
        </p:txBody>
      </p:sp>
      <p:sp>
        <p:nvSpPr>
          <p:cNvPr id="9" name="Shape 6"/>
          <p:cNvSpPr/>
          <p:nvPr/>
        </p:nvSpPr>
        <p:spPr>
          <a:xfrm>
            <a:off x="7571232" y="4133088"/>
            <a:ext cx="4069080" cy="1883664"/>
          </a:xfrm>
          <a:prstGeom prst="roundRect">
            <a:avLst>
              <a:gd name="adj" fmla="val 3398"/>
            </a:avLst>
          </a:prstGeom>
          <a:solidFill>
            <a:srgbClr val="16232B"/>
          </a:solidFill>
          <a:ln w="12700">
            <a:solidFill>
              <a:srgbClr val="16232B"/>
            </a:solidFill>
            <a:prstDash val="solid"/>
          </a:ln>
        </p:spPr>
      </p:sp>
      <p:sp>
        <p:nvSpPr>
          <p:cNvPr id="10" name="Text 7"/>
          <p:cNvSpPr txBox="1"/>
          <p:nvPr/>
        </p:nvSpPr>
        <p:spPr>
          <a:xfrm>
            <a:off x="7845552" y="4242816"/>
            <a:ext cx="3657600" cy="402336"/>
          </a:xfrm>
          <a:prstGeom prst="rect">
            <a:avLst/>
          </a:prstGeom>
          <a:noFill/>
          <a:ln/>
        </p:spPr>
        <p:txBody>
          <a:bodyPr wrap="square" lIns="0" tIns="0" rIns="0" bIns="0" rtlCol="0" anchor="ctr"/>
          <a:lstStyle/>
          <a:p>
            <a:pPr indent="0" marL="0">
              <a:buNone/>
            </a:pPr>
            <a:r>
              <a:rPr lang="en-US" sz="1700" b="1" dirty="0">
                <a:solidFill>
                  <a:srgbClr val="D8798A"/>
                </a:solidFill>
                <a:latin typeface="Cambria" pitchFamily="34" charset="0"/>
                <a:ea typeface="Cambria" pitchFamily="34" charset="-122"/>
                <a:cs typeface="Cambria" pitchFamily="34" charset="-120"/>
              </a:rPr>
              <a:t>H2-2  no</a:t>
            </a:r>
            <a:endParaRPr lang="en-US" sz="1700" dirty="0"/>
          </a:p>
        </p:txBody>
      </p:sp>
      <p:sp>
        <p:nvSpPr>
          <p:cNvPr id="11" name="Text 8"/>
          <p:cNvSpPr txBox="1"/>
          <p:nvPr/>
        </p:nvSpPr>
        <p:spPr>
          <a:xfrm>
            <a:off x="7845552" y="4681728"/>
            <a:ext cx="3566160" cy="1234440"/>
          </a:xfrm>
          <a:prstGeom prst="rect">
            <a:avLst/>
          </a:prstGeom>
          <a:noFill/>
          <a:ln/>
        </p:spPr>
        <p:txBody>
          <a:bodyPr wrap="square" lIns="0" tIns="0" rIns="0" bIns="0" rtlCol="0" anchor="t"/>
          <a:lstStyle/>
          <a:p>
            <a:pPr indent="0" marL="0">
              <a:lnSpc>
                <a:spcPts val="1500"/>
              </a:lnSpc>
              <a:buNone/>
            </a:pPr>
            <a:r>
              <a:rPr lang="en-US" sz="1200" dirty="0">
                <a:solidFill>
                  <a:srgbClr val="E1E7EA"/>
                </a:solidFill>
                <a:latin typeface="Calibri" pitchFamily="34" charset="0"/>
                <a:ea typeface="Calibri" pitchFamily="34" charset="-122"/>
                <a:cs typeface="Calibri" pitchFamily="34" charset="-120"/>
              </a:rPr>
              <a:t>Attacker-trained membership models — LiRA, RMIA, classifiers — showed no effect: IRR 1.04-1.06, p = 0.31-0.59, and no estimable interaction with any design. No design was specifically vulnerable to them.</a:t>
            </a:r>
            <a:endParaRPr lang="en-US" sz="1200" dirty="0"/>
          </a:p>
        </p:txBody>
      </p:sp>
      <p:sp>
        <p:nvSpPr>
          <p:cNvPr id="12" name="Text 9"/>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3" name="Text 10"/>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What this can and cannot support</a:t>
            </a:r>
            <a:endParaRPr lang="en-US" sz="2700" dirty="0"/>
          </a:p>
        </p:txBody>
      </p:sp>
      <p:sp>
        <p:nvSpPr>
          <p:cNvPr id="3" name="Shape 1"/>
          <p:cNvSpPr/>
          <p:nvPr/>
        </p:nvSpPr>
        <p:spPr>
          <a:xfrm>
            <a:off x="548640" y="1325880"/>
            <a:ext cx="5349240" cy="3566160"/>
          </a:xfrm>
          <a:prstGeom prst="roundRect">
            <a:avLst>
              <a:gd name="adj" fmla="val 1795"/>
            </a:avLst>
          </a:prstGeom>
          <a:solidFill>
            <a:srgbClr val="EEF1F3"/>
          </a:solidFill>
          <a:ln w="12700">
            <a:solidFill>
              <a:srgbClr val="EEF1F3"/>
            </a:solidFill>
            <a:prstDash val="solid"/>
          </a:ln>
        </p:spPr>
      </p:sp>
      <p:sp>
        <p:nvSpPr>
          <p:cNvPr id="4" name="Text 2"/>
          <p:cNvSpPr txBox="1"/>
          <p:nvPr/>
        </p:nvSpPr>
        <p:spPr>
          <a:xfrm>
            <a:off x="868680" y="1481328"/>
            <a:ext cx="475488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The constraints</a:t>
            </a:r>
            <a:endParaRPr lang="en-US" sz="1700" dirty="0"/>
          </a:p>
        </p:txBody>
      </p:sp>
      <p:sp>
        <p:nvSpPr>
          <p:cNvPr id="5" name="Text 3"/>
          <p:cNvSpPr txBox="1"/>
          <p:nvPr/>
        </p:nvSpPr>
        <p:spPr>
          <a:xfrm>
            <a:off x="868680" y="1965960"/>
            <a:ext cx="475488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16232B"/>
                </a:solidFill>
                <a:latin typeface="Calibri" pitchFamily="34" charset="0"/>
                <a:ea typeface="Calibri" pitchFamily="34" charset="-122"/>
                <a:cs typeface="Calibri" pitchFamily="34" charset="-120"/>
              </a:rPr>
              <a:t>20 teams, observed and not assigned — these are associations between design choices and scores, not causal effects</a:t>
            </a:r>
            <a:endParaRPr lang="en-US" sz="1300" dirty="0"/>
          </a:p>
          <a:p>
            <a:pPr marL="342900" indent="-342900">
              <a:lnSpc>
                <a:spcPts val="1700"/>
              </a:lnSpc>
              <a:spcAft>
                <a:spcPts val="900"/>
              </a:spcAft>
              <a:buSzPct val="100000"/>
              <a:buChar char="•"/>
            </a:pPr>
            <a:r>
              <a:rPr lang="en-US" sz="1300" dirty="0">
                <a:solidFill>
                  <a:srgbClr val="16232B"/>
                </a:solidFill>
                <a:latin typeface="Calibri" pitchFamily="34" charset="0"/>
                <a:ea typeface="Calibri" pitchFamily="34" charset="-122"/>
                <a:cs typeface="Calibri" pitchFamily="34" charset="-120"/>
              </a:rPr>
              <a:t>Coded from presentations: the family of each method, not its parameters</a:t>
            </a:r>
            <a:endParaRPr lang="en-US" sz="1300" dirty="0"/>
          </a:p>
          <a:p>
            <a:pPr marL="342900" indent="-342900">
              <a:lnSpc>
                <a:spcPts val="1700"/>
              </a:lnSpc>
              <a:spcAft>
                <a:spcPts val="900"/>
              </a:spcAft>
              <a:buSzPct val="100000"/>
              <a:buChar char="•"/>
            </a:pPr>
            <a:r>
              <a:rPr lang="en-US" sz="1300" dirty="0">
                <a:solidFill>
                  <a:srgbClr val="16232B"/>
                </a:solidFill>
                <a:latin typeface="Calibri" pitchFamily="34" charset="0"/>
                <a:ea typeface="Calibri" pitchFamily="34" charset="-122"/>
                <a:cs typeface="Calibri" pitchFamily="34" charset="-120"/>
              </a:rPr>
              <a:t>One contest, one Synthea population, one scoring rule</a:t>
            </a:r>
            <a:endParaRPr lang="en-US" sz="1300" dirty="0"/>
          </a:p>
        </p:txBody>
      </p:sp>
      <p:sp>
        <p:nvSpPr>
          <p:cNvPr id="6" name="Shape 4"/>
          <p:cNvSpPr/>
          <p:nvPr/>
        </p:nvSpPr>
        <p:spPr>
          <a:xfrm>
            <a:off x="6291072" y="1325880"/>
            <a:ext cx="5349240" cy="3566160"/>
          </a:xfrm>
          <a:prstGeom prst="roundRect">
            <a:avLst>
              <a:gd name="adj" fmla="val 1795"/>
            </a:avLst>
          </a:prstGeom>
          <a:solidFill>
            <a:srgbClr val="16232B"/>
          </a:solidFill>
          <a:ln w="12700">
            <a:solidFill>
              <a:srgbClr val="16232B"/>
            </a:solidFill>
            <a:prstDash val="solid"/>
          </a:ln>
        </p:spPr>
      </p:sp>
      <p:sp>
        <p:nvSpPr>
          <p:cNvPr id="7" name="Text 5"/>
          <p:cNvSpPr txBox="1"/>
          <p:nvPr/>
        </p:nvSpPr>
        <p:spPr>
          <a:xfrm>
            <a:off x="6611112" y="1481328"/>
            <a:ext cx="475488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it still gives us</a:t>
            </a:r>
            <a:endParaRPr lang="en-US" sz="1700" dirty="0"/>
          </a:p>
        </p:txBody>
      </p:sp>
      <p:sp>
        <p:nvSpPr>
          <p:cNvPr id="8" name="Text 6"/>
          <p:cNvSpPr txBox="1"/>
          <p:nvPr/>
        </p:nvSpPr>
        <p:spPr>
          <a:xfrm>
            <a:off x="6611112" y="1965960"/>
            <a:ext cx="475488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E1E7EA"/>
                </a:solidFill>
                <a:latin typeface="Calibri" pitchFamily="34" charset="0"/>
                <a:ea typeface="Calibri" pitchFamily="34" charset="-122"/>
                <a:cs typeface="Calibri" pitchFamily="34" charset="-120"/>
              </a:rPr>
              <a:t>Within PWS Cup 2025, these are the patterns the data show</a:t>
            </a:r>
            <a:endParaRPr lang="en-US" sz="1300" dirty="0"/>
          </a:p>
          <a:p>
            <a:pPr marL="342900" indent="-342900">
              <a:lnSpc>
                <a:spcPts val="1700"/>
              </a:lnSpc>
              <a:spcAft>
                <a:spcPts val="900"/>
              </a:spcAft>
              <a:buSzPct val="100000"/>
              <a:buChar char="•"/>
            </a:pPr>
            <a:r>
              <a:rPr lang="en-US" sz="1300" dirty="0">
                <a:solidFill>
                  <a:srgbClr val="E1E7EA"/>
                </a:solidFill>
                <a:latin typeface="Calibri" pitchFamily="34" charset="0"/>
                <a:ea typeface="Calibri" pitchFamily="34" charset="-122"/>
                <a:cs typeface="Calibri" pitchFamily="34" charset="-120"/>
              </a:rPr>
              <a:t>Type-level descriptions, with almost no code, were enough to produce specific and quantified hypotheses</a:t>
            </a:r>
            <a:endParaRPr lang="en-US" sz="1300" dirty="0"/>
          </a:p>
          <a:p>
            <a:pPr marL="342900" indent="-342900">
              <a:lnSpc>
                <a:spcPts val="1700"/>
              </a:lnSpc>
              <a:spcAft>
                <a:spcPts val="900"/>
              </a:spcAft>
              <a:buSzPct val="100000"/>
              <a:buChar char="•"/>
            </a:pPr>
            <a:r>
              <a:rPr lang="en-US" sz="1300" dirty="0">
                <a:solidFill>
                  <a:srgbClr val="E1E7EA"/>
                </a:solidFill>
                <a:latin typeface="Calibri" pitchFamily="34" charset="0"/>
                <a:ea typeface="Calibri" pitchFamily="34" charset="-122"/>
                <a:cs typeface="Calibri" pitchFamily="34" charset="-120"/>
              </a:rPr>
              <a:t>The same coding applies to any contest that reports approaches at that level of detail</a:t>
            </a:r>
            <a:endParaRPr lang="en-US" sz="1300" dirty="0"/>
          </a:p>
        </p:txBody>
      </p:sp>
      <p:sp>
        <p:nvSpPr>
          <p:cNvPr id="9" name="Shape 7"/>
          <p:cNvSpPr/>
          <p:nvPr/>
        </p:nvSpPr>
        <p:spPr>
          <a:xfrm>
            <a:off x="548640" y="5138928"/>
            <a:ext cx="11091672" cy="777240"/>
          </a:xfrm>
          <a:prstGeom prst="roundRect">
            <a:avLst>
              <a:gd name="adj" fmla="val 8235"/>
            </a:avLst>
          </a:prstGeom>
          <a:solidFill>
            <a:srgbClr val="F8EBEE"/>
          </a:solidFill>
          <a:ln w="12700">
            <a:solidFill>
              <a:srgbClr val="F8EBEE"/>
            </a:solidFill>
            <a:prstDash val="solid"/>
          </a:ln>
        </p:spPr>
      </p:sp>
      <p:sp>
        <p:nvSpPr>
          <p:cNvPr id="10" name="Text 8"/>
          <p:cNvSpPr txBox="1"/>
          <p:nvPr/>
        </p:nvSpPr>
        <p:spPr>
          <a:xfrm>
            <a:off x="868680" y="5138928"/>
            <a:ext cx="10515600" cy="777240"/>
          </a:xfrm>
          <a:prstGeom prst="rect">
            <a:avLst/>
          </a:prstGeom>
          <a:noFill/>
          <a:ln/>
        </p:spPr>
        <p:txBody>
          <a:bodyPr wrap="square" lIns="0" tIns="0" rIns="0" bIns="0" rtlCol="0" anchor="ctr"/>
          <a:lstStyle/>
          <a:p>
            <a:pPr indent="0" marL="0">
              <a:buNone/>
            </a:pPr>
            <a:r>
              <a:rPr lang="en-US" sz="1600" b="1" i="1" dirty="0">
                <a:solidFill>
                  <a:srgbClr val="9E1B32"/>
                </a:solidFill>
                <a:latin typeface="Cambria" pitchFamily="34" charset="0"/>
                <a:ea typeface="Cambria" pitchFamily="34" charset="-122"/>
                <a:cs typeface="Cambria" pitchFamily="34" charset="-120"/>
              </a:rPr>
              <a:t>You do not need the code to start asking the right questions.</a:t>
            </a:r>
            <a:endParaRPr lang="en-US" sz="1600" dirty="0"/>
          </a:p>
        </p:txBody>
      </p:sp>
      <p:sp>
        <p:nvSpPr>
          <p:cNvPr id="11" name="Text 9"/>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2" name="Text 10"/>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700" b="1" dirty="0">
                <a:solidFill>
                  <a:srgbClr val="16232B"/>
                </a:solidFill>
                <a:latin typeface="Cambria" pitchFamily="34" charset="0"/>
                <a:ea typeface="Cambria" pitchFamily="34" charset="-122"/>
                <a:cs typeface="Cambria" pitchFamily="34" charset="-120"/>
              </a:rPr>
              <a:t>A short questionnaire would make the next contest analyzable</a:t>
            </a:r>
            <a:endParaRPr lang="en-US" sz="2700" dirty="0"/>
          </a:p>
        </p:txBody>
      </p:sp>
      <p:sp>
        <p:nvSpPr>
          <p:cNvPr id="3" name="Shape 1"/>
          <p:cNvSpPr/>
          <p:nvPr/>
        </p:nvSpPr>
        <p:spPr>
          <a:xfrm>
            <a:off x="548640" y="1325880"/>
            <a:ext cx="5349240" cy="3566160"/>
          </a:xfrm>
          <a:prstGeom prst="roundRect">
            <a:avLst>
              <a:gd name="adj" fmla="val 1795"/>
            </a:avLst>
          </a:prstGeom>
          <a:solidFill>
            <a:srgbClr val="EEF1F3"/>
          </a:solidFill>
          <a:ln w="12700">
            <a:solidFill>
              <a:srgbClr val="EEF1F3"/>
            </a:solidFill>
            <a:prstDash val="solid"/>
          </a:ln>
        </p:spPr>
      </p:sp>
      <p:sp>
        <p:nvSpPr>
          <p:cNvPr id="4" name="Text 2"/>
          <p:cNvSpPr txBox="1"/>
          <p:nvPr/>
        </p:nvSpPr>
        <p:spPr>
          <a:xfrm>
            <a:off x="868680" y="1481328"/>
            <a:ext cx="475488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What we found</a:t>
            </a:r>
            <a:endParaRPr lang="en-US" sz="1700" dirty="0"/>
          </a:p>
        </p:txBody>
      </p:sp>
      <p:sp>
        <p:nvSpPr>
          <p:cNvPr id="5" name="Text 3"/>
          <p:cNvSpPr txBox="1"/>
          <p:nvPr/>
        </p:nvSpPr>
        <p:spPr>
          <a:xfrm>
            <a:off x="868680" y="1965960"/>
            <a:ext cx="4754880" cy="2788920"/>
          </a:xfrm>
          <a:prstGeom prst="rect">
            <a:avLst/>
          </a:prstGeom>
          <a:noFill/>
          <a:ln/>
        </p:spPr>
        <p:txBody>
          <a:bodyPr wrap="square" lIns="0" tIns="0" rIns="0" bIns="0" rtlCol="0" anchor="t"/>
          <a:lstStyle/>
          <a:p>
            <a:pPr indent="0" marL="0">
              <a:lnSpc>
                <a:spcPts val="1600"/>
              </a:lnSpc>
              <a:buNone/>
            </a:pPr>
            <a:r>
              <a:rPr lang="en-US" sz="1450" b="1" dirty="0">
                <a:solidFill>
                  <a:srgbClr val="9E1B32"/>
                </a:solidFill>
                <a:latin typeface="Calibri" pitchFamily="34" charset="0"/>
                <a:ea typeface="Calibri" pitchFamily="34" charset="-122"/>
                <a:cs typeface="Calibri" pitchFamily="34" charset="-120"/>
              </a:rPr>
              <a:t>H1
</a:t>
            </a:r>
            <a:pPr indent="0" marL="0">
              <a:lnSpc>
                <a:spcPts val="1600"/>
              </a:lnSpc>
              <a:buNone/>
            </a:pPr>
            <a:r>
              <a:rPr lang="en-US" sz="1250" dirty="0">
                <a:solidFill>
                  <a:srgbClr val="16232B"/>
                </a:solidFill>
                <a:latin typeface="Calibri" pitchFamily="34" charset="0"/>
                <a:ea typeface="Calibri" pitchFamily="34" charset="-122"/>
                <a:cs typeface="Calibri" pitchFamily="34" charset="-120"/>
              </a:rPr>
              <a:t>Generation- and reconstruction-based designs scored higher on utility and on anonymization alike.
</a:t>
            </a:r>
            <a:pPr indent="0" marL="0">
              <a:lnSpc>
                <a:spcPts val="1600"/>
              </a:lnSpc>
              <a:buNone/>
            </a:pPr>
            <a:r>
              <a:rPr lang="en-US" sz="1450" b="1" dirty="0">
                <a:solidFill>
                  <a:srgbClr val="9E1B32"/>
                </a:solidFill>
                <a:latin typeface="Calibri" pitchFamily="34" charset="0"/>
                <a:ea typeface="Calibri" pitchFamily="34" charset="-122"/>
                <a:cs typeface="Calibri" pitchFamily="34" charset="-120"/>
              </a:rPr>
              <a:t>H2-1
</a:t>
            </a:r>
            <a:pPr indent="0" marL="0">
              <a:lnSpc>
                <a:spcPts val="1600"/>
              </a:lnSpc>
              <a:buNone/>
            </a:pPr>
            <a:r>
              <a:rPr lang="en-US" sz="1250" dirty="0">
                <a:solidFill>
                  <a:srgbClr val="16232B"/>
                </a:solidFill>
                <a:latin typeface="Calibri" pitchFamily="34" charset="0"/>
                <a:ea typeface="Calibri" pitchFamily="34" charset="-122"/>
                <a:cs typeface="Calibri" pitchFamily="34" charset="-120"/>
              </a:rPr>
              <a:t>Exploiting the released model cost the attacker — and bought nothing once the victim used one of these designs.
</a:t>
            </a:r>
            <a:pPr indent="0" marL="0">
              <a:lnSpc>
                <a:spcPts val="1600"/>
              </a:lnSpc>
              <a:buNone/>
            </a:pPr>
            <a:r>
              <a:rPr lang="en-US" sz="1450" b="1" dirty="0">
                <a:solidFill>
                  <a:srgbClr val="9E1B32"/>
                </a:solidFill>
                <a:latin typeface="Calibri" pitchFamily="34" charset="0"/>
                <a:ea typeface="Calibri" pitchFamily="34" charset="-122"/>
                <a:cs typeface="Calibri" pitchFamily="34" charset="-120"/>
              </a:rPr>
              <a:t>H2-2
</a:t>
            </a:r>
            <a:pPr indent="0" marL="0">
              <a:lnSpc>
                <a:spcPts val="1600"/>
              </a:lnSpc>
              <a:buNone/>
            </a:pPr>
            <a:r>
              <a:rPr lang="en-US" sz="1250" dirty="0">
                <a:solidFill>
                  <a:srgbClr val="16232B"/>
                </a:solidFill>
                <a:latin typeface="Calibri" pitchFamily="34" charset="0"/>
                <a:ea typeface="Calibri" pitchFamily="34" charset="-122"/>
                <a:cs typeface="Calibri" pitchFamily="34" charset="-120"/>
              </a:rPr>
              <a:t>Attacker-trained membership models showed no effect against any design.</a:t>
            </a:r>
            <a:endParaRPr lang="en-US" sz="1450" dirty="0"/>
          </a:p>
        </p:txBody>
      </p:sp>
      <p:sp>
        <p:nvSpPr>
          <p:cNvPr id="6" name="Shape 4"/>
          <p:cNvSpPr/>
          <p:nvPr/>
        </p:nvSpPr>
        <p:spPr>
          <a:xfrm>
            <a:off x="6291072" y="1325880"/>
            <a:ext cx="5349240" cy="3566160"/>
          </a:xfrm>
          <a:prstGeom prst="roundRect">
            <a:avLst>
              <a:gd name="adj" fmla="val 1795"/>
            </a:avLst>
          </a:prstGeom>
          <a:solidFill>
            <a:srgbClr val="16232B"/>
          </a:solidFill>
          <a:ln w="12700">
            <a:solidFill>
              <a:srgbClr val="16232B"/>
            </a:solidFill>
            <a:prstDash val="solid"/>
          </a:ln>
        </p:spPr>
      </p:sp>
      <p:sp>
        <p:nvSpPr>
          <p:cNvPr id="7" name="Text 5"/>
          <p:cNvSpPr txBox="1"/>
          <p:nvPr/>
        </p:nvSpPr>
        <p:spPr>
          <a:xfrm>
            <a:off x="6611112" y="1481328"/>
            <a:ext cx="475488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One ask for organizers</a:t>
            </a:r>
            <a:endParaRPr lang="en-US" sz="1700" dirty="0"/>
          </a:p>
        </p:txBody>
      </p:sp>
      <p:sp>
        <p:nvSpPr>
          <p:cNvPr id="8" name="Text 6"/>
          <p:cNvSpPr txBox="1"/>
          <p:nvPr/>
        </p:nvSpPr>
        <p:spPr>
          <a:xfrm>
            <a:off x="6611112" y="1965960"/>
            <a:ext cx="4754880" cy="960120"/>
          </a:xfrm>
          <a:prstGeom prst="rect">
            <a:avLst/>
          </a:prstGeom>
          <a:noFill/>
          <a:ln/>
        </p:spPr>
        <p:txBody>
          <a:bodyPr wrap="square" lIns="0" tIns="0" rIns="0" bIns="0" rtlCol="0" anchor="t"/>
          <a:lstStyle/>
          <a:p>
            <a:pPr indent="0" marL="0">
              <a:lnSpc>
                <a:spcPts val="1700"/>
              </a:lnSpc>
              <a:buNone/>
            </a:pPr>
            <a:r>
              <a:rPr lang="en-US" sz="1300" dirty="0">
                <a:solidFill>
                  <a:srgbClr val="E1E7EA"/>
                </a:solidFill>
                <a:latin typeface="Calibri" pitchFamily="34" charset="0"/>
                <a:ea typeface="Calibri" pitchFamily="34" charset="-122"/>
                <a:cs typeface="Calibri" pitchFamily="34" charset="-120"/>
              </a:rPr>
              <a:t>Requiring source code is not always possible — industrial and privacy constraints are real, and this contest shows what happens: two teams out of twenty-four.</a:t>
            </a:r>
            <a:endParaRPr lang="en-US" sz="1300" dirty="0"/>
          </a:p>
        </p:txBody>
      </p:sp>
      <p:sp>
        <p:nvSpPr>
          <p:cNvPr id="9" name="Text 7"/>
          <p:cNvSpPr txBox="1"/>
          <p:nvPr/>
        </p:nvSpPr>
        <p:spPr>
          <a:xfrm>
            <a:off x="6611112" y="3063240"/>
            <a:ext cx="4754880" cy="1097280"/>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Calibri" pitchFamily="34" charset="0"/>
                <a:ea typeface="Calibri" pitchFamily="34" charset="-122"/>
                <a:cs typeface="Calibri" pitchFamily="34" charset="-120"/>
              </a:rPr>
              <a:t>But a short questionnaire, answered by every team, costs almost nothing — and might already yield useful insight of the kind shown on the left.</a:t>
            </a:r>
            <a:endParaRPr lang="en-US" sz="1450" dirty="0"/>
          </a:p>
        </p:txBody>
      </p:sp>
      <p:sp>
        <p:nvSpPr>
          <p:cNvPr id="10" name="Text 8"/>
          <p:cNvSpPr txBox="1"/>
          <p:nvPr/>
        </p:nvSpPr>
        <p:spPr>
          <a:xfrm>
            <a:off x="548640" y="5120640"/>
            <a:ext cx="11091672" cy="502920"/>
          </a:xfrm>
          <a:prstGeom prst="rect">
            <a:avLst/>
          </a:prstGeom>
          <a:noFill/>
          <a:ln/>
        </p:spPr>
        <p:txBody>
          <a:bodyPr wrap="square" lIns="0" tIns="0" rIns="0" bIns="0" rtlCol="0" anchor="ctr"/>
          <a:lstStyle/>
          <a:p>
            <a:pPr indent="0" marL="0">
              <a:buNone/>
            </a:pPr>
            <a:r>
              <a:rPr lang="en-US" sz="1550" b="1" i="1" dirty="0">
                <a:solidFill>
                  <a:srgbClr val="9E1B32"/>
                </a:solidFill>
                <a:latin typeface="Cambria" pitchFamily="34" charset="0"/>
                <a:ea typeface="Cambria" pitchFamily="34" charset="-122"/>
                <a:cs typeface="Cambria" pitchFamily="34" charset="-120"/>
              </a:rPr>
              <a:t>Then the next analysis can start from what teams reported, instead of what we had to reconstruct.</a:t>
            </a:r>
            <a:endParaRPr lang="en-US" sz="1550" dirty="0"/>
          </a:p>
        </p:txBody>
      </p:sp>
      <p:sp>
        <p:nvSpPr>
          <p:cNvPr id="11" name="Text 9"/>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2" name="Text 10"/>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32B"/>
        </a:solidFill>
      </p:bgPr>
    </p:bg>
    <p:spTree>
      <p:nvGrpSpPr>
        <p:cNvPr id="1" name=""/>
        <p:cNvGrpSpPr/>
        <p:nvPr/>
      </p:nvGrpSpPr>
      <p:grpSpPr>
        <a:xfrm>
          <a:off x="0" y="0"/>
          <a:ext cx="0" cy="0"/>
          <a:chOff x="0" y="0"/>
          <a:chExt cx="0" cy="0"/>
        </a:xfrm>
      </p:grpSpPr>
      <p:sp>
        <p:nvSpPr>
          <p:cNvPr id="2" name="Shape 0"/>
          <p:cNvSpPr/>
          <p:nvPr/>
        </p:nvSpPr>
        <p:spPr>
          <a:xfrm>
            <a:off x="548640" y="1207008"/>
            <a:ext cx="182880" cy="182880"/>
          </a:xfrm>
          <a:prstGeom prst="ellipse">
            <a:avLst/>
          </a:prstGeom>
          <a:solidFill>
            <a:srgbClr val="9E1B32"/>
          </a:solidFill>
          <a:ln w="12700">
            <a:solidFill>
              <a:srgbClr val="9E1B32"/>
            </a:solidFill>
            <a:prstDash val="solid"/>
          </a:ln>
        </p:spPr>
      </p:sp>
      <p:sp>
        <p:nvSpPr>
          <p:cNvPr id="3" name="Text 1"/>
          <p:cNvSpPr txBox="1"/>
          <p:nvPr/>
        </p:nvSpPr>
        <p:spPr>
          <a:xfrm>
            <a:off x="548640" y="1207008"/>
            <a:ext cx="182880" cy="182880"/>
          </a:xfrm>
          <a:prstGeom prst="rect">
            <a:avLst/>
          </a:prstGeom>
          <a:noFill/>
          <a:ln/>
        </p:spPr>
        <p:txBody>
          <a:bodyPr wrap="square" lIns="0" tIns="0" rIns="0" bIns="0" rtlCol="0" anchor="ctr"/>
          <a:lstStyle/>
          <a:p>
            <a:pPr algn="ctr" indent="0" marL="0">
              <a:buNone/>
            </a:pPr>
            <a:endParaRPr lang="en-US" sz="1500" dirty="0"/>
          </a:p>
        </p:txBody>
      </p:sp>
      <p:sp>
        <p:nvSpPr>
          <p:cNvPr id="4" name="Text 2"/>
          <p:cNvSpPr txBox="1"/>
          <p:nvPr/>
        </p:nvSpPr>
        <p:spPr>
          <a:xfrm>
            <a:off x="868680" y="1143000"/>
            <a:ext cx="10058400" cy="310896"/>
          </a:xfrm>
          <a:prstGeom prst="rect">
            <a:avLst/>
          </a:prstGeom>
          <a:noFill/>
          <a:ln/>
        </p:spPr>
        <p:txBody>
          <a:bodyPr wrap="square" lIns="0" tIns="0" rIns="0" bIns="0" rtlCol="0" anchor="ctr"/>
          <a:lstStyle/>
          <a:p>
            <a:pPr indent="0" marL="0">
              <a:buNone/>
            </a:pPr>
            <a:r>
              <a:rPr lang="en-US" sz="1200" b="1" spc="200" kern="0" dirty="0">
                <a:solidFill>
                  <a:srgbClr val="D8798A"/>
                </a:solidFill>
                <a:latin typeface="Calibri" pitchFamily="34" charset="0"/>
                <a:ea typeface="Calibri" pitchFamily="34" charset="-122"/>
                <a:cs typeface="Calibri" pitchFamily="34" charset="-120"/>
              </a:rPr>
              <a:t>THANK YOU</a:t>
            </a:r>
            <a:endParaRPr lang="en-US" sz="1200" dirty="0"/>
          </a:p>
        </p:txBody>
      </p:sp>
      <p:sp>
        <p:nvSpPr>
          <p:cNvPr id="5" name="Text 3"/>
          <p:cNvSpPr txBox="1"/>
          <p:nvPr/>
        </p:nvSpPr>
        <p:spPr>
          <a:xfrm>
            <a:off x="548640" y="1691640"/>
            <a:ext cx="11091672"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6" name="Text 4"/>
          <p:cNvSpPr txBox="1"/>
          <p:nvPr/>
        </p:nvSpPr>
        <p:spPr>
          <a:xfrm>
            <a:off x="548640" y="2606040"/>
            <a:ext cx="11091672" cy="457200"/>
          </a:xfrm>
          <a:prstGeom prst="rect">
            <a:avLst/>
          </a:prstGeom>
          <a:noFill/>
          <a:ln/>
        </p:spPr>
        <p:txBody>
          <a:bodyPr wrap="square" lIns="0" tIns="0" rIns="0" bIns="0" rtlCol="0" anchor="ctr"/>
          <a:lstStyle/>
          <a:p>
            <a:pPr indent="0" marL="0">
              <a:buNone/>
            </a:pPr>
            <a:r>
              <a:rPr lang="en-US" sz="1900" i="1" dirty="0">
                <a:solidFill>
                  <a:srgbClr val="E1E7EA"/>
                </a:solidFill>
                <a:latin typeface="Cambria" pitchFamily="34" charset="0"/>
                <a:ea typeface="Cambria" pitchFamily="34" charset="-122"/>
                <a:cs typeface="Cambria" pitchFamily="34" charset="-120"/>
              </a:rPr>
              <a:t>Patterns Without Source: A Meta-Analysis of PWS Cup 2025</a:t>
            </a:r>
            <a:endParaRPr lang="en-US" sz="1900" dirty="0"/>
          </a:p>
        </p:txBody>
      </p:sp>
      <p:sp>
        <p:nvSpPr>
          <p:cNvPr id="7" name="Shape 5"/>
          <p:cNvSpPr/>
          <p:nvPr/>
        </p:nvSpPr>
        <p:spPr>
          <a:xfrm>
            <a:off x="548640" y="3429000"/>
            <a:ext cx="11091672" cy="1874520"/>
          </a:xfrm>
          <a:prstGeom prst="roundRect">
            <a:avLst>
              <a:gd name="adj" fmla="val 3415"/>
            </a:avLst>
          </a:prstGeom>
          <a:solidFill>
            <a:srgbClr val="24363F"/>
          </a:solidFill>
          <a:ln w="12700">
            <a:solidFill>
              <a:srgbClr val="24363F"/>
            </a:solidFill>
            <a:prstDash val="solid"/>
          </a:ln>
        </p:spPr>
      </p:sp>
      <p:sp>
        <p:nvSpPr>
          <p:cNvPr id="8" name="Text 6"/>
          <p:cNvSpPr txBox="1"/>
          <p:nvPr/>
        </p:nvSpPr>
        <p:spPr>
          <a:xfrm>
            <a:off x="868680" y="3639312"/>
            <a:ext cx="4572000" cy="365760"/>
          </a:xfrm>
          <a:prstGeom prst="rect">
            <a:avLst/>
          </a:prstGeom>
          <a:noFill/>
          <a:ln/>
        </p:spPr>
        <p:txBody>
          <a:bodyPr wrap="square" lIns="0" tIns="0" rIns="0" bIns="0" rtlCol="0" anchor="ctr"/>
          <a:lstStyle/>
          <a:p>
            <a:pPr indent="0" marL="0">
              <a:buNone/>
            </a:pPr>
            <a:r>
              <a:rPr lang="en-US" sz="1250" dirty="0">
                <a:solidFill>
                  <a:srgbClr val="93A5AD"/>
                </a:solidFill>
                <a:latin typeface="Calibri" pitchFamily="34" charset="0"/>
                <a:ea typeface="Calibri" pitchFamily="34" charset="-122"/>
                <a:cs typeface="Calibri" pitchFamily="34" charset="-120"/>
              </a:rPr>
              <a:t>Reconstructed data, codebook and analysis code</a:t>
            </a:r>
            <a:endParaRPr lang="en-US" sz="1250" dirty="0"/>
          </a:p>
        </p:txBody>
      </p:sp>
      <p:sp>
        <p:nvSpPr>
          <p:cNvPr id="9" name="Text 7"/>
          <p:cNvSpPr txBox="1"/>
          <p:nvPr/>
        </p:nvSpPr>
        <p:spPr>
          <a:xfrm>
            <a:off x="5486400" y="3639312"/>
            <a:ext cx="5852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github.com/kiti1924/PWSCUP2025_REVIEW_PUB</a:t>
            </a:r>
            <a:endParaRPr lang="en-US" sz="1300" dirty="0"/>
          </a:p>
        </p:txBody>
      </p:sp>
      <p:sp>
        <p:nvSpPr>
          <p:cNvPr id="10" name="Text 8"/>
          <p:cNvSpPr txBox="1"/>
          <p:nvPr/>
        </p:nvSpPr>
        <p:spPr>
          <a:xfrm>
            <a:off x="868680" y="4123944"/>
            <a:ext cx="4572000" cy="365760"/>
          </a:xfrm>
          <a:prstGeom prst="rect">
            <a:avLst/>
          </a:prstGeom>
          <a:noFill/>
          <a:ln/>
        </p:spPr>
        <p:txBody>
          <a:bodyPr wrap="square" lIns="0" tIns="0" rIns="0" bIns="0" rtlCol="0" anchor="ctr"/>
          <a:lstStyle/>
          <a:p>
            <a:pPr indent="0" marL="0">
              <a:buNone/>
            </a:pPr>
            <a:r>
              <a:rPr lang="en-US" sz="1250" dirty="0">
                <a:solidFill>
                  <a:srgbClr val="93A5AD"/>
                </a:solidFill>
                <a:latin typeface="Calibri" pitchFamily="34" charset="0"/>
                <a:ea typeface="Calibri" pitchFamily="34" charset="-122"/>
                <a:cs typeface="Calibri" pitchFamily="34" charset="-120"/>
              </a:rPr>
              <a:t>Competition materials and full results</a:t>
            </a:r>
            <a:endParaRPr lang="en-US" sz="1250" dirty="0"/>
          </a:p>
        </p:txBody>
      </p:sp>
      <p:sp>
        <p:nvSpPr>
          <p:cNvPr id="11" name="Text 9"/>
          <p:cNvSpPr txBox="1"/>
          <p:nvPr/>
        </p:nvSpPr>
        <p:spPr>
          <a:xfrm>
            <a:off x="5486400" y="4123944"/>
            <a:ext cx="5852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iwsec.org/pws/2025/cup25.html</a:t>
            </a:r>
            <a:endParaRPr lang="en-US" sz="1300" dirty="0"/>
          </a:p>
        </p:txBody>
      </p:sp>
      <p:sp>
        <p:nvSpPr>
          <p:cNvPr id="12" name="Text 10"/>
          <p:cNvSpPr txBox="1"/>
          <p:nvPr/>
        </p:nvSpPr>
        <p:spPr>
          <a:xfrm>
            <a:off x="868680" y="4608576"/>
            <a:ext cx="4572000" cy="365760"/>
          </a:xfrm>
          <a:prstGeom prst="rect">
            <a:avLst/>
          </a:prstGeom>
          <a:noFill/>
          <a:ln/>
        </p:spPr>
        <p:txBody>
          <a:bodyPr wrap="square" lIns="0" tIns="0" rIns="0" bIns="0" rtlCol="0" anchor="ctr"/>
          <a:lstStyle/>
          <a:p>
            <a:pPr indent="0" marL="0">
              <a:buNone/>
            </a:pPr>
            <a:r>
              <a:rPr lang="en-US" sz="1250" dirty="0">
                <a:solidFill>
                  <a:srgbClr val="93A5AD"/>
                </a:solidFill>
                <a:latin typeface="Calibri" pitchFamily="34" charset="0"/>
                <a:ea typeface="Calibri" pitchFamily="34" charset="-122"/>
                <a:cs typeface="Calibri" pitchFamily="34" charset="-120"/>
              </a:rPr>
              <a:t>Contact</a:t>
            </a:r>
            <a:endParaRPr lang="en-US" sz="1250" dirty="0"/>
          </a:p>
        </p:txBody>
      </p:sp>
      <p:sp>
        <p:nvSpPr>
          <p:cNvPr id="13" name="Text 11"/>
          <p:cNvSpPr txBox="1"/>
          <p:nvPr/>
        </p:nvSpPr>
        <p:spPr>
          <a:xfrm>
            <a:off x="5486400" y="4608576"/>
            <a:ext cx="5852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kikuchih@ism.ac.jp</a:t>
            </a:r>
            <a:endParaRPr lang="en-US" sz="1300" dirty="0"/>
          </a:p>
        </p:txBody>
      </p:sp>
      <p:sp>
        <p:nvSpPr>
          <p:cNvPr id="14" name="Text 12"/>
          <p:cNvSpPr txBox="1"/>
          <p:nvPr/>
        </p:nvSpPr>
        <p:spPr>
          <a:xfrm>
            <a:off x="548640" y="5486400"/>
            <a:ext cx="11091672" cy="365760"/>
          </a:xfrm>
          <a:prstGeom prst="rect">
            <a:avLst/>
          </a:prstGeom>
          <a:noFill/>
          <a:ln/>
        </p:spPr>
        <p:txBody>
          <a:bodyPr wrap="square" lIns="0" tIns="0" rIns="0" bIns="0" rtlCol="0" anchor="ctr"/>
          <a:lstStyle/>
          <a:p>
            <a:pPr indent="0" marL="0">
              <a:buNone/>
            </a:pPr>
            <a:r>
              <a:rPr lang="en-US" sz="1100" dirty="0">
                <a:solidFill>
                  <a:srgbClr val="93A5AD"/>
                </a:solidFill>
                <a:latin typeface="Calibri" pitchFamily="34" charset="0"/>
                <a:ea typeface="Calibri" pitchFamily="34" charset="-122"/>
                <a:cs typeface="Calibri" pitchFamily="34" charset="-120"/>
              </a:rPr>
              <a:t>Supported by JST K Program, Grant Number JPMJKP24U5, Japan.</a:t>
            </a:r>
            <a:endParaRPr lang="en-US" sz="1100" dirty="0"/>
          </a:p>
        </p:txBody>
      </p:sp>
      <p:sp>
        <p:nvSpPr>
          <p:cNvPr id="15" name="Text 13"/>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5E7480"/>
                </a:solidFill>
                <a:latin typeface="Calibri" pitchFamily="34" charset="0"/>
                <a:ea typeface="Calibri" pitchFamily="34" charset="-122"/>
                <a:cs typeface="Calibri" pitchFamily="34" charset="-120"/>
              </a:rPr>
              <a:t>Patterns Without Source  ·  PSD 2026, Cadiz</a:t>
            </a:r>
            <a:endParaRPr lang="en-US" sz="900" dirty="0"/>
          </a:p>
        </p:txBody>
      </p:sp>
      <p:sp>
        <p:nvSpPr>
          <p:cNvPr id="16" name="Text 14"/>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5E74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2B"/>
        </a:solidFill>
      </p:bgPr>
    </p:bg>
    <p:spTree>
      <p:nvGrpSpPr>
        <p:cNvPr id="1" name=""/>
        <p:cNvGrpSpPr/>
        <p:nvPr/>
      </p:nvGrpSpPr>
      <p:grpSpPr>
        <a:xfrm>
          <a:off x="0" y="0"/>
          <a:ext cx="0" cy="0"/>
          <a:chOff x="0" y="0"/>
          <a:chExt cx="0" cy="0"/>
        </a:xfrm>
      </p:grpSpPr>
      <p:sp>
        <p:nvSpPr>
          <p:cNvPr id="2" name="Shape 0"/>
          <p:cNvSpPr/>
          <p:nvPr/>
        </p:nvSpPr>
        <p:spPr>
          <a:xfrm>
            <a:off x="548640" y="2926080"/>
            <a:ext cx="182880" cy="182880"/>
          </a:xfrm>
          <a:prstGeom prst="ellipse">
            <a:avLst/>
          </a:prstGeom>
          <a:solidFill>
            <a:srgbClr val="9E1B32"/>
          </a:solidFill>
          <a:ln w="12700">
            <a:solidFill>
              <a:srgbClr val="9E1B32"/>
            </a:solidFill>
            <a:prstDash val="solid"/>
          </a:ln>
        </p:spPr>
      </p:sp>
      <p:sp>
        <p:nvSpPr>
          <p:cNvPr id="3" name="Text 1"/>
          <p:cNvSpPr txBox="1"/>
          <p:nvPr/>
        </p:nvSpPr>
        <p:spPr>
          <a:xfrm>
            <a:off x="548640" y="2926080"/>
            <a:ext cx="182880" cy="182880"/>
          </a:xfrm>
          <a:prstGeom prst="rect">
            <a:avLst/>
          </a:prstGeom>
          <a:noFill/>
          <a:ln/>
        </p:spPr>
        <p:txBody>
          <a:bodyPr wrap="square" lIns="0" tIns="0" rIns="0" bIns="0" rtlCol="0" anchor="ctr"/>
          <a:lstStyle/>
          <a:p>
            <a:pPr algn="ctr" indent="0" marL="0">
              <a:buNone/>
            </a:pPr>
            <a:endParaRPr lang="en-US" sz="1500" dirty="0"/>
          </a:p>
        </p:txBody>
      </p:sp>
      <p:sp>
        <p:nvSpPr>
          <p:cNvPr id="4" name="Text 2"/>
          <p:cNvSpPr txBox="1"/>
          <p:nvPr/>
        </p:nvSpPr>
        <p:spPr>
          <a:xfrm>
            <a:off x="868680" y="2862072"/>
            <a:ext cx="10058400" cy="310896"/>
          </a:xfrm>
          <a:prstGeom prst="rect">
            <a:avLst/>
          </a:prstGeom>
          <a:noFill/>
          <a:ln/>
        </p:spPr>
        <p:txBody>
          <a:bodyPr wrap="square" lIns="0" tIns="0" rIns="0" bIns="0" rtlCol="0" anchor="ctr"/>
          <a:lstStyle/>
          <a:p>
            <a:pPr indent="0" marL="0">
              <a:buNone/>
            </a:pPr>
            <a:r>
              <a:rPr lang="en-US" sz="1200" b="1" spc="200" kern="0" dirty="0">
                <a:solidFill>
                  <a:srgbClr val="D8798A"/>
                </a:solidFill>
                <a:latin typeface="Calibri" pitchFamily="34" charset="0"/>
                <a:ea typeface="Calibri" pitchFamily="34" charset="-122"/>
                <a:cs typeface="Calibri" pitchFamily="34" charset="-120"/>
              </a:rPr>
              <a:t>BACKUP</a:t>
            </a:r>
            <a:endParaRPr lang="en-US" sz="1200" dirty="0"/>
          </a:p>
        </p:txBody>
      </p:sp>
      <p:sp>
        <p:nvSpPr>
          <p:cNvPr id="5" name="Text 3"/>
          <p:cNvSpPr txBox="1"/>
          <p:nvPr/>
        </p:nvSpPr>
        <p:spPr>
          <a:xfrm>
            <a:off x="548640" y="3383280"/>
            <a:ext cx="11091672"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Slides for questions</a:t>
            </a:r>
            <a:endParaRPr lang="en-US" sz="3800" dirty="0"/>
          </a:p>
        </p:txBody>
      </p:sp>
      <p:sp>
        <p:nvSpPr>
          <p:cNvPr id="6" name="Text 4"/>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5E7480"/>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5"/>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5E74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PWS Cup 2025 main results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349240" cy="914400"/>
        </p:xfrm>
        <a:graphic>
          <a:graphicData uri="http://schemas.openxmlformats.org/drawingml/2006/table">
            <a:tbl>
              <a:tblPr/>
              <a:tblGrid>
                <a:gridCol w="658368"/>
                <a:gridCol w="868680"/>
                <a:gridCol w="640080"/>
                <a:gridCol w="822960"/>
                <a:gridCol w="896112"/>
                <a:gridCol w="621792"/>
                <a:gridCol w="841248"/>
              </a:tblGrid>
              <a:tr h="146304">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Team</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Utility</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Pen.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Anon.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Attack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91.89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70.47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162.36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113.81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91.92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72.86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164.78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105.43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75.93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65.73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141.66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105.81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77.98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78.60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156.58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101.47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91.64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66.75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158.39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107.74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91.25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78.31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169.56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109.17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74.09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71.91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146.00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103.93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78.63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169.81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121.13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81.04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74.30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155.34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106.84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72.21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164.14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13.79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84.54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69.32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153.86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104.06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78.21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73.90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152.11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106.60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291072" y="1234440"/>
          <a:ext cx="5349240" cy="914400"/>
        </p:xfrm>
        <a:graphic>
          <a:graphicData uri="http://schemas.openxmlformats.org/drawingml/2006/table">
            <a:tbl>
              <a:tblPr/>
              <a:tblGrid>
                <a:gridCol w="658368"/>
                <a:gridCol w="868680"/>
                <a:gridCol w="640080"/>
                <a:gridCol w="822960"/>
                <a:gridCol w="896112"/>
                <a:gridCol w="621792"/>
                <a:gridCol w="841248"/>
              </a:tblGrid>
              <a:tr h="146304">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Team</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Utility</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Pen.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Anon.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Attack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90.84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76.50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167.34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106.93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77.36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24.64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102.00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101.22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67.99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67.81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135.80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106.09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81.75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77.28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159.03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107.59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75.40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30.44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105.84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102.79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91.55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79.28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170.83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108.39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70.95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75.11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146.06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101.50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94.67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75.57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170.24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99.99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84.41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47.69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132.10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102.83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66.36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70.29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136.65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100.63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46304">
                <a:tc>
                  <a:txBody>
                    <a:bodyPr/>
                    <a:lstStyle/>
                    <a:p>
                      <a:pPr algn="ctr" indent="0" marL="0">
                        <a:buNone/>
                      </a:pPr>
                      <a:r>
                        <a:rPr lang="en-US" sz="850" dirty="0">
                          <a:solidFill>
                            <a:srgbClr val="16232B"/>
                          </a:solidFill>
                          <a:latin typeface="Calibri" pitchFamily="34" charset="0"/>
                          <a:ea typeface="Calibri" pitchFamily="34" charset="-122"/>
                          <a:cs typeface="Calibri" pitchFamily="34" charset="-120"/>
                        </a:rPr>
                        <a:t>24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69.59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0.00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69.59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r" indent="0" marL="0">
                        <a:buNone/>
                      </a:pPr>
                      <a:r>
                        <a:rPr lang="en-US" sz="850" dirty="0">
                          <a:solidFill>
                            <a:srgbClr val="16232B"/>
                          </a:solidFill>
                          <a:latin typeface="Calibri" pitchFamily="34" charset="0"/>
                          <a:ea typeface="Calibri" pitchFamily="34" charset="-122"/>
                          <a:cs typeface="Calibri" pitchFamily="34" charset="-120"/>
                        </a:rPr>
                        <a:t>104.46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bl>
          </a:graphicData>
        </a:graphic>
      </p:graphicFrame>
      <p:sp>
        <p:nvSpPr>
          <p:cNvPr id="5" name="Text 1"/>
          <p:cNvSpPr txBox="1"/>
          <p:nvPr/>
        </p:nvSpPr>
        <p:spPr>
          <a:xfrm>
            <a:off x="548640" y="3977640"/>
            <a:ext cx="11091672" cy="548640"/>
          </a:xfrm>
          <a:prstGeom prst="rect">
            <a:avLst/>
          </a:prstGeom>
          <a:noFill/>
          <a:ln/>
        </p:spPr>
        <p:txBody>
          <a:bodyPr wrap="square" lIns="0" tIns="0" rIns="0" bIns="0" rtlCol="0" anchor="t"/>
          <a:lstStyle/>
          <a:p>
            <a:pPr indent="0" marL="0">
              <a:lnSpc>
                <a:spcPts val="1400"/>
              </a:lnSpc>
              <a:buNone/>
            </a:pPr>
            <a:r>
              <a:rPr lang="en-US" sz="1100" dirty="0">
                <a:solidFill>
                  <a:srgbClr val="56666E"/>
                </a:solidFill>
                <a:latin typeface="Calibri" pitchFamily="34" charset="0"/>
                <a:ea typeface="Calibri" pitchFamily="34" charset="-122"/>
                <a:cs typeface="Calibri" pitchFamily="34" charset="-120"/>
              </a:rPr>
              <a:t>Team 21 withdrew. Team 10 submitted no attack. Final score = 0.1 x preliminary round + 0.9 x main round. The anonymization score already has the penalty subtracted.</a:t>
            </a:r>
            <a:endParaRPr lang="en-US" sz="1100" dirty="0"/>
          </a:p>
        </p:txBody>
      </p:sp>
      <p:sp>
        <p:nvSpPr>
          <p:cNvPr id="6" name="Text 2"/>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3"/>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the full feature taxonomies</a:t>
            </a:r>
            <a:endParaRPr lang="en-US" sz="2400" dirty="0"/>
          </a:p>
        </p:txBody>
      </p:sp>
      <p:sp>
        <p:nvSpPr>
          <p:cNvPr id="3" name="Text 1"/>
          <p:cNvSpPr txBox="1"/>
          <p:nvPr/>
        </p:nvSpPr>
        <p:spPr>
          <a:xfrm>
            <a:off x="640080" y="1207008"/>
            <a:ext cx="3840480" cy="274320"/>
          </a:xfrm>
          <a:prstGeom prst="rect">
            <a:avLst/>
          </a:prstGeom>
          <a:noFill/>
          <a:ln/>
        </p:spPr>
        <p:txBody>
          <a:bodyPr wrap="square" lIns="0" tIns="0" rIns="0" bIns="0" rtlCol="0" anchor="ctr"/>
          <a:lstStyle/>
          <a:p>
            <a:pPr indent="0" marL="0">
              <a:buNone/>
            </a:pPr>
            <a:r>
              <a:rPr lang="en-US" sz="1300" b="1" dirty="0">
                <a:solidFill>
                  <a:srgbClr val="9E1B32"/>
                </a:solidFill>
                <a:latin typeface="Cambria" pitchFamily="34" charset="0"/>
                <a:ea typeface="Cambria" pitchFamily="34" charset="-122"/>
                <a:cs typeface="Cambria" pitchFamily="34" charset="-120"/>
              </a:rPr>
              <a:t>Anonymization</a:t>
            </a:r>
            <a:endParaRPr lang="en-US" sz="1300" dirty="0"/>
          </a:p>
        </p:txBody>
      </p:sp>
      <p:sp>
        <p:nvSpPr>
          <p:cNvPr id="4" name="Shape 2"/>
          <p:cNvSpPr/>
          <p:nvPr/>
        </p:nvSpPr>
        <p:spPr>
          <a:xfrm>
            <a:off x="630936" y="1472184"/>
            <a:ext cx="3767328" cy="4032504"/>
          </a:xfrm>
          <a:prstGeom prst="roundRect">
            <a:avLst>
              <a:gd name="adj" fmla="val 1699"/>
            </a:avLst>
          </a:prstGeom>
          <a:solidFill>
            <a:srgbClr val="EEF1F3"/>
          </a:solidFill>
          <a:ln w="12700">
            <a:solidFill>
              <a:srgbClr val="EEF1F3"/>
            </a:solidFill>
            <a:prstDash val="solid"/>
          </a:ln>
        </p:spPr>
      </p:sp>
      <p:pic>
        <p:nvPicPr>
          <p:cNvPr id="5" name="Image 0" descr="C:/Users/kikus/OneDrive/20260904_PSD/PWSCUP2025_REVIEW_PUB/paper/figs/taxonomy/variable_tree_A_bw.png">    </p:cNvPr>
          <p:cNvPicPr>
            <a:picLocks noChangeAspect="1"/>
          </p:cNvPicPr>
          <p:nvPr/>
        </p:nvPicPr>
        <p:blipFill>
          <a:blip r:embed="rId1"/>
          <a:stretch>
            <a:fillRect/>
          </a:stretch>
        </p:blipFill>
        <p:spPr>
          <a:xfrm>
            <a:off x="731520" y="1572768"/>
            <a:ext cx="3566160" cy="3831336"/>
          </a:xfrm>
          <a:prstGeom prst="rect">
            <a:avLst/>
          </a:prstGeom>
        </p:spPr>
      </p:pic>
      <p:sp>
        <p:nvSpPr>
          <p:cNvPr id="6" name="Text 3"/>
          <p:cNvSpPr txBox="1"/>
          <p:nvPr/>
        </p:nvSpPr>
        <p:spPr>
          <a:xfrm>
            <a:off x="5029200" y="1207008"/>
            <a:ext cx="3840480" cy="274320"/>
          </a:xfrm>
          <a:prstGeom prst="rect">
            <a:avLst/>
          </a:prstGeom>
          <a:noFill/>
          <a:ln/>
        </p:spPr>
        <p:txBody>
          <a:bodyPr wrap="square" lIns="0" tIns="0" rIns="0" bIns="0" rtlCol="0" anchor="ctr"/>
          <a:lstStyle/>
          <a:p>
            <a:pPr indent="0" marL="0">
              <a:buNone/>
            </a:pPr>
            <a:r>
              <a:rPr lang="en-US" sz="1300" b="1" dirty="0">
                <a:solidFill>
                  <a:srgbClr val="9E1B32"/>
                </a:solidFill>
                <a:latin typeface="Cambria" pitchFamily="34" charset="0"/>
                <a:ea typeface="Cambria" pitchFamily="34" charset="-122"/>
                <a:cs typeface="Cambria" pitchFamily="34" charset="-120"/>
              </a:rPr>
              <a:t>Training models</a:t>
            </a:r>
            <a:endParaRPr lang="en-US" sz="1300" dirty="0"/>
          </a:p>
        </p:txBody>
      </p:sp>
      <p:sp>
        <p:nvSpPr>
          <p:cNvPr id="7" name="Shape 4"/>
          <p:cNvSpPr/>
          <p:nvPr/>
        </p:nvSpPr>
        <p:spPr>
          <a:xfrm>
            <a:off x="5020056" y="1472184"/>
            <a:ext cx="4133088" cy="2093976"/>
          </a:xfrm>
          <a:prstGeom prst="roundRect">
            <a:avLst>
              <a:gd name="adj" fmla="val 3057"/>
            </a:avLst>
          </a:prstGeom>
          <a:solidFill>
            <a:srgbClr val="EEF1F3"/>
          </a:solidFill>
          <a:ln w="12700">
            <a:solidFill>
              <a:srgbClr val="EEF1F3"/>
            </a:solidFill>
            <a:prstDash val="solid"/>
          </a:ln>
        </p:spPr>
      </p:sp>
      <p:pic>
        <p:nvPicPr>
          <p:cNvPr id="8" name="Image 1" descr="C:/Users/kikus/OneDrive/20260904_PSD/PWSCUP2025_REVIEW_PUB/paper/figs/taxonomy/variable_tree_M_bw.png">    </p:cNvPr>
          <p:cNvPicPr>
            <a:picLocks noChangeAspect="1"/>
          </p:cNvPicPr>
          <p:nvPr/>
        </p:nvPicPr>
        <p:blipFill>
          <a:blip r:embed="rId2"/>
          <a:stretch>
            <a:fillRect/>
          </a:stretch>
        </p:blipFill>
        <p:spPr>
          <a:xfrm>
            <a:off x="5120640" y="1572768"/>
            <a:ext cx="3931920" cy="1892808"/>
          </a:xfrm>
          <a:prstGeom prst="rect">
            <a:avLst/>
          </a:prstGeom>
        </p:spPr>
      </p:pic>
      <p:sp>
        <p:nvSpPr>
          <p:cNvPr id="9" name="Text 5"/>
          <p:cNvSpPr txBox="1"/>
          <p:nvPr/>
        </p:nvSpPr>
        <p:spPr>
          <a:xfrm>
            <a:off x="5029200" y="3675888"/>
            <a:ext cx="3840480" cy="274320"/>
          </a:xfrm>
          <a:prstGeom prst="rect">
            <a:avLst/>
          </a:prstGeom>
          <a:noFill/>
          <a:ln/>
        </p:spPr>
        <p:txBody>
          <a:bodyPr wrap="square" lIns="0" tIns="0" rIns="0" bIns="0" rtlCol="0" anchor="ctr"/>
          <a:lstStyle/>
          <a:p>
            <a:pPr indent="0" marL="0">
              <a:buNone/>
            </a:pPr>
            <a:r>
              <a:rPr lang="en-US" sz="1300" b="1" dirty="0">
                <a:solidFill>
                  <a:srgbClr val="9E1B32"/>
                </a:solidFill>
                <a:latin typeface="Cambria" pitchFamily="34" charset="0"/>
                <a:ea typeface="Cambria" pitchFamily="34" charset="-122"/>
                <a:cs typeface="Cambria" pitchFamily="34" charset="-120"/>
              </a:rPr>
              <a:t>Attacks</a:t>
            </a:r>
            <a:endParaRPr lang="en-US" sz="1300" dirty="0"/>
          </a:p>
        </p:txBody>
      </p:sp>
      <p:sp>
        <p:nvSpPr>
          <p:cNvPr id="10" name="Shape 6"/>
          <p:cNvSpPr/>
          <p:nvPr/>
        </p:nvSpPr>
        <p:spPr>
          <a:xfrm>
            <a:off x="5020056" y="3941064"/>
            <a:ext cx="3584448" cy="2130552"/>
          </a:xfrm>
          <a:prstGeom prst="roundRect">
            <a:avLst>
              <a:gd name="adj" fmla="val 3004"/>
            </a:avLst>
          </a:prstGeom>
          <a:solidFill>
            <a:srgbClr val="EEF1F3"/>
          </a:solidFill>
          <a:ln w="12700">
            <a:solidFill>
              <a:srgbClr val="EEF1F3"/>
            </a:solidFill>
            <a:prstDash val="solid"/>
          </a:ln>
        </p:spPr>
      </p:sp>
      <p:pic>
        <p:nvPicPr>
          <p:cNvPr id="11" name="Image 2" descr="C:/Users/kikus/OneDrive/20260904_PSD/PWSCUP2025_REVIEW_PUB/paper/figs/taxonomy/variable_tree_C_bw.png">    </p:cNvPr>
          <p:cNvPicPr>
            <a:picLocks noChangeAspect="1"/>
          </p:cNvPicPr>
          <p:nvPr/>
        </p:nvPicPr>
        <p:blipFill>
          <a:blip r:embed="rId3"/>
          <a:stretch>
            <a:fillRect/>
          </a:stretch>
        </p:blipFill>
        <p:spPr>
          <a:xfrm>
            <a:off x="5120640" y="4041648"/>
            <a:ext cx="3383280" cy="1929384"/>
          </a:xfrm>
          <a:prstGeom prst="rect">
            <a:avLst/>
          </a:prstGeom>
        </p:spPr>
      </p:pic>
      <p:sp>
        <p:nvSpPr>
          <p:cNvPr id="12" name="Text 7"/>
          <p:cNvSpPr txBox="1"/>
          <p:nvPr/>
        </p:nvSpPr>
        <p:spPr>
          <a:xfrm>
            <a:off x="9418320" y="1572768"/>
            <a:ext cx="2240280" cy="2743200"/>
          </a:xfrm>
          <a:prstGeom prst="rect">
            <a:avLst/>
          </a:prstGeom>
          <a:noFill/>
          <a:ln/>
        </p:spPr>
        <p:txBody>
          <a:bodyPr wrap="square" lIns="0" tIns="0" rIns="0" bIns="0" rtlCol="0" anchor="t"/>
          <a:lstStyle/>
          <a:p>
            <a:pPr indent="0" marL="0">
              <a:lnSpc>
                <a:spcPts val="1500"/>
              </a:lnSpc>
              <a:buNone/>
            </a:pPr>
            <a:r>
              <a:rPr lang="en-US" sz="1150" dirty="0">
                <a:solidFill>
                  <a:srgbClr val="56666E"/>
                </a:solidFill>
                <a:latin typeface="Calibri" pitchFamily="34" charset="0"/>
                <a:ea typeface="Calibri" pitchFamily="34" charset="-122"/>
                <a:cs typeface="Calibri" pitchFamily="34" charset="-120"/>
              </a:rPr>
              <a:t>Features are hierarchical: a Layer 1 feature refines its Layer 0 parent. Only features present in at least four teams were kept.</a:t>
            </a:r>
            <a:endParaRPr lang="en-US" sz="1150" dirty="0"/>
          </a:p>
        </p:txBody>
      </p:sp>
      <p:sp>
        <p:nvSpPr>
          <p:cNvPr id="13" name="Text 8"/>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4" name="Text 9"/>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the AICc-selected regressions agree with the effect sizes</a:t>
            </a:r>
            <a:endParaRPr lang="en-US" sz="2400" dirty="0"/>
          </a:p>
        </p:txBody>
      </p:sp>
      <p:sp>
        <p:nvSpPr>
          <p:cNvPr id="3" name="Shape 1"/>
          <p:cNvSpPr/>
          <p:nvPr/>
        </p:nvSpPr>
        <p:spPr>
          <a:xfrm>
            <a:off x="502920" y="1225296"/>
            <a:ext cx="7424928" cy="3511296"/>
          </a:xfrm>
          <a:prstGeom prst="roundRect">
            <a:avLst>
              <a:gd name="adj" fmla="val 1823"/>
            </a:avLst>
          </a:prstGeom>
          <a:solidFill>
            <a:srgbClr val="EEF1F3"/>
          </a:solidFill>
          <a:ln w="12700">
            <a:solidFill>
              <a:srgbClr val="EEF1F3"/>
            </a:solidFill>
            <a:prstDash val="solid"/>
          </a:ln>
        </p:spPr>
      </p:sp>
      <p:pic>
        <p:nvPicPr>
          <p:cNvPr id="4" name="Image 0" descr="C:/Users/kikus/OneDrive/20260904_PSD/PWSCUP2025_REVIEW_PUB/paper/figs/H1/h1_ols_bw.png">    </p:cNvPr>
          <p:cNvPicPr>
            <a:picLocks noChangeAspect="1"/>
          </p:cNvPicPr>
          <p:nvPr/>
        </p:nvPicPr>
        <p:blipFill>
          <a:blip r:embed="rId1"/>
          <a:stretch>
            <a:fillRect/>
          </a:stretch>
        </p:blipFill>
        <p:spPr>
          <a:xfrm>
            <a:off x="603504" y="1325880"/>
            <a:ext cx="7223760" cy="3310128"/>
          </a:xfrm>
          <a:prstGeom prst="rect">
            <a:avLst/>
          </a:prstGeom>
        </p:spPr>
      </p:pic>
      <p:sp>
        <p:nvSpPr>
          <p:cNvPr id="5" name="Text 2"/>
          <p:cNvSpPr txBox="1"/>
          <p:nvPr/>
        </p:nvSpPr>
        <p:spPr>
          <a:xfrm>
            <a:off x="603504" y="4754880"/>
            <a:ext cx="7223760" cy="457200"/>
          </a:xfrm>
          <a:prstGeom prst="rect">
            <a:avLst/>
          </a:prstGeom>
          <a:noFill/>
          <a:ln/>
        </p:spPr>
        <p:txBody>
          <a:bodyPr wrap="square" lIns="0" tIns="0" rIns="0" bIns="0" rtlCol="0" anchor="t"/>
          <a:lstStyle/>
          <a:p>
            <a:pPr indent="0" marL="0">
              <a:lnSpc>
                <a:spcPts val="1300"/>
              </a:lnSpc>
              <a:buNone/>
            </a:pPr>
            <a:r>
              <a:rPr lang="en-US" sz="1050" dirty="0">
                <a:solidFill>
                  <a:srgbClr val="93A5AD"/>
                </a:solidFill>
                <a:latin typeface="Calibri" pitchFamily="34" charset="0"/>
                <a:ea typeface="Calibri" pitchFamily="34" charset="-122"/>
                <a:cs typeface="Calibri" pitchFamily="34" charset="-120"/>
              </a:rPr>
              <a:t>Standardized OLS coefficients, 95% CI. A missing point means the feature was not retained for that outcome.</a:t>
            </a:r>
            <a:endParaRPr lang="en-US" sz="1050" dirty="0"/>
          </a:p>
        </p:txBody>
      </p:sp>
      <p:sp>
        <p:nvSpPr>
          <p:cNvPr id="6" name="Shape 3"/>
          <p:cNvSpPr/>
          <p:nvPr/>
        </p:nvSpPr>
        <p:spPr>
          <a:xfrm>
            <a:off x="8092440" y="1225296"/>
            <a:ext cx="3547872" cy="3511296"/>
          </a:xfrm>
          <a:prstGeom prst="roundRect">
            <a:avLst>
              <a:gd name="adj" fmla="val 1823"/>
            </a:avLst>
          </a:prstGeom>
          <a:solidFill>
            <a:srgbClr val="EEF1F3"/>
          </a:solidFill>
          <a:ln w="12700">
            <a:solidFill>
              <a:srgbClr val="EEF1F3"/>
            </a:solidFill>
            <a:prstDash val="solid"/>
          </a:ln>
        </p:spPr>
      </p:sp>
      <p:sp>
        <p:nvSpPr>
          <p:cNvPr id="7" name="Text 4"/>
          <p:cNvSpPr txBox="1"/>
          <p:nvPr/>
        </p:nvSpPr>
        <p:spPr>
          <a:xfrm>
            <a:off x="8366760" y="1371600"/>
            <a:ext cx="301752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Two things worth saying</a:t>
            </a:r>
            <a:endParaRPr lang="en-US" sz="1700" dirty="0"/>
          </a:p>
        </p:txBody>
      </p:sp>
      <p:sp>
        <p:nvSpPr>
          <p:cNvPr id="8" name="Text 5"/>
          <p:cNvSpPr txBox="1"/>
          <p:nvPr/>
        </p:nvSpPr>
        <p:spPr>
          <a:xfrm>
            <a:off x="8366760" y="1828800"/>
            <a:ext cx="3017520" cy="2788920"/>
          </a:xfrm>
          <a:prstGeom prst="rect">
            <a:avLst/>
          </a:prstGeom>
          <a:noFill/>
          <a:ln/>
        </p:spPr>
        <p:txBody>
          <a:bodyPr wrap="square" lIns="0" tIns="0" rIns="0" bIns="0" rtlCol="0" anchor="t"/>
          <a:lstStyle/>
          <a:p>
            <a:pPr indent="0" marL="0">
              <a:lnSpc>
                <a:spcPts val="1500"/>
              </a:lnSpc>
              <a:buNone/>
            </a:pPr>
            <a:r>
              <a:rPr lang="en-US" sz="1200" b="1" dirty="0">
                <a:solidFill>
                  <a:srgbClr val="9E1B32"/>
                </a:solidFill>
                <a:latin typeface="Calibri" pitchFamily="34" charset="0"/>
                <a:ea typeface="Calibri" pitchFamily="34" charset="-122"/>
                <a:cs typeface="Calibri" pitchFamily="34" charset="-120"/>
              </a:rPr>
              <a:t>Optimization had g = 1.17 but was never retained.
</a:t>
            </a:r>
            <a:pPr indent="0" marL="0">
              <a:lnSpc>
                <a:spcPts val="1500"/>
              </a:lnSpc>
              <a:buNone/>
            </a:pPr>
            <a:r>
              <a:rPr lang="en-US" sz="1150" dirty="0">
                <a:solidFill>
                  <a:srgbClr val="16232B"/>
                </a:solidFill>
                <a:latin typeface="Calibri" pitchFamily="34" charset="0"/>
                <a:ea typeface="Calibri" pitchFamily="34" charset="-122"/>
                <a:cs typeface="Calibri" pitchFamily="34" charset="-120"/>
              </a:rPr>
              <a:t>Four of the six teams that optimized also built from elsewhere, and optimization went with synthetic designs. Once Base or Synthesis is in the model, AICc no longer pays for it — exactly the confounding the search is there to catch.
</a:t>
            </a:r>
            <a:pPr indent="0" marL="0">
              <a:lnSpc>
                <a:spcPts val="1500"/>
              </a:lnSpc>
              <a:buNone/>
            </a:pPr>
            <a:r>
              <a:rPr lang="en-US" sz="1200" b="1" dirty="0">
                <a:solidFill>
                  <a:srgbClr val="9E1B32"/>
                </a:solidFill>
                <a:latin typeface="Calibri" pitchFamily="34" charset="0"/>
                <a:ea typeface="Calibri" pitchFamily="34" charset="-122"/>
                <a:cs typeface="Calibri" pitchFamily="34" charset="-120"/>
              </a:rPr>
              <a:t>The anonymization models keep an interaction.
</a:t>
            </a:r>
            <a:pPr indent="0" marL="0">
              <a:lnSpc>
                <a:spcPts val="1500"/>
              </a:lnSpc>
              <a:buNone/>
            </a:pPr>
            <a:r>
              <a:rPr lang="en-US" sz="1150" dirty="0">
                <a:solidFill>
                  <a:srgbClr val="16232B"/>
                </a:solidFill>
                <a:latin typeface="Calibri" pitchFamily="34" charset="0"/>
                <a:ea typeface="Calibri" pitchFamily="34" charset="-122"/>
                <a:cs typeface="Calibri" pitchFamily="34" charset="-120"/>
              </a:rPr>
              <a:t>Synthesis x swapping, R2 between 0.47 and 0.69. Swapping raises the base anonymization score by about 32 points for non-synthetic designs, and leaves synthetic ones essentially unchanged.</a:t>
            </a:r>
            <a:endParaRPr lang="en-US" sz="1200" dirty="0"/>
          </a:p>
        </p:txBody>
      </p:sp>
      <p:sp>
        <p:nvSpPr>
          <p:cNvPr id="9" name="Text 6"/>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7"/>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team-level coding</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669280" cy="914400"/>
        </p:xfrm>
        <a:graphic>
          <a:graphicData uri="http://schemas.openxmlformats.org/drawingml/2006/table">
            <a:tbl>
              <a:tblPr/>
              <a:tblGrid>
                <a:gridCol w="685800"/>
                <a:gridCol w="1051560"/>
                <a:gridCol w="932688"/>
                <a:gridCol w="960120"/>
                <a:gridCol w="987552"/>
                <a:gridCol w="1051560"/>
              </a:tblGrid>
              <a:tr h="128016">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Team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Base</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Synth</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Noise</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Optim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Swap</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17</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720840" y="1188720"/>
          <a:ext cx="4919472" cy="914400"/>
        </p:xfrm>
        <a:graphic>
          <a:graphicData uri="http://schemas.openxmlformats.org/drawingml/2006/table">
            <a:tbl>
              <a:tblPr/>
              <a:tblGrid>
                <a:gridCol w="731520"/>
                <a:gridCol w="1463040"/>
                <a:gridCol w="1536192"/>
                <a:gridCol w="1188720"/>
              </a:tblGrid>
              <a:tr h="128016">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Team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Attack target</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Non-default dist.</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Attacker-trained</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17</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19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r>
              <a:tr h="128016">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4526280"/>
            <a:ext cx="11091672" cy="329184"/>
          </a:xfrm>
          <a:prstGeom prst="rect">
            <a:avLst/>
          </a:prstGeom>
          <a:noFill/>
          <a:ln/>
        </p:spPr>
        <p:txBody>
          <a:bodyPr wrap="square" lIns="0" tIns="0" rIns="0" bIns="0" rtlCol="0" anchor="ctr"/>
          <a:lstStyle/>
          <a:p>
            <a:pPr indent="0" marL="0">
              <a:buNone/>
            </a:pPr>
            <a:r>
              <a:rPr lang="en-US" sz="1050" dirty="0">
                <a:solidFill>
                  <a:srgbClr val="56666E"/>
                </a:solidFill>
                <a:latin typeface="Calibri" pitchFamily="34" charset="0"/>
                <a:ea typeface="Calibri" pitchFamily="34" charset="-122"/>
                <a:cs typeface="Calibri" pitchFamily="34" charset="-120"/>
              </a:rPr>
              <a:t>Team 21 withdrew; teams 4, 7, 14 and 21 could not be coded. Team 10 submitted no attack.</a:t>
            </a:r>
            <a:endParaRPr lang="en-US" sz="1050" dirty="0"/>
          </a:p>
        </p:txBody>
      </p:sp>
      <p:sp>
        <p:nvSpPr>
          <p:cNvPr id="6" name="Text 2"/>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3"/>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the full dyadic model, all eight specifications</a:t>
            </a:r>
            <a:endParaRPr lang="en-US" sz="2400" dirty="0"/>
          </a:p>
        </p:txBody>
      </p:sp>
      <p:sp>
        <p:nvSpPr>
          <p:cNvPr id="3" name="Shape 1"/>
          <p:cNvSpPr/>
          <p:nvPr/>
        </p:nvSpPr>
        <p:spPr>
          <a:xfrm>
            <a:off x="502920" y="1197864"/>
            <a:ext cx="6876288" cy="3941064"/>
          </a:xfrm>
          <a:prstGeom prst="roundRect">
            <a:avLst>
              <a:gd name="adj" fmla="val 1624"/>
            </a:avLst>
          </a:prstGeom>
          <a:solidFill>
            <a:srgbClr val="EEF1F3"/>
          </a:solidFill>
          <a:ln w="12700">
            <a:solidFill>
              <a:srgbClr val="EEF1F3"/>
            </a:solidFill>
            <a:prstDash val="solid"/>
          </a:ln>
        </p:spPr>
      </p:sp>
      <p:pic>
        <p:nvPicPr>
          <p:cNvPr id="4" name="Image 0" descr="C:/Users/kikus/OneDrive/20260904_PSD/PWSCUP2025_REVIEW_PUB/paper/figs/H2/h2_heat_twoway_bw.png">    </p:cNvPr>
          <p:cNvPicPr>
            <a:picLocks noChangeAspect="1"/>
          </p:cNvPicPr>
          <p:nvPr/>
        </p:nvPicPr>
        <p:blipFill>
          <a:blip r:embed="rId1"/>
          <a:stretch>
            <a:fillRect/>
          </a:stretch>
        </p:blipFill>
        <p:spPr>
          <a:xfrm>
            <a:off x="603504" y="1298448"/>
            <a:ext cx="6675120" cy="3739896"/>
          </a:xfrm>
          <a:prstGeom prst="rect">
            <a:avLst/>
          </a:prstGeom>
        </p:spPr>
      </p:pic>
      <p:sp>
        <p:nvSpPr>
          <p:cNvPr id="5" name="Text 2"/>
          <p:cNvSpPr txBox="1"/>
          <p:nvPr/>
        </p:nvSpPr>
        <p:spPr>
          <a:xfrm>
            <a:off x="603504" y="5138928"/>
            <a:ext cx="6675120" cy="365760"/>
          </a:xfrm>
          <a:prstGeom prst="rect">
            <a:avLst/>
          </a:prstGeom>
          <a:noFill/>
          <a:ln/>
        </p:spPr>
        <p:txBody>
          <a:bodyPr wrap="square" lIns="0" tIns="0" rIns="0" bIns="0" rtlCol="0" anchor="t"/>
          <a:lstStyle/>
          <a:p>
            <a:pPr indent="0" marL="0">
              <a:lnSpc>
                <a:spcPts val="1300"/>
              </a:lnSpc>
              <a:buNone/>
            </a:pPr>
            <a:r>
              <a:rPr lang="en-US" sz="1050" dirty="0">
                <a:solidFill>
                  <a:srgbClr val="93A5AD"/>
                </a:solidFill>
                <a:latin typeface="Calibri" pitchFamily="34" charset="0"/>
                <a:ea typeface="Calibri" pitchFamily="34" charset="-122"/>
                <a:cs typeface="Calibri" pitchFamily="34" charset="-120"/>
              </a:rPr>
              <a:t>The version printed in the paper. Areas (a) victim main effects, (b) attacker main effects, (c) interactions.</a:t>
            </a:r>
            <a:endParaRPr lang="en-US" sz="1050" dirty="0"/>
          </a:p>
        </p:txBody>
      </p:sp>
      <p:sp>
        <p:nvSpPr>
          <p:cNvPr id="6" name="Shape 3"/>
          <p:cNvSpPr/>
          <p:nvPr/>
        </p:nvSpPr>
        <p:spPr>
          <a:xfrm>
            <a:off x="7571232" y="1207008"/>
            <a:ext cx="4069080" cy="4160520"/>
          </a:xfrm>
          <a:prstGeom prst="roundRect">
            <a:avLst>
              <a:gd name="adj" fmla="val 1573"/>
            </a:avLst>
          </a:prstGeom>
          <a:solidFill>
            <a:srgbClr val="EEF1F3"/>
          </a:solidFill>
          <a:ln w="12700">
            <a:solidFill>
              <a:srgbClr val="EEF1F3"/>
            </a:solidFill>
            <a:prstDash val="solid"/>
          </a:ln>
        </p:spPr>
      </p:sp>
      <p:sp>
        <p:nvSpPr>
          <p:cNvPr id="7" name="Text 4"/>
          <p:cNvSpPr txBox="1"/>
          <p:nvPr/>
        </p:nvSpPr>
        <p:spPr>
          <a:xfrm>
            <a:off x="7845552" y="1316736"/>
            <a:ext cx="365760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How to read the cells</a:t>
            </a:r>
            <a:endParaRPr lang="en-US" sz="1700" dirty="0"/>
          </a:p>
        </p:txBody>
      </p:sp>
      <p:sp>
        <p:nvSpPr>
          <p:cNvPr id="8" name="Text 5"/>
          <p:cNvSpPr txBox="1"/>
          <p:nvPr/>
        </p:nvSpPr>
        <p:spPr>
          <a:xfrm>
            <a:off x="7845552" y="1755648"/>
            <a:ext cx="3566160" cy="3474720"/>
          </a:xfrm>
          <a:prstGeom prst="rect">
            <a:avLst/>
          </a:prstGeom>
          <a:noFill/>
          <a:ln/>
        </p:spPr>
        <p:txBody>
          <a:bodyPr wrap="square" lIns="0" tIns="0" rIns="0" bIns="0" rtlCol="0" anchor="t"/>
          <a:lstStyle/>
          <a:p>
            <a:pPr indent="0" marL="0">
              <a:lnSpc>
                <a:spcPts val="1400"/>
              </a:lnSpc>
              <a:buNone/>
            </a:pPr>
            <a:r>
              <a:rPr lang="en-US" sz="1250" b="1" dirty="0">
                <a:solidFill>
                  <a:srgbClr val="9E1B32"/>
                </a:solidFill>
                <a:latin typeface="Calibri" pitchFamily="34" charset="0"/>
                <a:ea typeface="Calibri" pitchFamily="34" charset="-122"/>
                <a:cs typeface="Calibri" pitchFamily="34" charset="-120"/>
              </a:rPr>
              <a:t>Main
</a:t>
            </a:r>
            <a:pPr indent="0" marL="0">
              <a:lnSpc>
                <a:spcPts val="1400"/>
              </a:lnSpc>
              <a:buNone/>
            </a:pPr>
            <a:r>
              <a:rPr lang="en-US" sz="1150" dirty="0">
                <a:solidFill>
                  <a:srgbClr val="16232B"/>
                </a:solidFill>
                <a:latin typeface="Calibri" pitchFamily="34" charset="0"/>
                <a:ea typeface="Calibri" pitchFamily="34" charset="-122"/>
                <a:cs typeface="Calibri" pitchFamily="34" charset="-120"/>
              </a:rPr>
              <a:t>The main-effect IRR, as a range across the four specifications that share that variable.
</a:t>
            </a:r>
            <a:pPr indent="0" marL="0">
              <a:lnSpc>
                <a:spcPts val="1400"/>
              </a:lnSpc>
              <a:buNone/>
            </a:pPr>
            <a:r>
              <a:rPr lang="en-US" sz="1250" b="1" dirty="0">
                <a:solidFill>
                  <a:srgbClr val="9E1B32"/>
                </a:solidFill>
                <a:latin typeface="Calibri" pitchFamily="34" charset="0"/>
                <a:ea typeface="Calibri" pitchFamily="34" charset="-122"/>
                <a:cs typeface="Calibri" pitchFamily="34" charset="-120"/>
              </a:rPr>
              <a:t>Inter
</a:t>
            </a:r>
            <a:pPr indent="0" marL="0">
              <a:lnSpc>
                <a:spcPts val="1400"/>
              </a:lnSpc>
              <a:buNone/>
            </a:pPr>
            <a:r>
              <a:rPr lang="en-US" sz="1150" dirty="0">
                <a:solidFill>
                  <a:srgbClr val="16232B"/>
                </a:solidFill>
                <a:latin typeface="Calibri" pitchFamily="34" charset="0"/>
                <a:ea typeface="Calibri" pitchFamily="34" charset="-122"/>
                <a:cs typeface="Calibri" pitchFamily="34" charset="-120"/>
              </a:rPr>
              <a:t>The interaction coefficient itself — not an effect you can read on its own.
</a:t>
            </a:r>
            <a:pPr indent="0" marL="0">
              <a:lnSpc>
                <a:spcPts val="1400"/>
              </a:lnSpc>
              <a:buNone/>
            </a:pPr>
            <a:r>
              <a:rPr lang="en-US" sz="1250" b="1" dirty="0">
                <a:solidFill>
                  <a:srgbClr val="9E1B32"/>
                </a:solidFill>
                <a:latin typeface="Calibri" pitchFamily="34" charset="0"/>
                <a:ea typeface="Calibri" pitchFamily="34" charset="-122"/>
                <a:cs typeface="Calibri" pitchFamily="34" charset="-120"/>
              </a:rPr>
              <a:t>Total
</a:t>
            </a:r>
            <a:pPr indent="0" marL="0">
              <a:lnSpc>
                <a:spcPts val="1400"/>
              </a:lnSpc>
              <a:buNone/>
            </a:pPr>
            <a:r>
              <a:rPr lang="en-US" sz="1150" dirty="0">
                <a:solidFill>
                  <a:srgbClr val="16232B"/>
                </a:solidFill>
                <a:latin typeface="Calibri" pitchFamily="34" charset="0"/>
                <a:ea typeface="Calibri" pitchFamily="34" charset="-122"/>
                <a:cs typeface="Calibri" pitchFamily="34" charset="-120"/>
              </a:rPr>
              <a:t>victim x attacker x interaction — the expected exposure when both are present. These are the numbers plotted on the H2-1 slide.
</a:t>
            </a:r>
            <a:pPr indent="0" marL="0">
              <a:lnSpc>
                <a:spcPts val="1400"/>
              </a:lnSpc>
              <a:buNone/>
            </a:pPr>
            <a:r>
              <a:rPr lang="en-US" sz="1250" b="1" dirty="0">
                <a:solidFill>
                  <a:srgbClr val="9E1B32"/>
                </a:solidFill>
                <a:latin typeface="Calibri" pitchFamily="34" charset="0"/>
                <a:ea typeface="Calibri" pitchFamily="34" charset="-122"/>
                <a:cs typeface="Calibri" pitchFamily="34" charset="-120"/>
              </a:rPr>
              <a:t>SE n.e.
</a:t>
            </a:r>
            <a:pPr indent="0" marL="0">
              <a:lnSpc>
                <a:spcPts val="1400"/>
              </a:lnSpc>
              <a:buNone/>
            </a:pPr>
            <a:r>
              <a:rPr lang="en-US" sz="1150" dirty="0">
                <a:solidFill>
                  <a:srgbClr val="16232B"/>
                </a:solidFill>
                <a:latin typeface="Calibri" pitchFamily="34" charset="0"/>
                <a:ea typeface="Calibri" pitchFamily="34" charset="-122"/>
                <a:cs typeface="Calibri" pitchFamily="34" charset="-120"/>
              </a:rPr>
              <a:t>The two-way clustered standard error was not estimable, so no inferential claim is made — this is why H2-2 is reported as a null result rather than a small effect.</a:t>
            </a:r>
            <a:endParaRPr lang="en-US" sz="1250" dirty="0"/>
          </a:p>
        </p:txBody>
      </p:sp>
      <p:sp>
        <p:nvSpPr>
          <p:cNvPr id="9" name="Text 6"/>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7"/>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indent="0" marL="0">
              <a:buNone/>
            </a:pPr>
            <a:r>
              <a:rPr lang="en-US" sz="2400" b="1" dirty="0">
                <a:solidFill>
                  <a:srgbClr val="16232B"/>
                </a:solidFill>
                <a:latin typeface="Cambria" pitchFamily="34" charset="0"/>
                <a:ea typeface="Cambria" pitchFamily="34" charset="-122"/>
                <a:cs typeface="Cambria" pitchFamily="34" charset="-120"/>
              </a:rPr>
              <a:t>Backup: how this sits against the synthetic-data literature</a:t>
            </a:r>
            <a:endParaRPr lang="en-US" sz="2400" dirty="0"/>
          </a:p>
        </p:txBody>
      </p:sp>
      <p:sp>
        <p:nvSpPr>
          <p:cNvPr id="3" name="Shape 1"/>
          <p:cNvSpPr/>
          <p:nvPr/>
        </p:nvSpPr>
        <p:spPr>
          <a:xfrm>
            <a:off x="548640" y="1325880"/>
            <a:ext cx="5349240" cy="3520440"/>
          </a:xfrm>
          <a:prstGeom prst="roundRect">
            <a:avLst>
              <a:gd name="adj" fmla="val 1818"/>
            </a:avLst>
          </a:prstGeom>
          <a:solidFill>
            <a:srgbClr val="EEF1F3"/>
          </a:solidFill>
          <a:ln w="12700">
            <a:solidFill>
              <a:srgbClr val="EEF1F3"/>
            </a:solidFill>
            <a:prstDash val="solid"/>
          </a:ln>
        </p:spPr>
      </p:sp>
      <p:sp>
        <p:nvSpPr>
          <p:cNvPr id="4" name="Text 2"/>
          <p:cNvSpPr txBox="1"/>
          <p:nvPr/>
        </p:nvSpPr>
        <p:spPr>
          <a:xfrm>
            <a:off x="868680" y="1481328"/>
            <a:ext cx="4754880" cy="402336"/>
          </a:xfrm>
          <a:prstGeom prst="rect">
            <a:avLst/>
          </a:prstGeom>
          <a:noFill/>
          <a:ln/>
        </p:spPr>
        <p:txBody>
          <a:bodyPr wrap="square" lIns="0" tIns="0" rIns="0" bIns="0" rtlCol="0" anchor="ctr"/>
          <a:lstStyle/>
          <a:p>
            <a:pPr indent="0" marL="0">
              <a:buNone/>
            </a:pPr>
            <a:r>
              <a:rPr lang="en-US" sz="1700" b="1" dirty="0">
                <a:solidFill>
                  <a:srgbClr val="16232B"/>
                </a:solidFill>
                <a:latin typeface="Cambria" pitchFamily="34" charset="0"/>
                <a:ea typeface="Cambria" pitchFamily="34" charset="-122"/>
                <a:cs typeface="Cambria" pitchFamily="34" charset="-120"/>
              </a:rPr>
              <a:t>The tension</a:t>
            </a:r>
            <a:endParaRPr lang="en-US" sz="1700" dirty="0"/>
          </a:p>
        </p:txBody>
      </p:sp>
      <p:sp>
        <p:nvSpPr>
          <p:cNvPr id="5" name="Text 3"/>
          <p:cNvSpPr txBox="1"/>
          <p:nvPr/>
        </p:nvSpPr>
        <p:spPr>
          <a:xfrm>
            <a:off x="868680" y="1965960"/>
            <a:ext cx="4754880" cy="2743200"/>
          </a:xfrm>
          <a:prstGeom prst="rect">
            <a:avLst/>
          </a:prstGeom>
          <a:noFill/>
          <a:ln/>
        </p:spPr>
        <p:txBody>
          <a:bodyPr wrap="square" lIns="0" tIns="0" rIns="0" bIns="0" rtlCol="0" anchor="t"/>
          <a:lstStyle/>
          <a:p>
            <a:pPr indent="0" marL="0">
              <a:lnSpc>
                <a:spcPts val="1700"/>
              </a:lnSpc>
              <a:buNone/>
            </a:pPr>
            <a:r>
              <a:rPr lang="en-US" sz="1300" dirty="0">
                <a:solidFill>
                  <a:srgbClr val="16232B"/>
                </a:solidFill>
                <a:latin typeface="Calibri" pitchFamily="34" charset="0"/>
                <a:ea typeface="Calibri" pitchFamily="34" charset="-122"/>
                <a:cs typeface="Calibri" pitchFamily="34" charset="-120"/>
              </a:rPr>
              <a:t>Stadler et al. (2022) conclude that synthetic data does not give a better privacy-utility trade-off than traditional row-level sanitization.
</a:t>
            </a:r>
            <a:pPr indent="0" marL="0">
              <a:lnSpc>
                <a:spcPts val="1700"/>
              </a:lnSpc>
              <a:buNone/>
            </a:pPr>
            <a:r>
              <a:rPr lang="en-US" sz="1300" b="1" dirty="0">
                <a:solidFill>
                  <a:srgbClr val="9E1B32"/>
                </a:solidFill>
                <a:latin typeface="Calibri" pitchFamily="34" charset="0"/>
                <a:ea typeface="Calibri" pitchFamily="34" charset="-122"/>
                <a:cs typeface="Calibri" pitchFamily="34" charset="-120"/>
              </a:rPr>
              <a:t>Here, synthesis was associated with higher scores on both axes at once.
</a:t>
            </a:r>
            <a:pPr indent="0" marL="0">
              <a:lnSpc>
                <a:spcPts val="1700"/>
              </a:lnSpc>
              <a:buNone/>
            </a:pPr>
            <a:r>
              <a:rPr lang="en-US" sz="1300" dirty="0">
                <a:solidFill>
                  <a:srgbClr val="16232B"/>
                </a:solidFill>
                <a:latin typeface="Calibri" pitchFamily="34" charset="0"/>
                <a:ea typeface="Calibri" pitchFamily="34" charset="-122"/>
                <a:cs typeface="Calibri" pitchFamily="34" charset="-120"/>
              </a:rPr>
              <a:t>The two are not directly comparable. We compare across teams and whole design families, not parameters within one algorithm. Varying a parameter inside one method would still trace the classic trade-off curve.</a:t>
            </a:r>
            <a:endParaRPr lang="en-US" sz="1300" dirty="0"/>
          </a:p>
        </p:txBody>
      </p:sp>
      <p:sp>
        <p:nvSpPr>
          <p:cNvPr id="6" name="Shape 4"/>
          <p:cNvSpPr/>
          <p:nvPr/>
        </p:nvSpPr>
        <p:spPr>
          <a:xfrm>
            <a:off x="6291072" y="1325880"/>
            <a:ext cx="5349240" cy="3520440"/>
          </a:xfrm>
          <a:prstGeom prst="roundRect">
            <a:avLst>
              <a:gd name="adj" fmla="val 1818"/>
            </a:avLst>
          </a:prstGeom>
          <a:solidFill>
            <a:srgbClr val="16232B"/>
          </a:solidFill>
          <a:ln w="12700">
            <a:solidFill>
              <a:srgbClr val="16232B"/>
            </a:solidFill>
            <a:prstDash val="solid"/>
          </a:ln>
        </p:spPr>
      </p:sp>
      <p:sp>
        <p:nvSpPr>
          <p:cNvPr id="7" name="Text 5"/>
          <p:cNvSpPr txBox="1"/>
          <p:nvPr/>
        </p:nvSpPr>
        <p:spPr>
          <a:xfrm>
            <a:off x="6611112" y="1481328"/>
            <a:ext cx="475488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Other likely questions</a:t>
            </a:r>
            <a:endParaRPr lang="en-US" sz="1700" dirty="0"/>
          </a:p>
        </p:txBody>
      </p:sp>
      <p:sp>
        <p:nvSpPr>
          <p:cNvPr id="8" name="Text 6"/>
          <p:cNvSpPr txBox="1"/>
          <p:nvPr/>
        </p:nvSpPr>
        <p:spPr>
          <a:xfrm>
            <a:off x="6611112" y="1965960"/>
            <a:ext cx="475488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Differential privacy? Several teams tried DP synthesizers and abandoned them - utility was too low under this scoring rule. Only two used explicit Laplace noise.</a:t>
            </a:r>
            <a:endParaRPr lang="en-US" sz="1250" dirty="0"/>
          </a:p>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Why negative binomial? The exposed-record counts are heavily over-dispersed relative to Poisson.</a:t>
            </a:r>
            <a:endParaRPr lang="en-US" sz="1250" dirty="0"/>
          </a:p>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Why did using the released model hurt attackers? We can only speculate: the model carries little membership signal here, and the effort spent on it did not go into the distance matching that worked.</a:t>
            </a:r>
            <a:endParaRPr lang="en-US" sz="1250" dirty="0"/>
          </a:p>
        </p:txBody>
      </p:sp>
      <p:sp>
        <p:nvSpPr>
          <p:cNvPr id="9" name="Text 7"/>
          <p:cNvSpPr txBox="1"/>
          <p:nvPr/>
        </p:nvSpPr>
        <p:spPr>
          <a:xfrm>
            <a:off x="548640" y="6345936"/>
            <a:ext cx="6400800" cy="256032"/>
          </a:xfrm>
          <a:prstGeom prst="rect">
            <a:avLst/>
          </a:prstGeom>
          <a:noFill/>
          <a:ln/>
        </p:spPr>
        <p:txBody>
          <a:bodyPr wrap="square" lIns="0" tIns="0" rIns="0" bIns="0" rtlCol="0" anchor="ctr"/>
          <a:lstStyle/>
          <a:p>
            <a:pPr indent="0" marL="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8"/>
          <p:cNvSpPr txBox="1"/>
          <p:nvPr/>
        </p:nvSpPr>
        <p:spPr>
          <a:xfrm>
            <a:off x="10607040" y="6345936"/>
            <a:ext cx="1033272" cy="256032"/>
          </a:xfrm>
          <a:prstGeom prst="rect">
            <a:avLst/>
          </a:prstGeom>
          <a:noFill/>
          <a:ln/>
        </p:spPr>
        <p:txBody>
          <a:bodyPr wrap="square" lIns="0" tIns="0" rIns="0" bIns="0" rtlCol="0" anchor="ctr"/>
          <a:lstStyle/>
          <a:p>
            <a:pPr algn="r" indent="0" marL="0">
              <a:buNone/>
            </a:pPr>
            <a:r>
              <a:rPr lang="en-US" sz="900" dirty="0">
                <a:solidFill>
                  <a:srgbClr val="A6B3B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Research Organization of Information and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Patterns Without Source: A Meta-Analysis of PWS Cup 2025</dc:title>
  <dc:subject>PSD 2026 short presentation</dc:subject>
  <dc:creator>Hinata Kikuchi</dc:creator>
  <cp:lastModifiedBy>Hinata Kikuchi</cp:lastModifiedBy>
  <cp:revision>1</cp:revision>
  <dcterms:created xsi:type="dcterms:W3CDTF">2026-09-04T08:39:05Z</dcterms:created>
  <dcterms:modified xsi:type="dcterms:W3CDTF">2026-09-04T08:39:05Z</dcterms:modified>
</cp:coreProperties>
</file>